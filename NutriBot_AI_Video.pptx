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ae1e02ade53e44c7" /><Relationship Type="http://schemas.openxmlformats.org/package/2006/relationships/metadata/core-properties" Target="/docProps/core.xml" Id="Rca055f075b40463c" /><Relationship Type="http://schemas.openxmlformats.org/officeDocument/2006/relationships/extended-properties" Target="/docProps/app.xml" Id="Rd0142645edc04cf0" /><Relationship Type="http://schemas.openxmlformats.org/officeDocument/2006/relationships/custom-properties" Target="/docProps/custom.xml" Id="R98a361c5a2e14a3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b71b81aefae345f4"/>
  </p:notesMasterIdLst>
  <p:sldIdLst>
    <p:sldId id="256" r:id="R637739862cf74923"/>
    <p:sldId id="257" r:id="Reba8db2da12d4480"/>
    <p:sldId id="258" r:id="R7a01813afbdc457d"/>
    <p:sldId id="259" r:id="R9720f5a341be4ce2"/>
    <p:sldId id="260" r:id="Rb6d6ffe77b414f3d"/>
    <p:sldId id="261" r:id="R5f1fe4ec0d3f4977"/>
    <p:sldId id="262" r:id="R88346c77dd154522"/>
    <p:sldId id="263" r:id="R96ff7a636cb64e33"/>
    <p:sldId id="264" r:id="R3f9974ac22db4ce3"/>
    <p:sldId id="265" r:id="Rf350f8ab5ec94011"/>
    <p:sldId id="266" r:id="R28b19c95d7ce474b"/>
    <p:sldId id="267" r:id="R9c16894f467e47db"/>
    <p:sldId id="268" r:id="R2e703148ce6e4f47"/>
    <p:sldId id="269" r:id="Rf55307552cc74cfd"/>
    <p:sldId id="270" r:id="R0dd0e4866d6a4f88"/>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637739862cf74923" /><Relationship Type="http://schemas.openxmlformats.org/officeDocument/2006/relationships/notesMaster" Target="/ppt/notesMasters/notesMaster1.xml" Id="Rb71b81aefae345f4" /><Relationship Type="http://schemas.openxmlformats.org/officeDocument/2006/relationships/slide" Target="/ppt/slides/slide2.xml" Id="Reba8db2da12d4480" /><Relationship Type="http://schemas.openxmlformats.org/officeDocument/2006/relationships/slide" Target="/ppt/slides/slide3.xml" Id="R7a01813afbdc457d" /><Relationship Type="http://schemas.openxmlformats.org/officeDocument/2006/relationships/slide" Target="/ppt/slides/slide4.xml" Id="R9720f5a341be4ce2" /><Relationship Type="http://schemas.openxmlformats.org/officeDocument/2006/relationships/slide" Target="/ppt/slides/slide5.xml" Id="Rb6d6ffe77b414f3d" /><Relationship Type="http://schemas.openxmlformats.org/officeDocument/2006/relationships/slide" Target="/ppt/slides/slide6.xml" Id="R5f1fe4ec0d3f4977" /><Relationship Type="http://schemas.openxmlformats.org/officeDocument/2006/relationships/slide" Target="/ppt/slides/slide7.xml" Id="R88346c77dd154522" /><Relationship Type="http://schemas.openxmlformats.org/officeDocument/2006/relationships/slide" Target="/ppt/slides/slide8.xml" Id="R96ff7a636cb64e33" /><Relationship Type="http://schemas.openxmlformats.org/officeDocument/2006/relationships/slide" Target="/ppt/slides/slide9.xml" Id="R3f9974ac22db4ce3" /><Relationship Type="http://schemas.openxmlformats.org/officeDocument/2006/relationships/slide" Target="/ppt/slides/slide10.xml" Id="Rf350f8ab5ec94011" /><Relationship Type="http://schemas.openxmlformats.org/officeDocument/2006/relationships/slide" Target="/ppt/slides/slide11.xml" Id="R28b19c95d7ce474b" /><Relationship Type="http://schemas.openxmlformats.org/officeDocument/2006/relationships/slide" Target="/ppt/slides/slide12.xml" Id="R9c16894f467e47db" /><Relationship Type="http://schemas.openxmlformats.org/officeDocument/2006/relationships/slide" Target="/ppt/slides/slide13.xml" Id="R2e703148ce6e4f47" /><Relationship Type="http://schemas.openxmlformats.org/officeDocument/2006/relationships/slide" Target="/ppt/slides/slide14.xml" Id="Rf55307552cc74cfd" /><Relationship Type="http://schemas.openxmlformats.org/officeDocument/2006/relationships/slide" Target="/ppt/slides/slide15.xml" Id="R0dd0e4866d6a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92654d2285447d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1c515387c449474b" /><Relationship Type="http://schemas.openxmlformats.org/officeDocument/2006/relationships/slide" Target="/ppt/slides/slide1.xml" Id="Radb4cc7170c54ec8"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4cd44e18977d4c26" /><Relationship Type="http://schemas.openxmlformats.org/officeDocument/2006/relationships/slide" Target="/ppt/slides/slide2.xml" Id="R8761b91460584645"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62c09e25cee046eb" /><Relationship Type="http://schemas.openxmlformats.org/officeDocument/2006/relationships/slide" Target="/ppt/slides/slide3.xml" Id="Re5d7f952e6074adc"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ef543af1fa774d32" /><Relationship Type="http://schemas.openxmlformats.org/officeDocument/2006/relationships/slide" Target="/ppt/slides/slide4.xml" Id="Rc550d79b545247c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6100279bf4d2487c" /><Relationship Type="http://schemas.openxmlformats.org/officeDocument/2006/relationships/slide" Target="/ppt/slides/slide5.xml" Id="R2af704f5ca054a92"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600027afb5d04ea9" /><Relationship Type="http://schemas.openxmlformats.org/officeDocument/2006/relationships/slide" Target="/ppt/slides/slide6.xml" Id="R79f9ea1b9c484ea4"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dddba4edcacf481d" /><Relationship Type="http://schemas.openxmlformats.org/officeDocument/2006/relationships/slide" Target="/ppt/slides/slide7.xml" Id="R2d121f53b1db447b"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70eade920490458e" /><Relationship Type="http://schemas.openxmlformats.org/officeDocument/2006/relationships/slide" Target="/ppt/slides/slide8.xml" Id="R65eff7e62e4748e3"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07b4ad03aebb443c" /><Relationship Type="http://schemas.openxmlformats.org/officeDocument/2006/relationships/slide" Target="/ppt/slides/slide9.xml" Id="R4bf271a184bb4db7"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35be0c0e10a3462a" /><Relationship Type="http://schemas.openxmlformats.org/officeDocument/2006/relationships/slide" Target="/ppt/slides/slide10.xml" Id="R537849a1333447f7"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356145be1aa84feb" /><Relationship Type="http://schemas.openxmlformats.org/officeDocument/2006/relationships/slide" Target="/ppt/slides/slide11.xml" Id="R037525c5cc9241bd"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201ab3127c2149b9" /><Relationship Type="http://schemas.openxmlformats.org/officeDocument/2006/relationships/slide" Target="/ppt/slides/slide12.xml" Id="Ra710c8d91f624c07"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7a208efb95d74034" /><Relationship Type="http://schemas.openxmlformats.org/officeDocument/2006/relationships/slide" Target="/ppt/slides/slide13.xml" Id="R372f0813537a40cc"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5f101e1355354eba" /><Relationship Type="http://schemas.openxmlformats.org/officeDocument/2006/relationships/slide" Target="/ppt/slides/slide14.xml" Id="R71b6799d42804656"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901d0360bcd04441" /><Relationship Type="http://schemas.openxmlformats.org/officeDocument/2006/relationships/slide" Target="/ppt/slides/slide15.xml" Id="Rdbfe90cd8abb4e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to NutriBot AI — a fully agentic web application that generates personalised 7-day nutrition plans using IBM Granite Large Language Model. In the next 150 seconds we will walk through every feature of this project.</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NutriBot AI is an agentic application — it plans, reasons about your health conditions, acts by generating a structured meal plan, and safeguards every output with ethics guardrails. It uses IBM Granite 13 billion parameter model hosted on watsonx.ai.</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NutriBot AI follows all 7 phases of the Agentic AI Software Development Lifecycle. Phase 1 defines the problem. Phase 2 collects user context. Phase 3 designs the IBM Granite agent. Phase 4 adds guardrails. Phase 5 connects tools. Phase 6 evaluates outputs. Phase 7 deploys to GitHub.</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Three-tier architecture. The browser sends JSON to the Flask API gateway. Flask validates input, applies guardrails, then calls IBM Granite on watsonx.ai. The generated plan is returned as markdown, rendered in the browser, and saved as a dot-md file.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13 billion instruct model is the reasoning core. The HAM system prompt enforces Helpful, Accountable, and Mindful behaviour. Temperature 0.7 gives creative but factually grounded responses. Max 1024 tokens covers a full 7-day meal plan.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main web interface runs at localhost port 5000. A sticky header with IBM blue styling contains three tabs. The two-panel layout shows the profile form on the left and the generated plan on the right.</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agent collects 8 data points across 5 steps. This JSON payload is validated, checked against guardrails, then forwarded to IBM Granite on watsonx.ai. The medical history directly shapes which foods are recommended and which are flagged to avoid.</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After clicking Generate, IBM Granite returns the full plan. The toolbar shows Download dot-md, Copy, and Print. The model badge confirms which IBM Granite model was used. Day 1 Foundation Day is shown with 5 meals and calorie counts. Total day calories are around 1620 kilocalories.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Days 1 through 4 from the generated markdown file. Each day has a theme. Day 1 Foundation, Day 2 Protein Focus, Day 3 Fiber Rich, Day 4 Anti-Inflammatory. All meals are vegetarian and low glycaemic index for diabetes management.</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Days 5 through 7. Day 5 is Heart Health Day. Day 6 is Detox Day with a green smoothie breakfast. Day 7 is Rest and Restore with khichdi for dinner — a traditional Indian comfort food that is also diabetic-friendly.</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Macronutrient targets are calibrated specifically for diabetes management. Carbohydrates are restricted to 150 to 180 grams of low glycaemic index foods. The 5 personalised tips and foods-to-avoid list are directly derived from the medical history: Diabetes and Hypertension.</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NutriBot Chat Agent tab allows conversational Q&amp;A powered by IBM Granite. It uses session context from the generated plan. Quick question buttons are pre-loaded. The agent always recommends professional consultation for medical questions.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5 IBM AI Ethics principles are implemented. 12 harmful content categories are blocked at input. The medical disclaimer is mandatory on every generated plan — it cannot be disabled. This protects users from acting on AI advice without professional oversight.</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repository is public at github.com/jigarnakarani/Nutrition-Agentic-AI-. Deployment is a single double-click on run.bat. No API key is required to run in Demo Mode. The .env file stores credentials securely and is excluded from git.</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Thank you for watching the NutriBot AI 150-second project walkthrough. This Agentic AI application follows all 7 SDLC phases, implements IBM AI Ethics, and uses IBM Granite LLM for intelligent, personalised, and medically-aware nutrition planning. The full project is available on GitHub.</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9d3999082148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2d74ab3d6c4c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41cf0eb1914f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2d058bb3e042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4039828d51476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76bfc43af31a4273"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67ee481193f14235" /><Relationship Type="http://schemas.openxmlformats.org/officeDocument/2006/relationships/notesSlide" Target="/ppt/notesSlides/notesSlide1.xml" Id="R11727f70153c43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4d4322038447cf" /><Relationship Type="http://schemas.openxmlformats.org/officeDocument/2006/relationships/notesSlide" Target="/ppt/notesSlides/notesSlide2.xml" Id="R6a07fc8708d148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6a1e1d1af64663" /><Relationship Type="http://schemas.openxmlformats.org/officeDocument/2006/relationships/notesSlide" Target="/ppt/notesSlides/notesSlide3.xml" Id="R13200a5a3b304c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eb395b91a540a7" /><Relationship Type="http://schemas.openxmlformats.org/officeDocument/2006/relationships/notesSlide" Target="/ppt/notesSlides/notesSlide4.xml" Id="R715609c106844b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e4c361bb8843ac" /><Relationship Type="http://schemas.openxmlformats.org/officeDocument/2006/relationships/notesSlide" Target="/ppt/notesSlides/notesSlide5.xml" Id="Rb51f4404f31a48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4b82884e5d40e1" /><Relationship Type="http://schemas.openxmlformats.org/officeDocument/2006/relationships/notesSlide" Target="/ppt/notesSlides/notesSlide6.xml" Id="Rd61215c7f01d46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eccf0bcd9045a3" /><Relationship Type="http://schemas.openxmlformats.org/officeDocument/2006/relationships/notesSlide" Target="/ppt/notesSlides/notesSlide7.xml" Id="R417aabcd3bba4e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bb42664f7e4046" /><Relationship Type="http://schemas.openxmlformats.org/officeDocument/2006/relationships/notesSlide" Target="/ppt/notesSlides/notesSlide8.xml" Id="R74e6be92632e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48c7730b404ee2" /><Relationship Type="http://schemas.openxmlformats.org/officeDocument/2006/relationships/notesSlide" Target="/ppt/notesSlides/notesSlide9.xml" Id="R08b4fccb6ebd49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e85ec5bb364b89" /><Relationship Type="http://schemas.openxmlformats.org/officeDocument/2006/relationships/notesSlide" Target="/ppt/notesSlides/notesSlide10.xml" Id="Rfa860b2caa4c45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5a6871ec8b439b" /><Relationship Type="http://schemas.openxmlformats.org/officeDocument/2006/relationships/notesSlide" Target="/ppt/notesSlides/notesSlide11.xml" Id="R7c5b55f80f8d45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bd50ecd32042c6" /><Relationship Type="http://schemas.openxmlformats.org/officeDocument/2006/relationships/notesSlide" Target="/ppt/notesSlides/notesSlide12.xml" Id="R0048deaff3814d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1392d4c29d452e" /><Relationship Type="http://schemas.openxmlformats.org/officeDocument/2006/relationships/notesSlide" Target="/ppt/notesSlides/notesSlide13.xml" Id="Re161f33b2a5c45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f73ebc098c4304" /><Relationship Type="http://schemas.openxmlformats.org/officeDocument/2006/relationships/notesSlide" Target="/ppt/notesSlides/notesSlide14.xml" Id="R905adefc1cd14a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aa5826e1824b32" /><Relationship Type="http://schemas.openxmlformats.org/officeDocument/2006/relationships/notesSlide" Target="/ppt/notesSlides/notesSlide15.xml" Id="R04bd0b86795048b6" /></Relationships>
</file>

<file path=ppt/slides/slide1.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00" name="Accent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Bottom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IBM Granite LLM  |  watsonx.ai  |  Python / Flask  |  Agentic AI  |  github.com/jigarnakarani/Nutrition-Agentic-AI-</a:t>
            </a:r>
          </a:p>
        </p:txBody>
      </p:sp>
      <p:sp>
        <p:nvSpPr>
          <p:cNvPr id="100002" name="Emoji"/>
          <p:cNvSpPr txBox="1"/>
          <p:nvPr/>
        </p:nvSpPr>
        <p:spPr>
          <a:xfrm xmlns:a="http://schemas.openxmlformats.org/drawingml/2006/main">
            <a:off x="720000" y="720000"/>
            <a:ext cx="1044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6600" b="1">
                <a:solidFill>
                  <a:srgbClr val="FFFFFF"/>
                </a:solidFill>
                <a:latin typeface="Calibri"/>
                <a:ea typeface="Calibri"/>
              </a:rPr>
              <a:t>NutriBot AI</a:t>
            </a:r>
          </a:p>
        </p:txBody>
      </p:sp>
      <p:sp>
        <p:nvSpPr>
          <p:cNvPr id="100003" name="Sub1"/>
          <p:cNvSpPr txBox="1"/>
          <p:nvPr/>
        </p:nvSpPr>
        <p:spPr>
          <a:xfrm xmlns:a="http://schemas.openxmlformats.org/drawingml/2006/main">
            <a:off x="720000" y="2268000"/>
            <a:ext cx="104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0">
                <a:solidFill>
                  <a:srgbClr val="88CCFF"/>
                </a:solidFill>
                <a:latin typeface="Calibri"/>
                <a:ea typeface="Calibri"/>
              </a:rPr>
              <a:t>Nutrition Agentic AI Application</a:t>
            </a:r>
          </a:p>
        </p:txBody>
      </p:sp>
      <p:sp>
        <p:nvSpPr>
          <p:cNvPr id="100004" name="Sub2"/>
          <p:cNvSpPr txBox="1"/>
          <p:nvPr/>
        </p:nvSpPr>
        <p:spPr>
          <a:xfrm xmlns:a="http://schemas.openxmlformats.org/drawingml/2006/main">
            <a:off x="720000" y="3060000"/>
            <a:ext cx="104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AADDFF"/>
                </a:solidFill>
                <a:latin typeface="Calibri"/>
                <a:ea typeface="Calibri"/>
              </a:rPr>
              <a:t>Powered by IBM Granite LLM  |  IBM watsonx.ai</a:t>
            </a:r>
          </a:p>
        </p:txBody>
      </p:sp>
      <p:sp>
        <p:nvSpPr>
          <p:cNvPr id="100005" name="Pills"/>
          <p:cNvSpPr txBox="1"/>
          <p:nvPr/>
        </p:nvSpPr>
        <p:spPr>
          <a:xfrm xmlns:a="http://schemas.openxmlformats.org/drawingml/2006/main">
            <a:off x="720000" y="3708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CCFFCC"/>
                </a:solidFill>
                <a:latin typeface="Calibri"/>
                <a:ea typeface="Calibri"/>
              </a:rPr>
              <a:t>Personalised  •  Medical-Aware  •  7-Day Meal Plans  •  Chat Agent  •  Ethics-First  •  Open Source</a:t>
            </a:r>
          </a:p>
        </p:txBody>
      </p:sp>
      <p:sp>
        <p:nvSpPr>
          <p:cNvPr id="100006" name="Duration"/>
          <p:cNvSpPr txBox="1"/>
          <p:nvPr/>
        </p:nvSpPr>
        <p:spPr>
          <a:xfrm xmlns:a="http://schemas.openxmlformats.org/drawingml/2006/main">
            <a:off x="720000" y="4320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0">
                <a:solidFill>
                  <a:srgbClr val="FFDD88"/>
                </a:solidFill>
                <a:latin typeface="Calibri"/>
                <a:ea typeface="Calibri"/>
              </a:rPr>
              <a:t>150-second project walkthrough</a:t>
            </a:r>
          </a:p>
        </p:txBody>
      </p:sp>
    </p:spTree>
  </p:cSld>
  <p:transition xmlns:p="http://schemas.openxmlformats.org/presentationml/2006/main" spd="fast" advClick="0" advTm="10000"/>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What is NutriBot AI?</a:t>
            </a:r>
          </a:p>
        </p:txBody>
      </p:sp>
      <p:sp>
        <p:nvSpPr>
          <p:cNvPr id="100008"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09" name="Def"/>
          <p:cNvSpPr txBox="1"/>
          <p:nvPr/>
        </p:nvSpPr>
        <p:spPr>
          <a:xfrm xmlns:a="http://schemas.openxmlformats.org/drawingml/2006/main">
            <a:off x="720000" y="648000"/>
            <a:ext cx="1044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1A202C"/>
                </a:solidFill>
                <a:latin typeface="Calibri"/>
                <a:ea typeface="Calibri"/>
              </a:rPr>
              <a:t>NutriBot AI is a web-based Agentic AI application that autonomously collects your health profile and generates a personalised 7-day nutrition plan — powered by IBM Granite LLM.</a:t>
            </a:r>
          </a:p>
        </p:txBody>
      </p:sp>
      <p:sp>
        <p:nvSpPr>
          <p:cNvPr id="100010" name="B1"/>
          <p:cNvSpPr txBox="1"/>
          <p:nvPr/>
        </p:nvSpPr>
        <p:spPr>
          <a:xfrm xmlns:a="http://schemas.openxmlformats.org/drawingml/2006/main">
            <a:off x="540000" y="1728000"/>
            <a:ext cx="5220000" cy="144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700" b="0">
                <a:solidFill>
                  <a:srgbClr val="0F3460"/>
                </a:solidFill>
              </a:rPr>
              <a:t>AGENTIC AI</a:t>
            </a:r>
          </a:p>
          <a:p xmlns:a="http://schemas.openxmlformats.org/drawingml/2006/main">
            <a:r>
              <a:rPr lang="en-US" sz="1700" b="0">
                <a:solidFill>
                  <a:srgbClr val="0F3460"/>
                </a:solidFill>
              </a:rPr>
              <a:t>Plans, reasons &amp; acts autonomously — no step-by-step human guidance needed</a:t>
            </a:r>
          </a:p>
        </p:txBody>
      </p:sp>
      <p:sp>
        <p:nvSpPr>
          <p:cNvPr id="100011" name="B2"/>
          <p:cNvSpPr txBox="1"/>
          <p:nvPr/>
        </p:nvSpPr>
        <p:spPr>
          <a:xfrm xmlns:a="http://schemas.openxmlformats.org/drawingml/2006/main">
            <a:off x="6120000" y="1728000"/>
            <a:ext cx="5220000" cy="1440000"/>
          </a:xfrm>
          <a:prstGeom xmlns:a="http://schemas.openxmlformats.org/drawingml/2006/main" prst="rect">
            <a:avLst/>
          </a:prstGeom>
          <a:solidFill xmlns:a="http://schemas.openxmlformats.org/drawingml/2006/main">
            <a:srgbClr val="E8FFF0"/>
          </a:solidFill>
        </p:spPr>
        <p:txBody>
          <a:bodyPr xmlns:a="http://schemas.openxmlformats.org/drawingml/2006/main"/>
          <a:lstStyle xmlns:a="http://schemas.openxmlformats.org/drawingml/2006/main"/>
          <a:p xmlns:a="http://schemas.openxmlformats.org/drawingml/2006/main">
            <a:r>
              <a:rPr lang="en-US" sz="1700" b="0">
                <a:solidFill>
                  <a:srgbClr val="0A4A1A"/>
                </a:solidFill>
              </a:rPr>
              <a:t>IBM GRANITE LLM</a:t>
            </a:r>
          </a:p>
          <a:p xmlns:a="http://schemas.openxmlformats.org/drawingml/2006/main">
            <a:r>
              <a:rPr lang="en-US" sz="1700" b="0">
                <a:solidFill>
                  <a:srgbClr val="0A4A1A"/>
                </a:solidFill>
              </a:rPr>
              <a:t>ibm/granite-13b-instruct-v2 via IBM watsonx.ai enterprise cloud</a:t>
            </a:r>
          </a:p>
        </p:txBody>
      </p:sp>
      <p:sp>
        <p:nvSpPr>
          <p:cNvPr id="100012" name="B3"/>
          <p:cNvSpPr txBox="1"/>
          <p:nvPr/>
        </p:nvSpPr>
        <p:spPr>
          <a:xfrm xmlns:a="http://schemas.openxmlformats.org/drawingml/2006/main">
            <a:off x="540000" y="3420000"/>
            <a:ext cx="5220000" cy="144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700" b="0">
                <a:solidFill>
                  <a:srgbClr val="5A3500"/>
                </a:solidFill>
              </a:rPr>
              <a:t>MEDICAL-AWARE</a:t>
            </a:r>
          </a:p>
          <a:p xmlns:a="http://schemas.openxmlformats.org/drawingml/2006/main">
            <a:r>
              <a:rPr lang="en-US" sz="1700" b="0">
                <a:solidFill>
                  <a:srgbClr val="5A3500"/>
                </a:solidFill>
              </a:rPr>
              <a:t>Adapts for Diabetes, Hypertension, Heart Disease, PCOS, Thyroid &amp; more</a:t>
            </a:r>
          </a:p>
        </p:txBody>
      </p:sp>
      <p:sp>
        <p:nvSpPr>
          <p:cNvPr id="100013" name="B4"/>
          <p:cNvSpPr txBox="1"/>
          <p:nvPr/>
        </p:nvSpPr>
        <p:spPr>
          <a:xfrm xmlns:a="http://schemas.openxmlformats.org/drawingml/2006/main">
            <a:off x="6120000" y="3420000"/>
            <a:ext cx="5220000" cy="1440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700" b="0">
                <a:solidFill>
                  <a:srgbClr val="5A0A0A"/>
                </a:solidFill>
              </a:rPr>
              <a:t>ETHICS-FIRST</a:t>
            </a:r>
          </a:p>
          <a:p xmlns:a="http://schemas.openxmlformats.org/drawingml/2006/main">
            <a:r>
              <a:rPr lang="en-US" sz="1700" b="0">
                <a:solidFill>
                  <a:srgbClr val="5A0A0A"/>
                </a:solidFill>
              </a:rPr>
              <a:t>IBM AI Ethics: Transparency, Fairness, Robustness, Privacy, Accountability</a:t>
            </a:r>
          </a:p>
        </p:txBody>
      </p:sp>
    </p:spTree>
  </p:cSld>
  <p:transition xmlns:p="http://schemas.openxmlformats.org/presentationml/2006/main" spd="fast" advClick="0" advTm="10000"/>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4"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Agentic AI SDLC — 7 Phases</a:t>
            </a:r>
          </a:p>
        </p:txBody>
      </p:sp>
      <p:sp>
        <p:nvSpPr>
          <p:cNvPr id="100015"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16" name="Ph1"/>
          <p:cNvSpPr txBox="1"/>
          <p:nvPr/>
        </p:nvSpPr>
        <p:spPr>
          <a:xfrm xmlns:a="http://schemas.openxmlformats.org/drawingml/2006/main">
            <a:off x="360000" y="612000"/>
            <a:ext cx="5400000" cy="90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600" b="0">
                <a:solidFill>
                  <a:srgbClr val="FFFFFF"/>
                </a:solidFill>
              </a:rPr>
              <a:t>1  PROBLEM SCOPING</a:t>
            </a:r>
          </a:p>
          <a:p xmlns:a="http://schemas.openxmlformats.org/drawingml/2006/main">
            <a:r>
              <a:rPr lang="en-US" sz="1600" b="0">
                <a:solidFill>
                  <a:srgbClr val="FFFFFF"/>
                </a:solidFill>
              </a:rPr>
              <a:t>Personalised nutrition for diverse global health profiles</a:t>
            </a:r>
          </a:p>
        </p:txBody>
      </p:sp>
      <p:sp>
        <p:nvSpPr>
          <p:cNvPr id="100017" name="Ph2"/>
          <p:cNvSpPr txBox="1"/>
          <p:nvPr/>
        </p:nvSpPr>
        <p:spPr>
          <a:xfrm xmlns:a="http://schemas.openxmlformats.org/drawingml/2006/main">
            <a:off x="6300000" y="612000"/>
            <a:ext cx="5400000" cy="900000"/>
          </a:xfrm>
          <a:prstGeom xmlns:a="http://schemas.openxmlformats.org/drawingml/2006/main" prst="rect">
            <a:avLst/>
          </a:prstGeom>
          <a:solidFill xmlns:a="http://schemas.openxmlformats.org/drawingml/2006/main">
            <a:srgbClr val="0F5A30"/>
          </a:solidFill>
        </p:spPr>
        <p:txBody>
          <a:bodyPr xmlns:a="http://schemas.openxmlformats.org/drawingml/2006/main"/>
          <a:lstStyle xmlns:a="http://schemas.openxmlformats.org/drawingml/2006/main"/>
          <a:p xmlns:a="http://schemas.openxmlformats.org/drawingml/2006/main">
            <a:r>
              <a:rPr lang="en-US" sz="1600" b="0">
                <a:solidFill>
                  <a:srgbClr val="FFFFFF"/>
                </a:solidFill>
              </a:rPr>
              <a:t>2  DATA &amp; CONTEXT</a:t>
            </a:r>
          </a:p>
          <a:p xmlns:a="http://schemas.openxmlformats.org/drawingml/2006/main">
            <a:r>
              <a:rPr lang="en-US" sz="1600" b="0">
                <a:solidFill>
                  <a:srgbClr val="FFFFFF"/>
                </a:solidFill>
              </a:rPr>
              <a:t>User form: name, age, diet, medical history, city, goal</a:t>
            </a:r>
          </a:p>
        </p:txBody>
      </p:sp>
      <p:sp>
        <p:nvSpPr>
          <p:cNvPr id="100018" name="Ph3"/>
          <p:cNvSpPr txBox="1"/>
          <p:nvPr/>
        </p:nvSpPr>
        <p:spPr>
          <a:xfrm xmlns:a="http://schemas.openxmlformats.org/drawingml/2006/main">
            <a:off x="360000" y="1728000"/>
            <a:ext cx="5400000" cy="900000"/>
          </a:xfrm>
          <a:prstGeom xmlns:a="http://schemas.openxmlformats.org/drawingml/2006/main" prst="rect">
            <a:avLst/>
          </a:prstGeom>
          <a:solidFill xmlns:a="http://schemas.openxmlformats.org/drawingml/2006/main">
            <a:srgbClr val="4A0A7A"/>
          </a:solidFill>
        </p:spPr>
        <p:txBody>
          <a:bodyPr xmlns:a="http://schemas.openxmlformats.org/drawingml/2006/main"/>
          <a:lstStyle xmlns:a="http://schemas.openxmlformats.org/drawingml/2006/main"/>
          <a:p xmlns:a="http://schemas.openxmlformats.org/drawingml/2006/main">
            <a:r>
              <a:rPr lang="en-US" sz="1600" b="0">
                <a:solidFill>
                  <a:srgbClr val="FFFFFF"/>
                </a:solidFill>
              </a:rPr>
              <a:t>3  AGENT DESIGN</a:t>
            </a:r>
          </a:p>
          <a:p xmlns:a="http://schemas.openxmlformats.org/drawingml/2006/main">
            <a:r>
              <a:rPr lang="en-US" sz="1600" b="0">
                <a:solidFill>
                  <a:srgbClr val="FFFFFF"/>
                </a:solidFill>
              </a:rPr>
              <a:t>IBM Granite LLM + HAM system prompt + reasoning loop</a:t>
            </a:r>
          </a:p>
        </p:txBody>
      </p:sp>
      <p:sp>
        <p:nvSpPr>
          <p:cNvPr id="100019" name="Ph4"/>
          <p:cNvSpPr txBox="1"/>
          <p:nvPr/>
        </p:nvSpPr>
        <p:spPr>
          <a:xfrm xmlns:a="http://schemas.openxmlformats.org/drawingml/2006/main">
            <a:off x="6300000" y="1728000"/>
            <a:ext cx="5400000" cy="900000"/>
          </a:xfrm>
          <a:prstGeom xmlns:a="http://schemas.openxmlformats.org/drawingml/2006/main" prst="rect">
            <a:avLst/>
          </a:prstGeom>
          <a:solidFill xmlns:a="http://schemas.openxmlformats.org/drawingml/2006/main">
            <a:srgbClr val="7A1A1A"/>
          </a:solidFill>
        </p:spPr>
        <p:txBody>
          <a:bodyPr xmlns:a="http://schemas.openxmlformats.org/drawingml/2006/main"/>
          <a:lstStyle xmlns:a="http://schemas.openxmlformats.org/drawingml/2006/main"/>
          <a:p xmlns:a="http://schemas.openxmlformats.org/drawingml/2006/main">
            <a:r>
              <a:rPr lang="en-US" sz="1600" b="0">
                <a:solidFill>
                  <a:srgbClr val="FFFFFF"/>
                </a:solidFill>
              </a:rPr>
              <a:t>4  GUARDRAIL INTEGRATION</a:t>
            </a:r>
          </a:p>
          <a:p xmlns:a="http://schemas.openxmlformats.org/drawingml/2006/main">
            <a:r>
              <a:rPr lang="en-US" sz="1600" b="0">
                <a:solidFill>
                  <a:srgbClr val="FFFFFF"/>
                </a:solidFill>
              </a:rPr>
              <a:t>12-category harmful content filter + medical disclaimer</a:t>
            </a:r>
          </a:p>
        </p:txBody>
      </p:sp>
      <p:sp>
        <p:nvSpPr>
          <p:cNvPr id="100020" name="Ph5"/>
          <p:cNvSpPr txBox="1"/>
          <p:nvPr/>
        </p:nvSpPr>
        <p:spPr>
          <a:xfrm xmlns:a="http://schemas.openxmlformats.org/drawingml/2006/main">
            <a:off x="360000" y="2844000"/>
            <a:ext cx="5400000" cy="900000"/>
          </a:xfrm>
          <a:prstGeom xmlns:a="http://schemas.openxmlformats.org/drawingml/2006/main" prst="rect">
            <a:avLst/>
          </a:prstGeom>
          <a:solidFill xmlns:a="http://schemas.openxmlformats.org/drawingml/2006/main">
            <a:srgbClr val="1A4A5A"/>
          </a:solidFill>
        </p:spPr>
        <p:txBody>
          <a:bodyPr xmlns:a="http://schemas.openxmlformats.org/drawingml/2006/main"/>
          <a:lstStyle xmlns:a="http://schemas.openxmlformats.org/drawingml/2006/main"/>
          <a:p xmlns:a="http://schemas.openxmlformats.org/drawingml/2006/main">
            <a:r>
              <a:rPr lang="en-US" sz="1600" b="0">
                <a:solidFill>
                  <a:srgbClr val="FFFFFF"/>
                </a:solidFill>
              </a:rPr>
              <a:t>5  TOOL USE</a:t>
            </a:r>
          </a:p>
          <a:p xmlns:a="http://schemas.openxmlformats.org/drawingml/2006/main">
            <a:r>
              <a:rPr lang="en-US" sz="1600" b="0">
                <a:solidFill>
                  <a:srgbClr val="FFFFFF"/>
                </a:solidFill>
              </a:rPr>
              <a:t>Plan generator  +  NutriBot chat Q&amp;A  +  .md export</a:t>
            </a:r>
          </a:p>
        </p:txBody>
      </p:sp>
      <p:sp>
        <p:nvSpPr>
          <p:cNvPr id="100021" name="Ph6"/>
          <p:cNvSpPr txBox="1"/>
          <p:nvPr/>
        </p:nvSpPr>
        <p:spPr>
          <a:xfrm xmlns:a="http://schemas.openxmlformats.org/drawingml/2006/main">
            <a:off x="6300000" y="2844000"/>
            <a:ext cx="5400000" cy="900000"/>
          </a:xfrm>
          <a:prstGeom xmlns:a="http://schemas.openxmlformats.org/drawingml/2006/main" prst="rect">
            <a:avLst/>
          </a:prstGeom>
          <a:solidFill xmlns:a="http://schemas.openxmlformats.org/drawingml/2006/main">
            <a:srgbClr val="5A4A1A"/>
          </a:solidFill>
        </p:spPr>
        <p:txBody>
          <a:bodyPr xmlns:a="http://schemas.openxmlformats.org/drawingml/2006/main"/>
          <a:lstStyle xmlns:a="http://schemas.openxmlformats.org/drawingml/2006/main"/>
          <a:p xmlns:a="http://schemas.openxmlformats.org/drawingml/2006/main">
            <a:r>
              <a:rPr lang="en-US" sz="1600" b="0">
                <a:solidFill>
                  <a:srgbClr val="FFFFFF"/>
                </a:solidFill>
              </a:rPr>
              <a:t>6  EVALUATION</a:t>
            </a:r>
          </a:p>
          <a:p xmlns:a="http://schemas.openxmlformats.org/drawingml/2006/main">
            <a:r>
              <a:rPr lang="en-US" sz="1600" b="0">
                <a:solidFill>
                  <a:srgbClr val="FFFFFF"/>
                </a:solidFill>
              </a:rPr>
              <a:t>Output review, disclaimer check, model attribution badge</a:t>
            </a:r>
          </a:p>
        </p:txBody>
      </p:sp>
      <p:sp>
        <p:nvSpPr>
          <p:cNvPr id="100022" name="Ph7"/>
          <p:cNvSpPr txBox="1"/>
          <p:nvPr/>
        </p:nvSpPr>
        <p:spPr>
          <a:xfrm xmlns:a="http://schemas.openxmlformats.org/drawingml/2006/main">
            <a:off x="360000" y="3960000"/>
            <a:ext cx="11340000" cy="9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700" b="1">
                <a:solidFill>
                  <a:srgbClr val="FFFFFF"/>
                </a:solidFill>
              </a:rPr>
              <a:t>7  DEPLOYMENT  —  Flask REST API  +  HTML/CSS/JS Web App  +  Windows run.bat  +  GitHub</a:t>
            </a:r>
          </a:p>
        </p:txBody>
      </p:sp>
    </p:spTree>
  </p:cSld>
  <p:transition xmlns:p="http://schemas.openxmlformats.org/presentationml/2006/main" spd="fast" advClick="0" advTm="10000"/>
</p:sld>
</file>

<file path=ppt/slides/slide4.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23"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2200" b="1">
                <a:solidFill>
                  <a:srgbClr val="FFFFFF"/>
                </a:solidFill>
              </a:rPr>
              <a:t>System Architecture</a:t>
            </a:r>
          </a:p>
        </p:txBody>
      </p:sp>
      <p:sp>
        <p:nvSpPr>
          <p:cNvPr id="100024"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25" name="L1"/>
          <p:cNvSpPr txBox="1"/>
          <p:nvPr/>
        </p:nvSpPr>
        <p:spPr>
          <a:xfrm xmlns:a="http://schemas.openxmlformats.org/drawingml/2006/main">
            <a:off x="720000" y="648000"/>
            <a:ext cx="10440000" cy="1080000"/>
          </a:xfrm>
          <a:prstGeom xmlns:a="http://schemas.openxmlformats.org/drawingml/2006/main" prst="rect">
            <a:avLst/>
          </a:prstGeom>
          <a:solidFill xmlns:a="http://schemas.openxmlformats.org/drawingml/2006/main">
            <a:srgbClr val="1A3A6A"/>
          </a:solidFill>
        </p:spPr>
        <p:txBody>
          <a:bodyPr xmlns:a="http://schemas.openxmlformats.org/drawingml/2006/main"/>
          <a:lstStyle xmlns:a="http://schemas.openxmlformats.org/drawingml/2006/main"/>
          <a:p xmlns:a="http://schemas.openxmlformats.org/drawingml/2006/main">
            <a:r>
              <a:rPr lang="en-US" sz="1700" b="0">
                <a:solidFill>
                  <a:srgbClr val="FFFFFF"/>
                </a:solidFill>
              </a:rPr>
              <a:t>LAYER 1 — PRESENTATION</a:t>
            </a:r>
          </a:p>
          <a:p xmlns:a="http://schemas.openxmlformats.org/drawingml/2006/main">
            <a:r>
              <a:rPr lang="en-US" sz="1700" b="0">
                <a:solidFill>
                  <a:srgbClr val="FFFFFF"/>
                </a:solidFill>
              </a:rPr>
              <a:t>HTML5  |  CSS3  |  Vanilla JS  |  Marked.js  |  Font Awesome</a:t>
            </a:r>
          </a:p>
          <a:p xmlns:a="http://schemas.openxmlformats.org/drawingml/2006/main">
            <a:r>
              <a:rPr lang="en-US" sz="1700" b="0">
                <a:solidFill>
                  <a:srgbClr val="FFFFFF"/>
                </a:solidFill>
              </a:rPr>
              <a:t>Tab 1: Nutrition Plan   Tab 2: NutriBot Chat   Tab 3: About</a:t>
            </a:r>
          </a:p>
        </p:txBody>
      </p:sp>
      <p:sp>
        <p:nvSpPr>
          <p:cNvPr id="100026" name="Arr1"/>
          <p:cNvSpPr txBox="1"/>
          <p:nvPr/>
        </p:nvSpPr>
        <p:spPr>
          <a:xfrm xmlns:a="http://schemas.openxmlformats.org/drawingml/2006/main">
            <a:off x="3600000" y="1872000"/>
            <a:ext cx="46800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1">
                <a:solidFill>
                  <a:srgbClr val="FFFFFF"/>
                </a:solidFill>
              </a:rPr>
              <a:t>Fetch API  (HTTP POST/GET  JSON)</a:t>
            </a:r>
          </a:p>
        </p:txBody>
      </p:sp>
      <p:sp>
        <p:nvSpPr>
          <p:cNvPr id="100027" name="L2"/>
          <p:cNvSpPr txBox="1"/>
          <p:nvPr/>
        </p:nvSpPr>
        <p:spPr>
          <a:xfrm xmlns:a="http://schemas.openxmlformats.org/drawingml/2006/main">
            <a:off x="720000" y="2304000"/>
            <a:ext cx="10440000" cy="1080000"/>
          </a:xfrm>
          <a:prstGeom xmlns:a="http://schemas.openxmlformats.org/drawingml/2006/main" prst="rect">
            <a:avLst/>
          </a:prstGeom>
          <a:solidFill xmlns:a="http://schemas.openxmlformats.org/drawingml/2006/main">
            <a:srgbClr val="1A5A3A"/>
          </a:solidFill>
        </p:spPr>
        <p:txBody>
          <a:bodyPr xmlns:a="http://schemas.openxmlformats.org/drawingml/2006/main"/>
          <a:lstStyle xmlns:a="http://schemas.openxmlformats.org/drawingml/2006/main"/>
          <a:p xmlns:a="http://schemas.openxmlformats.org/drawingml/2006/main">
            <a:r>
              <a:rPr lang="en-US" sz="1700" b="0">
                <a:solidFill>
                  <a:srgbClr val="FFFFFF"/>
                </a:solidFill>
              </a:rPr>
              <a:t>LAYER 2 — FLASK API GATEWAY</a:t>
            </a:r>
          </a:p>
          <a:p xmlns:a="http://schemas.openxmlformats.org/drawingml/2006/main">
            <a:r>
              <a:rPr lang="en-US" sz="1700" b="0">
                <a:solidFill>
                  <a:srgbClr val="FFFFFF"/>
                </a:solidFill>
              </a:rPr>
              <a:t>/api/generate-plan   /api/chat   /api/download   /api/health</a:t>
            </a:r>
          </a:p>
          <a:p xmlns:a="http://schemas.openxmlformats.org/drawingml/2006/main">
            <a:r>
              <a:rPr lang="en-US" sz="1700" b="0">
                <a:solidFill>
                  <a:srgbClr val="FFFFFF"/>
                </a:solidFill>
              </a:rPr>
              <a:t>Input Validation  |  Guardrail Engine  |  IBM Ethics Layer</a:t>
            </a:r>
          </a:p>
        </p:txBody>
      </p:sp>
      <p:sp>
        <p:nvSpPr>
          <p:cNvPr id="100028" name="Arr2"/>
          <p:cNvSpPr txBox="1"/>
          <p:nvPr/>
        </p:nvSpPr>
        <p:spPr>
          <a:xfrm xmlns:a="http://schemas.openxmlformats.org/drawingml/2006/main">
            <a:off x="3600000" y="3492000"/>
            <a:ext cx="46800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1">
                <a:solidFill>
                  <a:srgbClr val="FFFFFF"/>
                </a:solidFill>
              </a:rPr>
              <a:t>IBM watsonx.ai REST API  (HTTPS)</a:t>
            </a:r>
          </a:p>
        </p:txBody>
      </p:sp>
      <p:sp>
        <p:nvSpPr>
          <p:cNvPr id="100029" name="L3"/>
          <p:cNvSpPr txBox="1"/>
          <p:nvPr/>
        </p:nvSpPr>
        <p:spPr>
          <a:xfrm xmlns:a="http://schemas.openxmlformats.org/drawingml/2006/main">
            <a:off x="720000" y="3924000"/>
            <a:ext cx="10440000" cy="1080000"/>
          </a:xfrm>
          <a:prstGeom xmlns:a="http://schemas.openxmlformats.org/drawingml/2006/main" prst="rect">
            <a:avLst/>
          </a:prstGeom>
          <a:solidFill xmlns:a="http://schemas.openxmlformats.org/drawingml/2006/main">
            <a:srgbClr val="4A0A7A"/>
          </a:solidFill>
        </p:spPr>
        <p:txBody>
          <a:bodyPr xmlns:a="http://schemas.openxmlformats.org/drawingml/2006/main"/>
          <a:lstStyle xmlns:a="http://schemas.openxmlformats.org/drawingml/2006/main"/>
          <a:p xmlns:a="http://schemas.openxmlformats.org/drawingml/2006/main">
            <a:r>
              <a:rPr lang="en-US" sz="1700" b="0">
                <a:solidFill>
                  <a:srgbClr val="FFFFFF"/>
                </a:solidFill>
              </a:rPr>
              <a:t>LAYER 3 — IBM GRANITE LLM AGENT</a:t>
            </a:r>
          </a:p>
          <a:p xmlns:a="http://schemas.openxmlformats.org/drawingml/2006/main">
            <a:r>
              <a:rPr lang="en-US" sz="1700" b="0">
                <a:solidFill>
                  <a:srgbClr val="FFFFFF"/>
                </a:solidFill>
              </a:rPr>
              <a:t>ibm/granite-13b-instruct-v2  via  IBM watsonx.ai Cloud</a:t>
            </a:r>
          </a:p>
          <a:p xmlns:a="http://schemas.openxmlformats.org/drawingml/2006/main">
            <a:r>
              <a:rPr lang="en-US" sz="1700" b="0">
                <a:solidFill>
                  <a:srgbClr val="FFFFFF"/>
                </a:solidFill>
              </a:rPr>
              <a:t>Plan Generation  |  Q&amp;A Reasoning  |  Contextual Nutrition Advice</a:t>
            </a:r>
          </a:p>
        </p:txBody>
      </p:sp>
      <p:sp>
        <p:nvSpPr>
          <p:cNvPr id="100030" name="L4"/>
          <p:cNvSpPr txBox="1"/>
          <p:nvPr/>
        </p:nvSpPr>
        <p:spPr>
          <a:xfrm xmlns:a="http://schemas.openxmlformats.org/drawingml/2006/main">
            <a:off x="720000" y="5148000"/>
            <a:ext cx="10440000" cy="64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500" b="0">
                <a:solidFill>
                  <a:srgbClr val="FFFFFF"/>
                </a:solidFill>
              </a:rPr>
              <a:t>FILE OUTPUT — plans/*.md  |  DEMO MODE — Built-in AI (no API key)</a:t>
            </a:r>
          </a:p>
        </p:txBody>
      </p:sp>
    </p:spTree>
  </p:cSld>
  <p:transition xmlns:p="http://schemas.openxmlformats.org/presentationml/2006/main" spd="fast" advClick="0" advTm="10000"/>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1"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IBM Granite LLM — The AI Brain</a:t>
            </a:r>
          </a:p>
        </p:txBody>
      </p:sp>
      <p:sp>
        <p:nvSpPr>
          <p:cNvPr id="100032"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33" name="ModelCard"/>
          <p:cNvSpPr txBox="1"/>
          <p:nvPr/>
        </p:nvSpPr>
        <p:spPr>
          <a:xfrm xmlns:a="http://schemas.openxmlformats.org/drawingml/2006/main">
            <a:off x="540000" y="648000"/>
            <a:ext cx="4320000" cy="3960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700" b="0">
                <a:solidFill>
                  <a:srgbClr val="FFFFFF"/>
                </a:solidFill>
              </a:rPr>
              <a:t>MODEL</a:t>
            </a:r>
          </a:p>
          <a:p xmlns:a="http://schemas.openxmlformats.org/drawingml/2006/main">
            <a:r>
              <a:rPr lang="en-US" sz="1700" b="0">
                <a:solidFill>
                  <a:srgbClr val="FFFFFF"/>
                </a:solidFill>
              </a:rPr>
              <a:t>ibm/granite-13b-instruct-v2</a:t>
            </a:r>
          </a:p>
          <a:p xmlns:a="http://schemas.openxmlformats.org/drawingml/2006/main">
            <a:r>
              <a:rPr lang="en-US" sz="1700" b="0">
                <a:solidFill>
                  <a:srgbClr val="FFFFFF"/>
                </a:solidFill>
              </a:rPr>
              <a:t/>
            </a:r>
          </a:p>
          <a:p xmlns:a="http://schemas.openxmlformats.org/drawingml/2006/main">
            <a:r>
              <a:rPr lang="en-US" sz="1700" b="0">
                <a:solidFill>
                  <a:srgbClr val="FFFFFF"/>
                </a:solidFill>
              </a:rPr>
              <a:t>PLATFORM</a:t>
            </a:r>
          </a:p>
          <a:p xmlns:a="http://schemas.openxmlformats.org/drawingml/2006/main">
            <a:r>
              <a:rPr lang="en-US" sz="1700" b="0">
                <a:solidFill>
                  <a:srgbClr val="FFFFFF"/>
                </a:solidFill>
              </a:rPr>
              <a:t>IBM watsonx.ai</a:t>
            </a:r>
          </a:p>
          <a:p xmlns:a="http://schemas.openxmlformats.org/drawingml/2006/main">
            <a:r>
              <a:rPr lang="en-US" sz="1700" b="0">
                <a:solidFill>
                  <a:srgbClr val="FFFFFF"/>
                </a:solidFill>
              </a:rPr>
              <a:t/>
            </a:r>
          </a:p>
          <a:p xmlns:a="http://schemas.openxmlformats.org/drawingml/2006/main">
            <a:r>
              <a:rPr lang="en-US" sz="1700" b="0">
                <a:solidFill>
                  <a:srgbClr val="FFFFFF"/>
                </a:solidFill>
              </a:rPr>
              <a:t>SIZE</a:t>
            </a:r>
          </a:p>
          <a:p xmlns:a="http://schemas.openxmlformats.org/drawingml/2006/main">
            <a:r>
              <a:rPr lang="en-US" sz="1700" b="0">
                <a:solidFill>
                  <a:srgbClr val="FFFFFF"/>
                </a:solidFill>
              </a:rPr>
              <a:t>13 Billion Parameters</a:t>
            </a:r>
          </a:p>
          <a:p xmlns:a="http://schemas.openxmlformats.org/drawingml/2006/main">
            <a:r>
              <a:rPr lang="en-US" sz="1700" b="0">
                <a:solidFill>
                  <a:srgbClr val="FFFFFF"/>
                </a:solidFill>
              </a:rPr>
              <a:t/>
            </a:r>
          </a:p>
          <a:p xmlns:a="http://schemas.openxmlformats.org/drawingml/2006/main">
            <a:r>
              <a:rPr lang="en-US" sz="1700" b="0">
                <a:solidFill>
                  <a:srgbClr val="FFFFFF"/>
                </a:solidFill>
              </a:rPr>
              <a:t>TYPE</a:t>
            </a:r>
          </a:p>
          <a:p xmlns:a="http://schemas.openxmlformats.org/drawingml/2006/main">
            <a:r>
              <a:rPr lang="en-US" sz="1700" b="0">
                <a:solidFill>
                  <a:srgbClr val="FFFFFF"/>
                </a:solidFill>
              </a:rPr>
              <a:t>Instruction-Tuned LLM</a:t>
            </a:r>
          </a:p>
        </p:txBody>
      </p:sp>
      <p:sp>
        <p:nvSpPr>
          <p:cNvPr id="100034" name="Params"/>
          <p:cNvSpPr txBox="1"/>
          <p:nvPr/>
        </p:nvSpPr>
        <p:spPr>
          <a:xfrm xmlns:a="http://schemas.openxmlformats.org/drawingml/2006/main">
            <a:off x="5220000" y="648000"/>
            <a:ext cx="4320000" cy="252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700" b="0">
                <a:solidFill>
                  <a:srgbClr val="0F3460"/>
                </a:solidFill>
              </a:rPr>
              <a:t>Generation Settings</a:t>
            </a:r>
          </a:p>
          <a:p xmlns:a="http://schemas.openxmlformats.org/drawingml/2006/main">
            <a:r>
              <a:rPr lang="en-US" sz="1700" b="0">
                <a:solidFill>
                  <a:srgbClr val="0F3460"/>
                </a:solidFill>
              </a:rPr>
              <a:t/>
            </a:r>
          </a:p>
          <a:p xmlns:a="http://schemas.openxmlformats.org/drawingml/2006/main">
            <a:r>
              <a:rPr lang="en-US" sz="1700" b="0">
                <a:solidFill>
                  <a:srgbClr val="0F3460"/>
                </a:solidFill>
              </a:rPr>
              <a:t>Max Tokens:  1024</a:t>
            </a:r>
          </a:p>
          <a:p xmlns:a="http://schemas.openxmlformats.org/drawingml/2006/main">
            <a:r>
              <a:rPr lang="en-US" sz="1700" b="0">
                <a:solidFill>
                  <a:srgbClr val="0F3460"/>
                </a:solidFill>
              </a:rPr>
              <a:t>Temperature:  0.7</a:t>
            </a:r>
          </a:p>
          <a:p xmlns:a="http://schemas.openxmlformats.org/drawingml/2006/main">
            <a:r>
              <a:rPr lang="en-US" sz="1700" b="0">
                <a:solidFill>
                  <a:srgbClr val="0F3460"/>
                </a:solidFill>
              </a:rPr>
              <a:t>Top-P:  0.9</a:t>
            </a:r>
          </a:p>
          <a:p xmlns:a="http://schemas.openxmlformats.org/drawingml/2006/main">
            <a:r>
              <a:rPr lang="en-US" sz="1700" b="0">
                <a:solidFill>
                  <a:srgbClr val="0F3460"/>
                </a:solidFill>
              </a:rPr>
              <a:t>Repetition Penalty:  1.1</a:t>
            </a:r>
          </a:p>
        </p:txBody>
      </p:sp>
      <p:sp>
        <p:nvSpPr>
          <p:cNvPr id="100035" name="HAMLabel"/>
          <p:cNvSpPr txBox="1"/>
          <p:nvPr/>
        </p:nvSpPr>
        <p:spPr>
          <a:xfrm xmlns:a="http://schemas.openxmlformats.org/drawingml/2006/main">
            <a:off x="5220000" y="3348000"/>
            <a:ext cx="612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0F3460"/>
                </a:solidFill>
              </a:rPr>
              <a:t>HAM System Prompt  (Helpful · Accountable · Mindful)</a:t>
            </a:r>
          </a:p>
        </p:txBody>
      </p:sp>
      <p:sp>
        <p:nvSpPr>
          <p:cNvPr id="100036" name="HAM"/>
          <p:cNvSpPr txBox="1"/>
          <p:nvPr/>
        </p:nvSpPr>
        <p:spPr>
          <a:xfrm xmlns:a="http://schemas.openxmlformats.org/drawingml/2006/main">
            <a:off x="5220000" y="3708000"/>
            <a:ext cx="6120000" cy="180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400" b="0">
                <a:solidFill>
                  <a:srgbClr val="1A202C"/>
                </a:solidFill>
              </a:rPr>
              <a:t>You are NutriBot — a compassionate AI assistant powered by IBM Granite.</a:t>
            </a:r>
          </a:p>
          <a:p xmlns:a="http://schemas.openxmlformats.org/drawingml/2006/main">
            <a:r>
              <a:rPr lang="en-US" sz="1400" b="0">
                <a:solidFill>
                  <a:srgbClr val="1A202C"/>
                </a:solidFill>
              </a:rPr>
              <a:t>1. Helpful: evidence-based, practical nutrition guidance</a:t>
            </a:r>
          </a:p>
          <a:p xmlns:a="http://schemas.openxmlformats.org/drawingml/2006/main">
            <a:r>
              <a:rPr lang="en-US" sz="1400" b="0">
                <a:solidFill>
                  <a:srgbClr val="1A202C"/>
                </a:solidFill>
              </a:rPr>
              <a:t>2. Accountable: defer all medical decisions to professionals</a:t>
            </a:r>
          </a:p>
          <a:p xmlns:a="http://schemas.openxmlformats.org/drawingml/2006/main">
            <a:r>
              <a:rPr lang="en-US" sz="1400" b="0">
                <a:solidFill>
                  <a:srgbClr val="1A202C"/>
                </a:solidFill>
              </a:rPr>
              <a:t>3. Mindful: respect cultural, religious &amp; personal preferences</a:t>
            </a:r>
          </a:p>
          <a:p xmlns:a="http://schemas.openxmlformats.org/drawingml/2006/main">
            <a:r>
              <a:rPr lang="en-US" sz="1400" b="0">
                <a:solidFill>
                  <a:srgbClr val="1A202C"/>
                </a:solidFill>
              </a:rPr>
              <a:t>4. Safe: never recommend dangerous or extreme practices</a:t>
            </a:r>
          </a:p>
          <a:p xmlns:a="http://schemas.openxmlformats.org/drawingml/2006/main">
            <a:r>
              <a:rPr lang="en-US" sz="1400" b="0">
                <a:solidFill>
                  <a:srgbClr val="1A202C"/>
                </a:solidFill>
              </a:rPr>
              <a:t>5. Inclusive: non-judgmental language for all body types</a:t>
            </a:r>
          </a:p>
        </p:txBody>
      </p:sp>
    </p:spTree>
  </p:cSld>
  <p:transition xmlns:p="http://schemas.openxmlformats.org/presentationml/2006/main" spd="fast" advClick="0" advTm="10000"/>
</p:sld>
</file>

<file path=ppt/slides/slide6.xml><?xml version="1.0" encoding="utf-8"?>
<p:sld xmlns:p="http://schemas.openxmlformats.org/presentationml/2006/main">
  <p:cSld>
    <p:bg>
      <p:bgPr>
        <a:solidFill xmlns:a="http://schemas.openxmlformats.org/drawingml/2006/main">
          <a:srgbClr val="F0F4F8"/>
        </a:solidFill>
      </p:bgPr>
    </p:bg>
    <p:spTree>
      <p:nvGrpSpPr>
        <p:cNvPr id="1" name=""/>
        <p:cNvGrpSpPr/>
        <p:nvPr/>
      </p:nvGrpSpPr>
      <p:grpSpPr/>
      <p:sp>
        <p:nvSpPr>
          <p:cNvPr id="100037"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Web Application — Main UI (Screenshot)</a:t>
            </a:r>
          </a:p>
        </p:txBody>
      </p:sp>
      <p:sp>
        <p:nvSpPr>
          <p:cNvPr id="100038"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39" name="BrowserChrome"/>
          <p:cNvSpPr txBox="1"/>
          <p:nvPr/>
        </p:nvSpPr>
        <p:spPr>
          <a:xfrm xmlns:a="http://schemas.openxmlformats.org/drawingml/2006/main">
            <a:off x="720000" y="648000"/>
            <a:ext cx="10440000" cy="288000"/>
          </a:xfrm>
          <a:prstGeom xmlns:a="http://schemas.openxmlformats.org/drawingml/2006/main" prst="rect">
            <a:avLst/>
          </a:prstGeom>
          <a:solidFill xmlns:a="http://schemas.openxmlformats.org/drawingml/2006/main">
            <a:srgbClr val="E2E8F0"/>
          </a:solidFill>
        </p:spPr>
        <p:txBody>
          <a:bodyPr xmlns:a="http://schemas.openxmlformats.org/drawingml/2006/main"/>
          <a:lstStyle xmlns:a="http://schemas.openxmlformats.org/drawingml/2006/main"/>
          <a:p xmlns:a="http://schemas.openxmlformats.org/drawingml/2006/main">
            <a:r>
              <a:rPr lang="en-US" sz="1300" b="0">
                <a:solidFill>
                  <a:srgbClr val="444444"/>
                </a:solidFill>
              </a:rPr>
              <a:t>  http://localhost:5000</a:t>
            </a:r>
          </a:p>
        </p:txBody>
      </p:sp>
      <p:sp>
        <p:nvSpPr>
          <p:cNvPr id="100040" name="NavBar"/>
          <p:cNvSpPr txBox="1"/>
          <p:nvPr/>
        </p:nvSpPr>
        <p:spPr>
          <a:xfrm xmlns:a="http://schemas.openxmlformats.org/drawingml/2006/main">
            <a:off x="720000" y="936000"/>
            <a:ext cx="10440000" cy="432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400" b="0">
                <a:solidFill>
                  <a:srgbClr val="FFFFFF"/>
                </a:solidFill>
              </a:rPr>
              <a:t>  NutriBot AI                       [Nutrition Plan]  [Ask NutriBot]  [About]               IBM Granite</a:t>
            </a:r>
          </a:p>
        </p:txBody>
      </p:sp>
      <p:sp>
        <p:nvSpPr>
          <p:cNvPr id="100041" name="Hero"/>
          <p:cNvSpPr txBox="1"/>
          <p:nvPr/>
        </p:nvSpPr>
        <p:spPr>
          <a:xfrm xmlns:a="http://schemas.openxmlformats.org/drawingml/2006/main">
            <a:off x="1800000" y="1440000"/>
            <a:ext cx="828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0F3460"/>
                </a:solidFill>
                <a:latin typeface="Calibri"/>
                <a:ea typeface="Calibri"/>
              </a:rPr>
              <a:t>Personalized Nutrition Plan</a:t>
            </a:r>
          </a:p>
          <a:p xmlns:a="http://schemas.openxmlformats.org/drawingml/2006/main">
            <a:r>
              <a:rPr lang="en-US" sz="1800" b="0">
                <a:solidFill>
                  <a:srgbClr val="0F3460"/>
                </a:solidFill>
                <a:latin typeface="Calibri"/>
                <a:ea typeface="Calibri"/>
              </a:rPr>
              <a:t>Fill in your details and let IBM Granite AI craft your 7-day plan.</a:t>
            </a:r>
          </a:p>
        </p:txBody>
      </p:sp>
      <p:sp>
        <p:nvSpPr>
          <p:cNvPr id="100042" name="FormPanel"/>
          <p:cNvSpPr txBox="1"/>
          <p:nvPr/>
        </p:nvSpPr>
        <p:spPr>
          <a:xfrm xmlns:a="http://schemas.openxmlformats.org/drawingml/2006/main">
            <a:off x="720000" y="2196000"/>
            <a:ext cx="4680000" cy="342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300" b="0">
                <a:solidFill>
                  <a:srgbClr val="1A202C"/>
                </a:solidFill>
              </a:rPr>
              <a:t>Your Profile</a:t>
            </a:r>
          </a:p>
          <a:p xmlns:a="http://schemas.openxmlformats.org/drawingml/2006/main">
            <a:r>
              <a:rPr lang="en-US" sz="1300" b="0">
                <a:solidFill>
                  <a:srgbClr val="1A202C"/>
                </a:solidFill>
              </a:rPr>
              <a:t/>
            </a:r>
          </a:p>
          <a:p xmlns:a="http://schemas.openxmlformats.org/drawingml/2006/main">
            <a:r>
              <a:rPr lang="en-US" sz="1300" b="0">
                <a:solidFill>
                  <a:srgbClr val="1A202C"/>
                </a:solidFill>
              </a:rPr>
              <a:t>Full Name:  Priya Patel          Age: 35</a:t>
            </a:r>
          </a:p>
          <a:p xmlns:a="http://schemas.openxmlformats.org/drawingml/2006/main">
            <a:r>
              <a:rPr lang="en-US" sz="1300" b="0">
                <a:solidFill>
                  <a:srgbClr val="1A202C"/>
                </a:solidFill>
              </a:rPr>
              <a:t>City:  Mumbai                       Country: India</a:t>
            </a:r>
          </a:p>
          <a:p xmlns:a="http://schemas.openxmlformats.org/drawingml/2006/main">
            <a:r>
              <a:rPr lang="en-US" sz="1300" b="0">
                <a:solidFill>
                  <a:srgbClr val="1A202C"/>
                </a:solidFill>
              </a:rPr>
              <a:t/>
            </a:r>
          </a:p>
          <a:p xmlns:a="http://schemas.openxmlformats.org/drawingml/2006/main">
            <a:r>
              <a:rPr lang="en-US" sz="1300" b="0">
                <a:solidFill>
                  <a:srgbClr val="1A202C"/>
                </a:solidFill>
              </a:rPr>
              <a:t>Diet:  [x] Vegetarian  [ ] Non-Veg  [ ] Vegan</a:t>
            </a:r>
          </a:p>
          <a:p xmlns:a="http://schemas.openxmlformats.org/drawingml/2006/main">
            <a:r>
              <a:rPr lang="en-US" sz="1300" b="0">
                <a:solidFill>
                  <a:srgbClr val="1A202C"/>
                </a:solidFill>
              </a:rPr>
              <a:t/>
            </a:r>
          </a:p>
          <a:p xmlns:a="http://schemas.openxmlformats.org/drawingml/2006/main">
            <a:r>
              <a:rPr lang="en-US" sz="1300" b="0">
                <a:solidFill>
                  <a:srgbClr val="1A202C"/>
                </a:solidFill>
              </a:rPr>
              <a:t>Medical: [x] Diabetes  [x] Hypertension</a:t>
            </a:r>
          </a:p>
          <a:p xmlns:a="http://schemas.openxmlformats.org/drawingml/2006/main">
            <a:r>
              <a:rPr lang="en-US" sz="1300" b="0">
                <a:solidFill>
                  <a:srgbClr val="1A202C"/>
                </a:solidFill>
              </a:rPr>
              <a:t/>
            </a:r>
          </a:p>
          <a:p xmlns:a="http://schemas.openxmlformats.org/drawingml/2006/main">
            <a:r>
              <a:rPr lang="en-US" sz="1300" b="0">
                <a:solidFill>
                  <a:srgbClr val="1A202C"/>
                </a:solidFill>
              </a:rPr>
              <a:t>Goal: [Diabetes Management]</a:t>
            </a:r>
          </a:p>
          <a:p xmlns:a="http://schemas.openxmlformats.org/drawingml/2006/main">
            <a:r>
              <a:rPr lang="en-US" sz="1300" b="0">
                <a:solidFill>
                  <a:srgbClr val="1A202C"/>
                </a:solidFill>
              </a:rPr>
              <a:t>Activity: [Moderate]</a:t>
            </a:r>
          </a:p>
          <a:p xmlns:a="http://schemas.openxmlformats.org/drawingml/2006/main">
            <a:r>
              <a:rPr lang="en-US" sz="1300" b="0">
                <a:solidFill>
                  <a:srgbClr val="1A202C"/>
                </a:solidFill>
              </a:rPr>
              <a:t/>
            </a:r>
          </a:p>
          <a:p xmlns:a="http://schemas.openxmlformats.org/drawingml/2006/main">
            <a:r>
              <a:rPr lang="en-US" sz="1300" b="0">
                <a:solidFill>
                  <a:srgbClr val="1A202C"/>
                </a:solidFill>
              </a:rPr>
              <a:t>[ Generate My Nutrition Plan ]</a:t>
            </a:r>
          </a:p>
        </p:txBody>
      </p:sp>
      <p:sp>
        <p:nvSpPr>
          <p:cNvPr id="100043" name="ResultPanel"/>
          <p:cNvSpPr txBox="1"/>
          <p:nvPr/>
        </p:nvSpPr>
        <p:spPr>
          <a:xfrm xmlns:a="http://schemas.openxmlformats.org/drawingml/2006/main">
            <a:off x="5580000" y="2196000"/>
            <a:ext cx="5400000" cy="342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400" b="0">
                <a:solidFill>
                  <a:srgbClr val="64748B"/>
                </a:solidFill>
              </a:rPr>
              <a:t>Your Plan Will Appear Here</a:t>
            </a:r>
          </a:p>
          <a:p xmlns:a="http://schemas.openxmlformats.org/drawingml/2006/main">
            <a:r>
              <a:rPr lang="en-US" sz="1400" b="0">
                <a:solidFill>
                  <a:srgbClr val="64748B"/>
                </a:solidFill>
              </a:rPr>
              <a:t/>
            </a:r>
          </a:p>
          <a:p xmlns:a="http://schemas.openxmlformats.org/drawingml/2006/main">
            <a:r>
              <a:rPr lang="en-US" sz="1400" b="0">
                <a:solidFill>
                  <a:srgbClr val="64748B"/>
                </a:solidFill>
              </a:rPr>
              <a:t>v  7-Day Meal Plan</a:t>
            </a:r>
          </a:p>
          <a:p xmlns:a="http://schemas.openxmlformats.org/drawingml/2006/main">
            <a:r>
              <a:rPr lang="en-US" sz="1400" b="0">
                <a:solidFill>
                  <a:srgbClr val="64748B"/>
                </a:solidFill>
              </a:rPr>
              <a:t>v  Calorie Targets</a:t>
            </a:r>
          </a:p>
          <a:p xmlns:a="http://schemas.openxmlformats.org/drawingml/2006/main">
            <a:r>
              <a:rPr lang="en-US" sz="1400" b="0">
                <a:solidFill>
                  <a:srgbClr val="64748B"/>
                </a:solidFill>
              </a:rPr>
              <a:t>v  Medical Guardrails</a:t>
            </a:r>
          </a:p>
          <a:p xmlns:a="http://schemas.openxmlformats.org/drawingml/2006/main">
            <a:r>
              <a:rPr lang="en-US" sz="1400" b="0">
                <a:solidFill>
                  <a:srgbClr val="64748B"/>
                </a:solidFill>
              </a:rPr>
              <a:t>v  Local Food Options</a:t>
            </a:r>
          </a:p>
          <a:p xmlns:a="http://schemas.openxmlformats.org/drawingml/2006/main">
            <a:r>
              <a:rPr lang="en-US" sz="1400" b="0">
                <a:solidFill>
                  <a:srgbClr val="64748B"/>
                </a:solidFill>
              </a:rPr>
              <a:t>v  Hydration Guide</a:t>
            </a:r>
          </a:p>
          <a:p xmlns:a="http://schemas.openxmlformats.org/drawingml/2006/main">
            <a:r>
              <a:rPr lang="en-US" sz="1400" b="0">
                <a:solidFill>
                  <a:srgbClr val="64748B"/>
                </a:solidFill>
              </a:rPr>
              <a:t>v  Nutrition Tips</a:t>
            </a:r>
          </a:p>
          <a:p xmlns:a="http://schemas.openxmlformats.org/drawingml/2006/main">
            <a:r>
              <a:rPr lang="en-US" sz="1400" b="0">
                <a:solidFill>
                  <a:srgbClr val="64748B"/>
                </a:solidFill>
              </a:rPr>
              <a:t>v  Download .md</a:t>
            </a:r>
          </a:p>
        </p:txBody>
      </p:sp>
    </p:spTree>
  </p:cSld>
  <p:transition xmlns:p="http://schemas.openxmlformats.org/presentationml/2006/main" spd="fast" advClick="0" advTm="10000"/>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4"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User Profile Collection — 5-Step Form</a:t>
            </a:r>
          </a:p>
        </p:txBody>
      </p:sp>
      <p:sp>
        <p:nvSpPr>
          <p:cNvPr id="100045"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46" name="S1"/>
          <p:cNvSpPr txBox="1"/>
          <p:nvPr/>
        </p:nvSpPr>
        <p:spPr>
          <a:xfrm xmlns:a="http://schemas.openxmlformats.org/drawingml/2006/main">
            <a:off x="540000" y="648000"/>
            <a:ext cx="5040000" cy="90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700" b="0">
                <a:solidFill>
                  <a:srgbClr val="0F3460"/>
                </a:solidFill>
              </a:rPr>
              <a:t>STEP 1 — Personal Info</a:t>
            </a:r>
          </a:p>
          <a:p xmlns:a="http://schemas.openxmlformats.org/drawingml/2006/main">
            <a:r>
              <a:rPr lang="en-US" sz="1700" b="0">
                <a:solidFill>
                  <a:srgbClr val="0F3460"/>
                </a:solidFill>
              </a:rPr>
              <a:t>Name: Priya Patel   |   Age: 35 years</a:t>
            </a:r>
          </a:p>
        </p:txBody>
      </p:sp>
      <p:sp>
        <p:nvSpPr>
          <p:cNvPr id="100047" name="S2"/>
          <p:cNvSpPr txBox="1"/>
          <p:nvPr/>
        </p:nvSpPr>
        <p:spPr>
          <a:xfrm xmlns:a="http://schemas.openxmlformats.org/drawingml/2006/main">
            <a:off x="6120000" y="648000"/>
            <a:ext cx="5040000" cy="900000"/>
          </a:xfrm>
          <a:prstGeom xmlns:a="http://schemas.openxmlformats.org/drawingml/2006/main" prst="rect">
            <a:avLst/>
          </a:prstGeom>
          <a:solidFill xmlns:a="http://schemas.openxmlformats.org/drawingml/2006/main">
            <a:srgbClr val="E8FFF0"/>
          </a:solidFill>
        </p:spPr>
        <p:txBody>
          <a:bodyPr xmlns:a="http://schemas.openxmlformats.org/drawingml/2006/main"/>
          <a:lstStyle xmlns:a="http://schemas.openxmlformats.org/drawingml/2006/main"/>
          <a:p xmlns:a="http://schemas.openxmlformats.org/drawingml/2006/main">
            <a:r>
              <a:rPr lang="en-US" sz="1700" b="0">
                <a:solidFill>
                  <a:srgbClr val="0A4A1A"/>
                </a:solidFill>
              </a:rPr>
              <a:t>STEP 2 — Location</a:t>
            </a:r>
          </a:p>
          <a:p xmlns:a="http://schemas.openxmlformats.org/drawingml/2006/main">
            <a:r>
              <a:rPr lang="en-US" sz="1700" b="0">
                <a:solidFill>
                  <a:srgbClr val="0A4A1A"/>
                </a:solidFill>
              </a:rPr>
              <a:t>City: Mumbai   |   Country: India</a:t>
            </a:r>
          </a:p>
        </p:txBody>
      </p:sp>
      <p:sp>
        <p:nvSpPr>
          <p:cNvPr id="100048" name="S3"/>
          <p:cNvSpPr txBox="1"/>
          <p:nvPr/>
        </p:nvSpPr>
        <p:spPr>
          <a:xfrm xmlns:a="http://schemas.openxmlformats.org/drawingml/2006/main">
            <a:off x="540000" y="1800000"/>
            <a:ext cx="5040000" cy="90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700" b="0">
                <a:solidFill>
                  <a:srgbClr val="5A3500"/>
                </a:solidFill>
              </a:rPr>
              <a:t>STEP 3 — Diet Preference</a:t>
            </a:r>
          </a:p>
          <a:p xmlns:a="http://schemas.openxmlformats.org/drawingml/2006/main">
            <a:r>
              <a:rPr lang="en-US" sz="1700" b="0">
                <a:solidFill>
                  <a:srgbClr val="5A3500"/>
                </a:solidFill>
              </a:rPr>
              <a:t>[x] Vegetarian   [ ] Non-Veg   [ ] Vegan   [ ] Pescatarian</a:t>
            </a:r>
          </a:p>
        </p:txBody>
      </p:sp>
      <p:sp>
        <p:nvSpPr>
          <p:cNvPr id="100049" name="S4"/>
          <p:cNvSpPr txBox="1"/>
          <p:nvPr/>
        </p:nvSpPr>
        <p:spPr>
          <a:xfrm xmlns:a="http://schemas.openxmlformats.org/drawingml/2006/main">
            <a:off x="6120000" y="1800000"/>
            <a:ext cx="5040000" cy="900000"/>
          </a:xfrm>
          <a:prstGeom xmlns:a="http://schemas.openxmlformats.org/drawingml/2006/main" prst="rect">
            <a:avLst/>
          </a:prstGeom>
          <a:solidFill xmlns:a="http://schemas.openxmlformats.org/drawingml/2006/main">
            <a:srgbClr val="FFE8E8"/>
          </a:solidFill>
        </p:spPr>
        <p:txBody>
          <a:bodyPr xmlns:a="http://schemas.openxmlformats.org/drawingml/2006/main"/>
          <a:lstStyle xmlns:a="http://schemas.openxmlformats.org/drawingml/2006/main"/>
          <a:p xmlns:a="http://schemas.openxmlformats.org/drawingml/2006/main">
            <a:r>
              <a:rPr lang="en-US" sz="1700" b="0">
                <a:solidFill>
                  <a:srgbClr val="5A0A0A"/>
                </a:solidFill>
              </a:rPr>
              <a:t>STEP 4 — Medical History</a:t>
            </a:r>
          </a:p>
          <a:p xmlns:a="http://schemas.openxmlformats.org/drawingml/2006/main">
            <a:r>
              <a:rPr lang="en-US" sz="1700" b="0">
                <a:solidFill>
                  <a:srgbClr val="5A0A0A"/>
                </a:solidFill>
              </a:rPr>
              <a:t>[x] Diabetes   [x] Hypertension   [ ] Heart Disease</a:t>
            </a:r>
          </a:p>
        </p:txBody>
      </p:sp>
      <p:sp>
        <p:nvSpPr>
          <p:cNvPr id="100050" name="S5"/>
          <p:cNvSpPr txBox="1"/>
          <p:nvPr/>
        </p:nvSpPr>
        <p:spPr>
          <a:xfrm xmlns:a="http://schemas.openxmlformats.org/drawingml/2006/main">
            <a:off x="540000" y="2952000"/>
            <a:ext cx="10620000" cy="900000"/>
          </a:xfrm>
          <a:prstGeom xmlns:a="http://schemas.openxmlformats.org/drawingml/2006/main" prst="rect">
            <a:avLst/>
          </a:prstGeom>
          <a:solidFill xmlns:a="http://schemas.openxmlformats.org/drawingml/2006/main">
            <a:srgbClr val="F0E8FF"/>
          </a:solidFill>
        </p:spPr>
        <p:txBody>
          <a:bodyPr xmlns:a="http://schemas.openxmlformats.org/drawingml/2006/main"/>
          <a:lstStyle xmlns:a="http://schemas.openxmlformats.org/drawingml/2006/main"/>
          <a:p xmlns:a="http://schemas.openxmlformats.org/drawingml/2006/main">
            <a:r>
              <a:rPr lang="en-US" sz="1700" b="0">
                <a:solidFill>
                  <a:srgbClr val="3A0A5A"/>
                </a:solidFill>
              </a:rPr>
              <a:t>STEP 5 — Goal &amp; Activity</a:t>
            </a:r>
          </a:p>
          <a:p xmlns:a="http://schemas.openxmlformats.org/drawingml/2006/main">
            <a:r>
              <a:rPr lang="en-US" sz="1700" b="0">
                <a:solidFill>
                  <a:srgbClr val="3A0A5A"/>
                </a:solidFill>
              </a:rPr>
              <a:t>Goal: Diabetes Management   |   Activity: Moderate (3-5 days/week)</a:t>
            </a:r>
          </a:p>
        </p:txBody>
      </p:sp>
      <p:sp>
        <p:nvSpPr>
          <p:cNvPr id="100051" name="Payload"/>
          <p:cNvSpPr txBox="1"/>
          <p:nvPr/>
        </p:nvSpPr>
        <p:spPr>
          <a:xfrm xmlns:a="http://schemas.openxmlformats.org/drawingml/2006/main">
            <a:off x="540000" y="4068000"/>
            <a:ext cx="10620000" cy="1260000"/>
          </a:xfrm>
          <a:prstGeom xmlns:a="http://schemas.openxmlformats.org/drawingml/2006/main" prst="rect">
            <a:avLst/>
          </a:prstGeom>
          <a:solidFill xmlns:a="http://schemas.openxmlformats.org/drawingml/2006/main">
            <a:srgbClr val="1A1A2E"/>
          </a:solidFill>
        </p:spPr>
        <p:txBody>
          <a:bodyPr xmlns:a="http://schemas.openxmlformats.org/drawingml/2006/main"/>
          <a:lstStyle xmlns:a="http://schemas.openxmlformats.org/drawingml/2006/main"/>
          <a:p xmlns:a="http://schemas.openxmlformats.org/drawingml/2006/main">
            <a:r>
              <a:rPr lang="en-US" sz="1400" b="0">
                <a:solidFill>
                  <a:srgbClr val="00FF88"/>
                </a:solidFill>
                <a:latin typeface="Courier New"/>
                <a:ea typeface="Courier New"/>
              </a:rPr>
              <a:t>JSON sent to IBM Granite:</a:t>
            </a:r>
          </a:p>
          <a:p xmlns:a="http://schemas.openxmlformats.org/drawingml/2006/main">
            <a:r>
              <a:rPr lang="en-US" sz="1400" b="0">
                <a:solidFill>
                  <a:srgbClr val="00FF88"/>
                </a:solidFill>
                <a:latin typeface="Courier New"/>
                <a:ea typeface="Courier New"/>
              </a:rPr>
              <a:t>{  "name": "Priya Patel",  "age": "35",  "diet": "Vegetarian",  "city": "Mumbai",  "country": "India",</a:t>
            </a:r>
          </a:p>
          <a:p xmlns:a="http://schemas.openxmlformats.org/drawingml/2006/main">
            <a:r>
              <a:rPr lang="en-US" sz="1400" b="0">
                <a:solidFill>
                  <a:srgbClr val="00FF88"/>
                </a:solidFill>
                <a:latin typeface="Courier New"/>
                <a:ea typeface="Courier New"/>
              </a:rPr>
              <a:t>   "medical_history": "Diabetes, Hypertension",  "goal": "diabetes management",  "activity": "moderate"  }</a:t>
            </a:r>
          </a:p>
        </p:txBody>
      </p:sp>
    </p:spTree>
  </p:cSld>
  <p:transition xmlns:p="http://schemas.openxmlformats.org/presentationml/2006/main" spd="fast" advClick="0" advTm="10000"/>
</p:sld>
</file>

<file path=ppt/slides/slide8.xml><?xml version="1.0" encoding="utf-8"?>
<p:sld xmlns:p="http://schemas.openxmlformats.org/presentationml/2006/main">
  <p:cSld>
    <p:bg>
      <p:bgPr>
        <a:solidFill xmlns:a="http://schemas.openxmlformats.org/drawingml/2006/main">
          <a:srgbClr val="F0F4F8"/>
        </a:solidFill>
      </p:bgPr>
    </p:bg>
    <p:spTree>
      <p:nvGrpSpPr>
        <p:cNvPr id="1" name=""/>
        <p:cNvGrpSpPr/>
        <p:nvPr/>
      </p:nvGrpSpPr>
      <p:grpSpPr/>
      <p:sp>
        <p:nvSpPr>
          <p:cNvPr id="100052"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Generated Plan Output — Live Result Screen</a:t>
            </a:r>
          </a:p>
        </p:txBody>
      </p:sp>
      <p:sp>
        <p:nvSpPr>
          <p:cNvPr id="100053"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54" name="ToolBar"/>
          <p:cNvSpPr txBox="1"/>
          <p:nvPr/>
        </p:nvSpPr>
        <p:spPr>
          <a:xfrm xmlns:a="http://schemas.openxmlformats.org/drawingml/2006/main">
            <a:off x="720000" y="648000"/>
            <a:ext cx="10440000" cy="36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500" b="1">
                <a:solidFill>
                  <a:srgbClr val="0F3460"/>
                </a:solidFill>
              </a:rPr>
              <a:t>Your Nutrition Plan                               [Download .md]   [Copy]   [Print]</a:t>
            </a:r>
          </a:p>
        </p:txBody>
      </p:sp>
      <p:sp>
        <p:nvSpPr>
          <p:cNvPr id="100055" name="ModelBadge"/>
          <p:cNvSpPr txBox="1"/>
          <p:nvPr/>
        </p:nvSpPr>
        <p:spPr>
          <a:xfrm xmlns:a="http://schemas.openxmlformats.org/drawingml/2006/main">
            <a:off x="720000" y="1080000"/>
            <a:ext cx="7920000" cy="288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300" b="0">
                <a:solidFill>
                  <a:srgbClr val="0F62FE"/>
                </a:solidFill>
              </a:rPr>
              <a:t> Generated by ibm/granite-13b-instruct-v2  (IBM Granite LLM)</a:t>
            </a:r>
          </a:p>
        </p:txBody>
      </p:sp>
      <p:sp>
        <p:nvSpPr>
          <p:cNvPr id="100056" name="PlanHead"/>
          <p:cNvSpPr txBox="1"/>
          <p:nvPr/>
        </p:nvSpPr>
        <p:spPr>
          <a:xfrm xmlns:a="http://schemas.openxmlformats.org/drawingml/2006/main">
            <a:off x="720000" y="1440000"/>
            <a:ext cx="10440000" cy="82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400" b="0">
                <a:solidFill>
                  <a:srgbClr val="0F3460"/>
                </a:solidFill>
              </a:rPr>
              <a:t>Personalized 7-Day Nutrition Plan</a:t>
            </a:r>
          </a:p>
          <a:p xmlns:a="http://schemas.openxmlformats.org/drawingml/2006/main">
            <a:r>
              <a:rPr lang="en-US" sz="1400" b="0">
                <a:solidFill>
                  <a:srgbClr val="0F3460"/>
                </a:solidFill>
              </a:rPr>
              <a:t>Prepared for: Priya Patel  |  Age: 35  |  Vegetarian  |  Goal: Diabetes Management</a:t>
            </a:r>
          </a:p>
          <a:p xmlns:a="http://schemas.openxmlformats.org/drawingml/2006/main">
            <a:r>
              <a:rPr lang="en-US" sz="1400" b="0">
                <a:solidFill>
                  <a:srgbClr val="0F3460"/>
                </a:solidFill>
              </a:rPr>
              <a:t>Mumbai, India  |  Medical: Diabetes, Hypertension</a:t>
            </a:r>
          </a:p>
        </p:txBody>
      </p:sp>
      <p:sp>
        <p:nvSpPr>
          <p:cNvPr id="100057" name="MacroRow"/>
          <p:cNvSpPr txBox="1"/>
          <p:nvPr/>
        </p:nvSpPr>
        <p:spPr>
          <a:xfrm xmlns:a="http://schemas.openxmlformats.org/drawingml/2006/main">
            <a:off x="720000" y="2376000"/>
            <a:ext cx="10440000" cy="36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300" b="1">
                <a:solidFill>
                  <a:srgbClr val="0F3460"/>
                </a:solidFill>
              </a:rPr>
              <a:t>Calories: 1600-1800 kcal   |   Protein: 60-80g   |   Carbs: 150-180g (low-GI)   |   Fats: 45-65g   |   Fiber: 25-35g</a:t>
            </a:r>
          </a:p>
        </p:txBody>
      </p:sp>
      <p:sp>
        <p:nvSpPr>
          <p:cNvPr id="100058" name="Day1"/>
          <p:cNvSpPr txBox="1"/>
          <p:nvPr/>
        </p:nvSpPr>
        <p:spPr>
          <a:xfrm xmlns:a="http://schemas.openxmlformats.org/drawingml/2006/main">
            <a:off x="720000" y="2844000"/>
            <a:ext cx="10440000" cy="162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300" b="0">
                <a:solidFill>
                  <a:srgbClr val="222222"/>
                </a:solidFill>
              </a:rPr>
              <a:t>Day 1 — Foundation Day</a:t>
            </a:r>
          </a:p>
          <a:p xmlns:a="http://schemas.openxmlformats.org/drawingml/2006/main">
            <a:r>
              <a:rPr lang="en-US" sz="1300" b="0">
                <a:solidFill>
                  <a:srgbClr val="222222"/>
                </a:solidFill>
              </a:rPr>
              <a:t>Breakfast (7-8 AM):  Oatmeal + chia seeds + berries + nuts  (~350 kcal)</a:t>
            </a:r>
          </a:p>
          <a:p xmlns:a="http://schemas.openxmlformats.org/drawingml/2006/main">
            <a:r>
              <a:rPr lang="en-US" sz="1300" b="0">
                <a:solidFill>
                  <a:srgbClr val="222222"/>
                </a:solidFill>
              </a:rPr>
              <a:t>Mid-Morning:  1 apple + 10 almonds  (~150 kcal)</a:t>
            </a:r>
          </a:p>
          <a:p xmlns:a="http://schemas.openxmlformats.org/drawingml/2006/main">
            <a:r>
              <a:rPr lang="en-US" sz="1300" b="0">
                <a:solidFill>
                  <a:srgbClr val="222222"/>
                </a:solidFill>
              </a:rPr>
              <a:t>Lunch (1 PM):  Brown rice + lentil curry + mixed vegetable salad  (~550 kcal)</a:t>
            </a:r>
          </a:p>
          <a:p xmlns:a="http://schemas.openxmlformats.org/drawingml/2006/main">
            <a:r>
              <a:rPr lang="en-US" sz="1300" b="0">
                <a:solidFill>
                  <a:srgbClr val="222222"/>
                </a:solidFill>
              </a:rPr>
              <a:t>Evening Snack:  Green tea + roasted chickpeas  (~120 kcal)</a:t>
            </a:r>
          </a:p>
          <a:p xmlns:a="http://schemas.openxmlformats.org/drawingml/2006/main">
            <a:r>
              <a:rPr lang="en-US" sz="1300" b="0">
                <a:solidFill>
                  <a:srgbClr val="222222"/>
                </a:solidFill>
              </a:rPr>
              <a:t>Dinner (7-8 PM):  Vegetable soup + whole wheat roti + dal  (~450 kcal)</a:t>
            </a:r>
          </a:p>
        </p:txBody>
      </p:sp>
      <p:sp>
        <p:nvSpPr>
          <p:cNvPr id="100059" name="SaveBar"/>
          <p:cNvSpPr txBox="1"/>
          <p:nvPr/>
        </p:nvSpPr>
        <p:spPr>
          <a:xfrm xmlns:a="http://schemas.openxmlformats.org/drawingml/2006/main">
            <a:off x="720000" y="4572000"/>
            <a:ext cx="10440000" cy="32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1200" b="0">
                <a:solidFill>
                  <a:srgbClr val="AADDFF"/>
                </a:solidFill>
              </a:rPr>
              <a:t>Plan saved  nutrition_plan_Priya_Patel_20250115.md   |   Click [Download .md] to save</a:t>
            </a:r>
          </a:p>
        </p:txBody>
      </p:sp>
    </p:spTree>
  </p:cSld>
  <p:transition xmlns:p="http://schemas.openxmlformats.org/presentationml/2006/main" spd="fast" advClick="0" advTm="10000"/>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0"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7-Day Meal Plan — Days 1 to 4 (from .md output)</a:t>
            </a:r>
          </a:p>
        </p:txBody>
      </p:sp>
      <p:sp>
        <p:nvSpPr>
          <p:cNvPr id="100061"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Source: plans/sample_nutrition_plan_Priya_Patel.md  |  github.com/jigarnakarani/Nutrition-Agentic-AI-</a:t>
            </a:r>
          </a:p>
        </p:txBody>
      </p:sp>
      <p:sp>
        <p:nvSpPr>
          <p:cNvPr id="100062" name="D1"/>
          <p:cNvSpPr txBox="1"/>
          <p:nvPr/>
        </p:nvSpPr>
        <p:spPr>
          <a:xfrm xmlns:a="http://schemas.openxmlformats.org/drawingml/2006/main">
            <a:off x="360000" y="648000"/>
            <a:ext cx="5400000" cy="162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0">
                <a:solidFill>
                  <a:srgbClr val="0F3460"/>
                </a:solidFill>
              </a:rPr>
              <a:t>Day 1 — Foundation Day</a:t>
            </a:r>
          </a:p>
          <a:p xmlns:a="http://schemas.openxmlformats.org/drawingml/2006/main">
            <a:r>
              <a:rPr lang="en-US" sz="1400" b="0">
                <a:solidFill>
                  <a:srgbClr val="0F3460"/>
                </a:solidFill>
              </a:rPr>
              <a:t>Breakfast: Oatmeal + chia + berries + nuts  350 kcal</a:t>
            </a:r>
          </a:p>
          <a:p xmlns:a="http://schemas.openxmlformats.org/drawingml/2006/main">
            <a:r>
              <a:rPr lang="en-US" sz="1400" b="0">
                <a:solidFill>
                  <a:srgbClr val="0F3460"/>
                </a:solidFill>
              </a:rPr>
              <a:t>Lunch: Brown rice + lentil curry + salad  550 kcal</a:t>
            </a:r>
          </a:p>
          <a:p xmlns:a="http://schemas.openxmlformats.org/drawingml/2006/main">
            <a:r>
              <a:rPr lang="en-US" sz="1400" b="0">
                <a:solidFill>
                  <a:srgbClr val="0F3460"/>
                </a:solidFill>
              </a:rPr>
              <a:t>Dinner: Veg soup + whole wheat roti + dal  450 kcal</a:t>
            </a:r>
          </a:p>
          <a:p xmlns:a="http://schemas.openxmlformats.org/drawingml/2006/main">
            <a:r>
              <a:rPr lang="en-US" sz="1400" b="0">
                <a:solidFill>
                  <a:srgbClr val="0F3460"/>
                </a:solidFill>
              </a:rPr>
              <a:t>Total: ~1620 kcal</a:t>
            </a:r>
          </a:p>
        </p:txBody>
      </p:sp>
      <p:sp>
        <p:nvSpPr>
          <p:cNvPr id="100063" name="D2"/>
          <p:cNvSpPr txBox="1"/>
          <p:nvPr/>
        </p:nvSpPr>
        <p:spPr>
          <a:xfrm xmlns:a="http://schemas.openxmlformats.org/drawingml/2006/main">
            <a:off x="6300000" y="648000"/>
            <a:ext cx="5400000" cy="1620000"/>
          </a:xfrm>
          <a:prstGeom xmlns:a="http://schemas.openxmlformats.org/drawingml/2006/main" prst="rect">
            <a:avLst/>
          </a:prstGeom>
          <a:solidFill xmlns:a="http://schemas.openxmlformats.org/drawingml/2006/main">
            <a:srgbClr val="E8FFF0"/>
          </a:solidFill>
        </p:spPr>
        <p:txBody>
          <a:bodyPr xmlns:a="http://schemas.openxmlformats.org/drawingml/2006/main"/>
          <a:lstStyle xmlns:a="http://schemas.openxmlformats.org/drawingml/2006/main"/>
          <a:p xmlns:a="http://schemas.openxmlformats.org/drawingml/2006/main">
            <a:r>
              <a:rPr lang="en-US" sz="1400" b="0">
                <a:solidFill>
                  <a:srgbClr val="0A4A1A"/>
                </a:solidFill>
              </a:rPr>
              <a:t>Day 2 — Protein Focus</a:t>
            </a:r>
          </a:p>
          <a:p xmlns:a="http://schemas.openxmlformats.org/drawingml/2006/main">
            <a:r>
              <a:rPr lang="en-US" sz="1400" b="0">
                <a:solidFill>
                  <a:srgbClr val="0A4A1A"/>
                </a:solidFill>
              </a:rPr>
              <a:t>Breakfast: Greek yogurt parfait + granola  380 kcal</a:t>
            </a:r>
          </a:p>
          <a:p xmlns:a="http://schemas.openxmlformats.org/drawingml/2006/main">
            <a:r>
              <a:rPr lang="en-US" sz="1400" b="0">
                <a:solidFill>
                  <a:srgbClr val="0A4A1A"/>
                </a:solidFill>
              </a:rPr>
              <a:t>Lunch: Quinoa bowl + roasted veg + paneer  560 kcal</a:t>
            </a:r>
          </a:p>
          <a:p xmlns:a="http://schemas.openxmlformats.org/drawingml/2006/main">
            <a:r>
              <a:rPr lang="en-US" sz="1400" b="0">
                <a:solidFill>
                  <a:srgbClr val="0A4A1A"/>
                </a:solidFill>
              </a:rPr>
              <a:t>Dinner: Stir-fried veg + paneer + brown rice  480 kcal</a:t>
            </a:r>
          </a:p>
          <a:p xmlns:a="http://schemas.openxmlformats.org/drawingml/2006/main">
            <a:r>
              <a:rPr lang="en-US" sz="1400" b="0">
                <a:solidFill>
                  <a:srgbClr val="0A4A1A"/>
                </a:solidFill>
              </a:rPr>
              <a:t>Total: ~1750 kcal</a:t>
            </a:r>
          </a:p>
        </p:txBody>
      </p:sp>
      <p:sp>
        <p:nvSpPr>
          <p:cNvPr id="100064" name="D3"/>
          <p:cNvSpPr txBox="1"/>
          <p:nvPr/>
        </p:nvSpPr>
        <p:spPr>
          <a:xfrm xmlns:a="http://schemas.openxmlformats.org/drawingml/2006/main">
            <a:off x="360000" y="2556000"/>
            <a:ext cx="5400000" cy="162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400" b="0">
                <a:solidFill>
                  <a:srgbClr val="5A3500"/>
                </a:solidFill>
              </a:rPr>
              <a:t>Day 3 — Fiber Rich Day</a:t>
            </a:r>
          </a:p>
          <a:p xmlns:a="http://schemas.openxmlformats.org/drawingml/2006/main">
            <a:r>
              <a:rPr lang="en-US" sz="1400" b="0">
                <a:solidFill>
                  <a:srgbClr val="5A3500"/>
                </a:solidFill>
              </a:rPr>
              <a:t>Breakfast: Whole grain toast + avocado + sprouts  370 kcal</a:t>
            </a:r>
          </a:p>
          <a:p xmlns:a="http://schemas.openxmlformats.org/drawingml/2006/main">
            <a:r>
              <a:rPr lang="en-US" sz="1400" b="0">
                <a:solidFill>
                  <a:srgbClr val="5A3500"/>
                </a:solidFill>
              </a:rPr>
              <a:t>Lunch: Rajma curry + brown rice + raita  580 kcal</a:t>
            </a:r>
          </a:p>
          <a:p xmlns:a="http://schemas.openxmlformats.org/drawingml/2006/main">
            <a:r>
              <a:rPr lang="en-US" sz="1400" b="0">
                <a:solidFill>
                  <a:srgbClr val="5A3500"/>
                </a:solidFill>
              </a:rPr>
              <a:t>Dinner: Grilled veg + multigrain roti + soup  440 kcal</a:t>
            </a:r>
          </a:p>
          <a:p xmlns:a="http://schemas.openxmlformats.org/drawingml/2006/main">
            <a:r>
              <a:rPr lang="en-US" sz="1400" b="0">
                <a:solidFill>
                  <a:srgbClr val="5A3500"/>
                </a:solidFill>
              </a:rPr>
              <a:t>Total: ~1690 kcal</a:t>
            </a:r>
          </a:p>
        </p:txBody>
      </p:sp>
      <p:sp>
        <p:nvSpPr>
          <p:cNvPr id="100065" name="D4"/>
          <p:cNvSpPr txBox="1"/>
          <p:nvPr/>
        </p:nvSpPr>
        <p:spPr>
          <a:xfrm xmlns:a="http://schemas.openxmlformats.org/drawingml/2006/main">
            <a:off x="6300000" y="2556000"/>
            <a:ext cx="5400000" cy="1620000"/>
          </a:xfrm>
          <a:prstGeom xmlns:a="http://schemas.openxmlformats.org/drawingml/2006/main" prst="rect">
            <a:avLst/>
          </a:prstGeom>
          <a:solidFill xmlns:a="http://schemas.openxmlformats.org/drawingml/2006/main">
            <a:srgbClr val="FFE8FF"/>
          </a:solidFill>
        </p:spPr>
        <p:txBody>
          <a:bodyPr xmlns:a="http://schemas.openxmlformats.org/drawingml/2006/main"/>
          <a:lstStyle xmlns:a="http://schemas.openxmlformats.org/drawingml/2006/main"/>
          <a:p xmlns:a="http://schemas.openxmlformats.org/drawingml/2006/main">
            <a:r>
              <a:rPr lang="en-US" sz="1400" b="0">
                <a:solidFill>
                  <a:srgbClr val="4A0A5A"/>
                </a:solidFill>
              </a:rPr>
              <a:t>Day 4 — Anti-Inflammatory</a:t>
            </a:r>
          </a:p>
          <a:p xmlns:a="http://schemas.openxmlformats.org/drawingml/2006/main">
            <a:r>
              <a:rPr lang="en-US" sz="1400" b="0">
                <a:solidFill>
                  <a:srgbClr val="4A0A5A"/>
                </a:solidFill>
              </a:rPr>
              <a:t>Breakfast: Turmeric oatmeal + flaxseeds  340 kcal</a:t>
            </a:r>
          </a:p>
          <a:p xmlns:a="http://schemas.openxmlformats.org/drawingml/2006/main">
            <a:r>
              <a:rPr lang="en-US" sz="1400" b="0">
                <a:solidFill>
                  <a:srgbClr val="4A0A5A"/>
                </a:solidFill>
              </a:rPr>
              <a:t>Lunch: Moong dal khichdi + steamed greens  520 kcal</a:t>
            </a:r>
          </a:p>
          <a:p xmlns:a="http://schemas.openxmlformats.org/drawingml/2006/main">
            <a:r>
              <a:rPr lang="en-US" sz="1400" b="0">
                <a:solidFill>
                  <a:srgbClr val="4A0A5A"/>
                </a:solidFill>
              </a:rPr>
              <a:t>Dinner: Palak soup + roti + mixed dal  430 kcal</a:t>
            </a:r>
          </a:p>
          <a:p xmlns:a="http://schemas.openxmlformats.org/drawingml/2006/main">
            <a:r>
              <a:rPr lang="en-US" sz="1400" b="0">
                <a:solidFill>
                  <a:srgbClr val="4A0A5A"/>
                </a:solidFill>
              </a:rPr>
              <a:t>Total: ~1570 kcal</a:t>
            </a:r>
          </a:p>
        </p:txBody>
      </p:sp>
      <p:sp>
        <p:nvSpPr>
          <p:cNvPr id="100066" name="MacroNote"/>
          <p:cNvSpPr txBox="1"/>
          <p:nvPr/>
        </p:nvSpPr>
        <p:spPr>
          <a:xfrm xmlns:a="http://schemas.openxmlformats.org/drawingml/2006/main">
            <a:off x="360000" y="4464000"/>
            <a:ext cx="11340000" cy="36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1">
                <a:solidFill>
                  <a:srgbClr val="0F3460"/>
                </a:solidFill>
              </a:rPr>
              <a:t>All days target: 1600-1800 kcal  |  Protein 60-80g  |  Carbs 150-180g (low-GI for diabetes)  |  Fiber 25-35g</a:t>
            </a:r>
          </a:p>
        </p:txBody>
      </p:sp>
    </p:spTree>
  </p:cSld>
  <p:transition xmlns:p="http://schemas.openxmlformats.org/presentationml/2006/main" spd="fast" advClick="0" advTm="10000"/>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7"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7-Day Meal Plan — Days 5, 6 &amp; 7 (from .md output)</a:t>
            </a:r>
          </a:p>
        </p:txBody>
      </p:sp>
      <p:sp>
        <p:nvSpPr>
          <p:cNvPr id="100068"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Source: plans/sample_nutrition_plan_Priya_Patel.md  |  github.com/jigarnakarani/Nutrition-Agentic-AI-</a:t>
            </a:r>
          </a:p>
        </p:txBody>
      </p:sp>
      <p:sp>
        <p:nvSpPr>
          <p:cNvPr id="100069" name="D5"/>
          <p:cNvSpPr txBox="1"/>
          <p:nvPr/>
        </p:nvSpPr>
        <p:spPr>
          <a:xfrm xmlns:a="http://schemas.openxmlformats.org/drawingml/2006/main">
            <a:off x="360000" y="648000"/>
            <a:ext cx="11160000" cy="1440000"/>
          </a:xfrm>
          <a:prstGeom xmlns:a="http://schemas.openxmlformats.org/drawingml/2006/main" prst="rect">
            <a:avLst/>
          </a:prstGeom>
          <a:solidFill xmlns:a="http://schemas.openxmlformats.org/drawingml/2006/main">
            <a:srgbClr val="E8FFFF"/>
          </a:solidFill>
        </p:spPr>
        <p:txBody>
          <a:bodyPr xmlns:a="http://schemas.openxmlformats.org/drawingml/2006/main"/>
          <a:lstStyle xmlns:a="http://schemas.openxmlformats.org/drawingml/2006/main"/>
          <a:p xmlns:a="http://schemas.openxmlformats.org/drawingml/2006/main">
            <a:r>
              <a:rPr lang="en-US" sz="1400" b="0">
                <a:solidFill>
                  <a:srgbClr val="0A4A4A"/>
                </a:solidFill>
              </a:rPr>
              <a:t>Day 5 — Heart Health Day</a:t>
            </a:r>
          </a:p>
          <a:p xmlns:a="http://schemas.openxmlformats.org/drawingml/2006/main">
            <a:r>
              <a:rPr lang="en-US" sz="1400" b="0">
                <a:solidFill>
                  <a:srgbClr val="0A4A4A"/>
                </a:solidFill>
              </a:rPr>
              <a:t>Breakfast: Banana oat pancakes (no refined flour)  360 kcal</a:t>
            </a:r>
          </a:p>
          <a:p xmlns:a="http://schemas.openxmlformats.org/drawingml/2006/main">
            <a:r>
              <a:rPr lang="en-US" sz="1400" b="0">
                <a:solidFill>
                  <a:srgbClr val="0A4A4A"/>
                </a:solidFill>
              </a:rPr>
              <a:t>Mid-Morning: Fresh coconut water  60 kcal</a:t>
            </a:r>
          </a:p>
          <a:p xmlns:a="http://schemas.openxmlformats.org/drawingml/2006/main">
            <a:r>
              <a:rPr lang="en-US" sz="1400" b="0">
                <a:solidFill>
                  <a:srgbClr val="0A4A4A"/>
                </a:solidFill>
              </a:rPr>
              <a:t>Lunch: Chickpea salad bowl + whole grain bread  540 kcal</a:t>
            </a:r>
          </a:p>
          <a:p xmlns:a="http://schemas.openxmlformats.org/drawingml/2006/main">
            <a:r>
              <a:rPr lang="en-US" sz="1400" b="0">
                <a:solidFill>
                  <a:srgbClr val="0A4A4A"/>
                </a:solidFill>
              </a:rPr>
              <a:t>Evening: Roasted makhana (fox nuts)  110 kcal</a:t>
            </a:r>
          </a:p>
          <a:p xmlns:a="http://schemas.openxmlformats.org/drawingml/2006/main">
            <a:r>
              <a:rPr lang="en-US" sz="1400" b="0">
                <a:solidFill>
                  <a:srgbClr val="0A4A4A"/>
                </a:solidFill>
              </a:rPr>
              <a:t>Dinner: Vegetable stew + brown rice + cucumber salad  460 kcal</a:t>
            </a:r>
          </a:p>
          <a:p xmlns:a="http://schemas.openxmlformats.org/drawingml/2006/main">
            <a:r>
              <a:rPr lang="en-US" sz="1400" b="0">
                <a:solidFill>
                  <a:srgbClr val="0A4A4A"/>
                </a:solidFill>
              </a:rPr>
              <a:t>Total: ~1530 kcal</a:t>
            </a:r>
          </a:p>
        </p:txBody>
      </p:sp>
      <p:sp>
        <p:nvSpPr>
          <p:cNvPr id="100070" name="D6"/>
          <p:cNvSpPr txBox="1"/>
          <p:nvPr/>
        </p:nvSpPr>
        <p:spPr>
          <a:xfrm xmlns:a="http://schemas.openxmlformats.org/drawingml/2006/main">
            <a:off x="360000" y="2268000"/>
            <a:ext cx="11160000" cy="1440000"/>
          </a:xfrm>
          <a:prstGeom xmlns:a="http://schemas.openxmlformats.org/drawingml/2006/main" prst="rect">
            <a:avLst/>
          </a:prstGeom>
          <a:solidFill xmlns:a="http://schemas.openxmlformats.org/drawingml/2006/main">
            <a:srgbClr val="F8E8FF"/>
          </a:solidFill>
        </p:spPr>
        <p:txBody>
          <a:bodyPr xmlns:a="http://schemas.openxmlformats.org/drawingml/2006/main"/>
          <a:lstStyle xmlns:a="http://schemas.openxmlformats.org/drawingml/2006/main"/>
          <a:p xmlns:a="http://schemas.openxmlformats.org/drawingml/2006/main">
            <a:r>
              <a:rPr lang="en-US" sz="1400" b="0">
                <a:solidFill>
                  <a:srgbClr val="3A0A5A"/>
                </a:solidFill>
              </a:rPr>
              <a:t>Day 6 — Detox Day</a:t>
            </a:r>
          </a:p>
          <a:p xmlns:a="http://schemas.openxmlformats.org/drawingml/2006/main">
            <a:r>
              <a:rPr lang="en-US" sz="1400" b="0">
                <a:solidFill>
                  <a:srgbClr val="3A0A5A"/>
                </a:solidFill>
              </a:rPr>
              <a:t>Breakfast: Green smoothie (spinach, banana, ginger, lemon)  280 kcal</a:t>
            </a:r>
          </a:p>
          <a:p xmlns:a="http://schemas.openxmlformats.org/drawingml/2006/main">
            <a:r>
              <a:rPr lang="en-US" sz="1400" b="0">
                <a:solidFill>
                  <a:srgbClr val="3A0A5A"/>
                </a:solidFill>
              </a:rPr>
              <a:t>Mid-Morning: Herbal tea + soaked almonds  130 kcal</a:t>
            </a:r>
          </a:p>
          <a:p xmlns:a="http://schemas.openxmlformats.org/drawingml/2006/main">
            <a:r>
              <a:rPr lang="en-US" sz="1400" b="0">
                <a:solidFill>
                  <a:srgbClr val="3A0A5A"/>
                </a:solidFill>
              </a:rPr>
              <a:t>Lunch: Whole wheat pasta + tomato sauce + tofu  520 kcal</a:t>
            </a:r>
          </a:p>
          <a:p xmlns:a="http://schemas.openxmlformats.org/drawingml/2006/main">
            <a:r>
              <a:rPr lang="en-US" sz="1400" b="0">
                <a:solidFill>
                  <a:srgbClr val="3A0A5A"/>
                </a:solidFill>
              </a:rPr>
              <a:t>Evening: Watermelon / papaya slices  80 kcal</a:t>
            </a:r>
          </a:p>
          <a:p xmlns:a="http://schemas.openxmlformats.org/drawingml/2006/main">
            <a:r>
              <a:rPr lang="en-US" sz="1400" b="0">
                <a:solidFill>
                  <a:srgbClr val="3A0A5A"/>
                </a:solidFill>
              </a:rPr>
              <a:t>Dinner: Clear veg soup + 2 whole wheat rotis + curd  400 kcal</a:t>
            </a:r>
          </a:p>
          <a:p xmlns:a="http://schemas.openxmlformats.org/drawingml/2006/main">
            <a:r>
              <a:rPr lang="en-US" sz="1400" b="0">
                <a:solidFill>
                  <a:srgbClr val="3A0A5A"/>
                </a:solidFill>
              </a:rPr>
              <a:t>Total: ~1410 kcal</a:t>
            </a:r>
          </a:p>
        </p:txBody>
      </p:sp>
      <p:sp>
        <p:nvSpPr>
          <p:cNvPr id="100071" name="D7"/>
          <p:cNvSpPr txBox="1"/>
          <p:nvPr/>
        </p:nvSpPr>
        <p:spPr>
          <a:xfrm xmlns:a="http://schemas.openxmlformats.org/drawingml/2006/main">
            <a:off x="360000" y="3888000"/>
            <a:ext cx="11160000" cy="1440000"/>
          </a:xfrm>
          <a:prstGeom xmlns:a="http://schemas.openxmlformats.org/drawingml/2006/main" prst="rect">
            <a:avLst/>
          </a:prstGeom>
          <a:solidFill xmlns:a="http://schemas.openxmlformats.org/drawingml/2006/main">
            <a:srgbClr val="E8FFF0"/>
          </a:solidFill>
        </p:spPr>
        <p:txBody>
          <a:bodyPr xmlns:a="http://schemas.openxmlformats.org/drawingml/2006/main"/>
          <a:lstStyle xmlns:a="http://schemas.openxmlformats.org/drawingml/2006/main"/>
          <a:p xmlns:a="http://schemas.openxmlformats.org/drawingml/2006/main">
            <a:r>
              <a:rPr lang="en-US" sz="1400" b="0">
                <a:solidFill>
                  <a:srgbClr val="0A4A1A"/>
                </a:solidFill>
              </a:rPr>
              <a:t>Day 7 — Rest &amp; Restore Day</a:t>
            </a:r>
          </a:p>
          <a:p xmlns:a="http://schemas.openxmlformats.org/drawingml/2006/main">
            <a:r>
              <a:rPr lang="en-US" sz="1400" b="0">
                <a:solidFill>
                  <a:srgbClr val="0A4A1A"/>
                </a:solidFill>
              </a:rPr>
              <a:t>Breakfast: Upma with vegetables + low-fat milk  350 kcal</a:t>
            </a:r>
          </a:p>
          <a:p xmlns:a="http://schemas.openxmlformats.org/drawingml/2006/main">
            <a:r>
              <a:rPr lang="en-US" sz="1400" b="0">
                <a:solidFill>
                  <a:srgbClr val="0A4A1A"/>
                </a:solidFill>
              </a:rPr>
              <a:t>Mid-Morning: Orange or seasonal citrus fruit  90 kcal</a:t>
            </a:r>
          </a:p>
          <a:p xmlns:a="http://schemas.openxmlformats.org/drawingml/2006/main">
            <a:r>
              <a:rPr lang="en-US" sz="1400" b="0">
                <a:solidFill>
                  <a:srgbClr val="0A4A1A"/>
                </a:solidFill>
              </a:rPr>
              <a:t>Lunch: Chole (chickpea curry) + brown rice + green salad  570 kcal</a:t>
            </a:r>
          </a:p>
          <a:p xmlns:a="http://schemas.openxmlformats.org/drawingml/2006/main">
            <a:r>
              <a:rPr lang="en-US" sz="1400" b="0">
                <a:solidFill>
                  <a:srgbClr val="0A4A1A"/>
                </a:solidFill>
              </a:rPr>
              <a:t>Evening: Sprouts chaat  150 kcal</a:t>
            </a:r>
          </a:p>
          <a:p xmlns:a="http://schemas.openxmlformats.org/drawingml/2006/main">
            <a:r>
              <a:rPr lang="en-US" sz="1400" b="0">
                <a:solidFill>
                  <a:srgbClr val="0A4A1A"/>
                </a:solidFill>
              </a:rPr>
              <a:t>Dinner: Khichdi with vegetables + ghee (1 tsp) + papad  450 kcal</a:t>
            </a:r>
          </a:p>
          <a:p xmlns:a="http://schemas.openxmlformats.org/drawingml/2006/main">
            <a:r>
              <a:rPr lang="en-US" sz="1400" b="0">
                <a:solidFill>
                  <a:srgbClr val="0A4A1A"/>
                </a:solidFill>
              </a:rPr>
              <a:t>Total: ~1610 kcal</a:t>
            </a:r>
          </a:p>
        </p:txBody>
      </p:sp>
    </p:spTree>
  </p:cSld>
  <p:transition xmlns:p="http://schemas.openxmlformats.org/presentationml/2006/main" spd="fast" advClick="0" advTm="10000"/>
</p:sld>
</file>

<file path=ppt/slides/slide11.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72"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2200" b="1">
                <a:solidFill>
                  <a:srgbClr val="FFFFFF"/>
                </a:solidFill>
              </a:rPr>
              <a:t>Macros, Nutrition Tips &amp; Foods to Avoid</a:t>
            </a:r>
          </a:p>
        </p:txBody>
      </p:sp>
      <p:sp>
        <p:nvSpPr>
          <p:cNvPr id="100073"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Source: plans/sample_nutrition_plan_Priya_Patel.md  |  github.com/jigarnakarani/Nutrition-Agentic-AI-</a:t>
            </a:r>
          </a:p>
        </p:txBody>
      </p:sp>
      <p:sp>
        <p:nvSpPr>
          <p:cNvPr id="100074" name="MC"/>
          <p:cNvSpPr txBox="1"/>
          <p:nvPr/>
        </p:nvSpPr>
        <p:spPr>
          <a:xfrm xmlns:a="http://schemas.openxmlformats.org/drawingml/2006/main">
            <a:off x="360000" y="648000"/>
            <a:ext cx="2628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700" b="1">
                <a:solidFill>
                  <a:srgbClr val="FFFFFF"/>
                </a:solidFill>
              </a:rPr>
              <a:t>CALORIES</a:t>
            </a:r>
          </a:p>
          <a:p xmlns:a="http://schemas.openxmlformats.org/drawingml/2006/main">
            <a:r>
              <a:rPr lang="en-US" sz="1700" b="1">
                <a:solidFill>
                  <a:srgbClr val="FFFFFF"/>
                </a:solidFill>
              </a:rPr>
              <a:t>1600-1800</a:t>
            </a:r>
          </a:p>
          <a:p xmlns:a="http://schemas.openxmlformats.org/drawingml/2006/main">
            <a:r>
              <a:rPr lang="en-US" sz="1700" b="1">
                <a:solidFill>
                  <a:srgbClr val="FFFFFF"/>
                </a:solidFill>
              </a:rPr>
              <a:t>kcal</a:t>
            </a:r>
          </a:p>
        </p:txBody>
      </p:sp>
      <p:sp>
        <p:nvSpPr>
          <p:cNvPr id="100075" name="MP"/>
          <p:cNvSpPr txBox="1"/>
          <p:nvPr/>
        </p:nvSpPr>
        <p:spPr>
          <a:xfrm xmlns:a="http://schemas.openxmlformats.org/drawingml/2006/main">
            <a:off x="3348000" y="648000"/>
            <a:ext cx="2628000" cy="1260000"/>
          </a:xfrm>
          <a:prstGeom xmlns:a="http://schemas.openxmlformats.org/drawingml/2006/main" prst="rect">
            <a:avLst/>
          </a:prstGeom>
          <a:solidFill xmlns:a="http://schemas.openxmlformats.org/drawingml/2006/main">
            <a:srgbClr val="0F5A30"/>
          </a:solidFill>
        </p:spPr>
        <p:txBody>
          <a:bodyPr xmlns:a="http://schemas.openxmlformats.org/drawingml/2006/main"/>
          <a:lstStyle xmlns:a="http://schemas.openxmlformats.org/drawingml/2006/main"/>
          <a:p xmlns:a="http://schemas.openxmlformats.org/drawingml/2006/main">
            <a:r>
              <a:rPr lang="en-US" sz="1700" b="1">
                <a:solidFill>
                  <a:srgbClr val="FFFFFF"/>
                </a:solidFill>
              </a:rPr>
              <a:t>PROTEIN</a:t>
            </a:r>
          </a:p>
          <a:p xmlns:a="http://schemas.openxmlformats.org/drawingml/2006/main">
            <a:r>
              <a:rPr lang="en-US" sz="1700" b="1">
                <a:solidFill>
                  <a:srgbClr val="FFFFFF"/>
                </a:solidFill>
              </a:rPr>
              <a:t>60-80g</a:t>
            </a:r>
          </a:p>
          <a:p xmlns:a="http://schemas.openxmlformats.org/drawingml/2006/main">
            <a:r>
              <a:rPr lang="en-US" sz="1700" b="1">
                <a:solidFill>
                  <a:srgbClr val="FFFFFF"/>
                </a:solidFill>
              </a:rPr>
              <a:t>per day</a:t>
            </a:r>
          </a:p>
        </p:txBody>
      </p:sp>
      <p:sp>
        <p:nvSpPr>
          <p:cNvPr id="100076" name="MA"/>
          <p:cNvSpPr txBox="1"/>
          <p:nvPr/>
        </p:nvSpPr>
        <p:spPr>
          <a:xfrm xmlns:a="http://schemas.openxmlformats.org/drawingml/2006/main">
            <a:off x="6336000" y="648000"/>
            <a:ext cx="2628000" cy="1260000"/>
          </a:xfrm>
          <a:prstGeom xmlns:a="http://schemas.openxmlformats.org/drawingml/2006/main" prst="rect">
            <a:avLst/>
          </a:prstGeom>
          <a:solidFill xmlns:a="http://schemas.openxmlformats.org/drawingml/2006/main">
            <a:srgbClr val="8B4513"/>
          </a:solidFill>
        </p:spPr>
        <p:txBody>
          <a:bodyPr xmlns:a="http://schemas.openxmlformats.org/drawingml/2006/main"/>
          <a:lstStyle xmlns:a="http://schemas.openxmlformats.org/drawingml/2006/main"/>
          <a:p xmlns:a="http://schemas.openxmlformats.org/drawingml/2006/main">
            <a:r>
              <a:rPr lang="en-US" sz="1700" b="1">
                <a:solidFill>
                  <a:srgbClr val="FFFFFF"/>
                </a:solidFill>
              </a:rPr>
              <a:t>CARBS</a:t>
            </a:r>
          </a:p>
          <a:p xmlns:a="http://schemas.openxmlformats.org/drawingml/2006/main">
            <a:r>
              <a:rPr lang="en-US" sz="1700" b="1">
                <a:solidFill>
                  <a:srgbClr val="FFFFFF"/>
                </a:solidFill>
              </a:rPr>
              <a:t>150-180g</a:t>
            </a:r>
          </a:p>
          <a:p xmlns:a="http://schemas.openxmlformats.org/drawingml/2006/main">
            <a:r>
              <a:rPr lang="en-US" sz="1700" b="1">
                <a:solidFill>
                  <a:srgbClr val="FFFFFF"/>
                </a:solidFill>
              </a:rPr>
              <a:t>Low-GI only</a:t>
            </a:r>
          </a:p>
        </p:txBody>
      </p:sp>
      <p:sp>
        <p:nvSpPr>
          <p:cNvPr id="100077" name="MF"/>
          <p:cNvSpPr txBox="1"/>
          <p:nvPr/>
        </p:nvSpPr>
        <p:spPr>
          <a:xfrm xmlns:a="http://schemas.openxmlformats.org/drawingml/2006/main">
            <a:off x="9324000" y="648000"/>
            <a:ext cx="2628000" cy="1260000"/>
          </a:xfrm>
          <a:prstGeom xmlns:a="http://schemas.openxmlformats.org/drawingml/2006/main" prst="rect">
            <a:avLst/>
          </a:prstGeom>
          <a:solidFill xmlns:a="http://schemas.openxmlformats.org/drawingml/2006/main">
            <a:srgbClr val="4A0072"/>
          </a:solidFill>
        </p:spPr>
        <p:txBody>
          <a:bodyPr xmlns:a="http://schemas.openxmlformats.org/drawingml/2006/main"/>
          <a:lstStyle xmlns:a="http://schemas.openxmlformats.org/drawingml/2006/main"/>
          <a:p xmlns:a="http://schemas.openxmlformats.org/drawingml/2006/main">
            <a:r>
              <a:rPr lang="en-US" sz="1700" b="1">
                <a:solidFill>
                  <a:srgbClr val="FFFFFF"/>
                </a:solidFill>
              </a:rPr>
              <a:t>FIBER</a:t>
            </a:r>
          </a:p>
          <a:p xmlns:a="http://schemas.openxmlformats.org/drawingml/2006/main">
            <a:r>
              <a:rPr lang="en-US" sz="1700" b="1">
                <a:solidFill>
                  <a:srgbClr val="FFFFFF"/>
                </a:solidFill>
              </a:rPr>
              <a:t>25-35g</a:t>
            </a:r>
          </a:p>
          <a:p xmlns:a="http://schemas.openxmlformats.org/drawingml/2006/main">
            <a:r>
              <a:rPr lang="en-US" sz="1700" b="1">
                <a:solidFill>
                  <a:srgbClr val="FFFFFF"/>
                </a:solidFill>
              </a:rPr>
              <a:t>per day</a:t>
            </a:r>
          </a:p>
        </p:txBody>
      </p:sp>
      <p:sp>
        <p:nvSpPr>
          <p:cNvPr id="100078" name="Tips"/>
          <p:cNvSpPr txBox="1"/>
          <p:nvPr/>
        </p:nvSpPr>
        <p:spPr>
          <a:xfrm xmlns:a="http://schemas.openxmlformats.org/drawingml/2006/main">
            <a:off x="360000" y="2160000"/>
            <a:ext cx="6480000" cy="2340000"/>
          </a:xfrm>
          <a:prstGeom xmlns:a="http://schemas.openxmlformats.org/drawingml/2006/main" prst="rect">
            <a:avLst/>
          </a:prstGeom>
          <a:solidFill xmlns:a="http://schemas.openxmlformats.org/drawingml/2006/main">
            <a:srgbClr val="1A3A6A"/>
          </a:solidFill>
        </p:spPr>
        <p:txBody>
          <a:bodyPr xmlns:a="http://schemas.openxmlformats.org/drawingml/2006/main"/>
          <a:lstStyle xmlns:a="http://schemas.openxmlformats.org/drawingml/2006/main"/>
          <a:p xmlns:a="http://schemas.openxmlformats.org/drawingml/2006/main">
            <a:r>
              <a:rPr lang="en-US" sz="1500" b="0">
                <a:solidFill>
                  <a:srgbClr val="FFFFFF"/>
                </a:solidFill>
              </a:rPr>
              <a:t>Top 5 Personalised Tips</a:t>
            </a:r>
          </a:p>
          <a:p xmlns:a="http://schemas.openxmlformats.org/drawingml/2006/main">
            <a:r>
              <a:rPr lang="en-US" sz="1500" b="0">
                <a:solidFill>
                  <a:srgbClr val="FFFFFF"/>
                </a:solidFill>
              </a:rPr>
              <a:t>1. Eat every 3-4 hours — stable blood sugar is critical for diabetes</a:t>
            </a:r>
          </a:p>
          <a:p xmlns:a="http://schemas.openxmlformats.org/drawingml/2006/main">
            <a:r>
              <a:rPr lang="en-US" sz="1500" b="0">
                <a:solidFill>
                  <a:srgbClr val="FFFFFF"/>
                </a:solidFill>
              </a:rPr>
              <a:t>2. Whole foods only: brown rice, whole wheat, unprocessed grains</a:t>
            </a:r>
          </a:p>
          <a:p xmlns:a="http://schemas.openxmlformats.org/drawingml/2006/main">
            <a:r>
              <a:rPr lang="en-US" sz="1500" b="0">
                <a:solidFill>
                  <a:srgbClr val="FFFFFF"/>
                </a:solidFill>
              </a:rPr>
              <a:t>3. High fibre: vegetables, legumes, fruits — gut health + glucose control</a:t>
            </a:r>
          </a:p>
          <a:p xmlns:a="http://schemas.openxmlformats.org/drawingml/2006/main">
            <a:r>
              <a:rPr lang="en-US" sz="1500" b="0">
                <a:solidFill>
                  <a:srgbClr val="FFFFFF"/>
                </a:solidFill>
              </a:rPr>
              <a:t>4. Healthy fats: nuts, seeds, olive oil, avocado in moderation</a:t>
            </a:r>
          </a:p>
          <a:p xmlns:a="http://schemas.openxmlformats.org/drawingml/2006/main">
            <a:r>
              <a:rPr lang="en-US" sz="1500" b="0">
                <a:solidFill>
                  <a:srgbClr val="FFFFFF"/>
                </a:solidFill>
              </a:rPr>
              <a:t>5. Plate method: 50% veg  |  25% protein  |  25% complex carbs</a:t>
            </a:r>
          </a:p>
        </p:txBody>
      </p:sp>
      <p:sp>
        <p:nvSpPr>
          <p:cNvPr id="100079" name="Avoid"/>
          <p:cNvSpPr txBox="1"/>
          <p:nvPr/>
        </p:nvSpPr>
        <p:spPr>
          <a:xfrm xmlns:a="http://schemas.openxmlformats.org/drawingml/2006/main">
            <a:off x="7200000" y="2160000"/>
            <a:ext cx="4680000" cy="2340000"/>
          </a:xfrm>
          <a:prstGeom xmlns:a="http://schemas.openxmlformats.org/drawingml/2006/main" prst="rect">
            <a:avLst/>
          </a:prstGeom>
          <a:solidFill xmlns:a="http://schemas.openxmlformats.org/drawingml/2006/main">
            <a:srgbClr val="7A0000"/>
          </a:solidFill>
        </p:spPr>
        <p:txBody>
          <a:bodyPr xmlns:a="http://schemas.openxmlformats.org/drawingml/2006/main"/>
          <a:lstStyle xmlns:a="http://schemas.openxmlformats.org/drawingml/2006/main"/>
          <a:p xmlns:a="http://schemas.openxmlformats.org/drawingml/2006/main">
            <a:r>
              <a:rPr lang="en-US" sz="1500" b="0">
                <a:solidFill>
                  <a:srgbClr val="FFCCCC"/>
                </a:solidFill>
              </a:rPr>
              <a:t>Foods to AVOID</a:t>
            </a:r>
          </a:p>
          <a:p xmlns:a="http://schemas.openxmlformats.org/drawingml/2006/main">
            <a:r>
              <a:rPr lang="en-US" sz="1500" b="0">
                <a:solidFill>
                  <a:srgbClr val="FFCCCC"/>
                </a:solidFill>
              </a:rPr>
              <a:t>(Diabetes + Hypertension)</a:t>
            </a:r>
          </a:p>
          <a:p xmlns:a="http://schemas.openxmlformats.org/drawingml/2006/main">
            <a:r>
              <a:rPr lang="en-US" sz="1500" b="0">
                <a:solidFill>
                  <a:srgbClr val="FFCCCC"/>
                </a:solidFill>
              </a:rPr>
              <a:t/>
            </a:r>
          </a:p>
          <a:p xmlns:a="http://schemas.openxmlformats.org/drawingml/2006/main">
            <a:r>
              <a:rPr lang="en-US" sz="1500" b="0">
                <a:solidFill>
                  <a:srgbClr val="FFCCCC"/>
                </a:solidFill>
              </a:rPr>
              <a:t>White rice (large qty)</a:t>
            </a:r>
          </a:p>
          <a:p xmlns:a="http://schemas.openxmlformats.org/drawingml/2006/main">
            <a:r>
              <a:rPr lang="en-US" sz="1500" b="0">
                <a:solidFill>
                  <a:srgbClr val="FFCCCC"/>
                </a:solidFill>
              </a:rPr>
              <a:t>Sugary beverages</a:t>
            </a:r>
          </a:p>
          <a:p xmlns:a="http://schemas.openxmlformats.org/drawingml/2006/main">
            <a:r>
              <a:rPr lang="en-US" sz="1500" b="0">
                <a:solidFill>
                  <a:srgbClr val="FFCCCC"/>
                </a:solidFill>
              </a:rPr>
              <a:t>Sweets &amp; desserts</a:t>
            </a:r>
          </a:p>
          <a:p xmlns:a="http://schemas.openxmlformats.org/drawingml/2006/main">
            <a:r>
              <a:rPr lang="en-US" sz="1500" b="0">
                <a:solidFill>
                  <a:srgbClr val="FFCCCC"/>
                </a:solidFill>
              </a:rPr>
              <a:t>White bread / Fruit juices</a:t>
            </a:r>
          </a:p>
          <a:p xmlns:a="http://schemas.openxmlformats.org/drawingml/2006/main">
            <a:r>
              <a:rPr lang="en-US" sz="1500" b="0">
                <a:solidFill>
                  <a:srgbClr val="FFCCCC"/>
                </a:solidFill>
              </a:rPr>
              <a:t>Processed foods (high sodium)</a:t>
            </a:r>
          </a:p>
          <a:p xmlns:a="http://schemas.openxmlformats.org/drawingml/2006/main">
            <a:r>
              <a:rPr lang="en-US" sz="1500" b="0">
                <a:solidFill>
                  <a:srgbClr val="FFCCCC"/>
                </a:solidFill>
              </a:rPr>
              <a:t>Pickles, excess salt, fast food</a:t>
            </a:r>
          </a:p>
        </p:txBody>
      </p:sp>
    </p:spTree>
  </p:cSld>
  <p:transition xmlns:p="http://schemas.openxmlformats.org/presentationml/2006/main" spd="fast" advClick="0" advTm="10000"/>
</p:sld>
</file>

<file path=ppt/slides/slide12.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p:sp>
        <p:nvSpPr>
          <p:cNvPr id="100080"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NutriBot Chat Agent — Ask Anything</a:t>
            </a:r>
          </a:p>
        </p:txBody>
      </p:sp>
      <p:sp>
        <p:nvSpPr>
          <p:cNvPr id="100081"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82" name="ChatBg"/>
          <p:cNvSpPr txBox="1"/>
          <p:nvPr/>
        </p:nvSpPr>
        <p:spPr>
          <a:xfrm xmlns:a="http://schemas.openxmlformats.org/drawingml/2006/main">
            <a:off x="720000" y="648000"/>
            <a:ext cx="10440000" cy="468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lang="en-US" sz="1200">
              <a:solidFill>
                <a:srgbClr val="333333"/>
              </a:solidFill>
            </a:endParaRPr>
          </a:p>
        </p:txBody>
      </p:sp>
      <p:sp>
        <p:nvSpPr>
          <p:cNvPr id="100083" name="BotMsg1"/>
          <p:cNvSpPr txBox="1"/>
          <p:nvPr/>
        </p:nvSpPr>
        <p:spPr>
          <a:xfrm xmlns:a="http://schemas.openxmlformats.org/drawingml/2006/main">
            <a:off x="900000" y="720000"/>
            <a:ext cx="7920000" cy="54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0">
                <a:solidFill>
                  <a:srgbClr val="0F3460"/>
                </a:solidFill>
              </a:rPr>
              <a:t>NutriBot AI:  Hello! I'm NutriBot powered by IBM Granite. Ask me anything about nutrition, meal planning, or healthy eating.</a:t>
            </a:r>
          </a:p>
        </p:txBody>
      </p:sp>
      <p:sp>
        <p:nvSpPr>
          <p:cNvPr id="100084" name="UserQ1"/>
          <p:cNvSpPr txBox="1"/>
          <p:nvPr/>
        </p:nvSpPr>
        <p:spPr>
          <a:xfrm xmlns:a="http://schemas.openxmlformats.org/drawingml/2006/main">
            <a:off x="2880000" y="1440000"/>
            <a:ext cx="81000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0">
                <a:solidFill>
                  <a:srgbClr val="FFFFFF"/>
                </a:solidFill>
              </a:rPr>
              <a:t>User:  What are the best protein sources for vegetarians with diabetes?</a:t>
            </a:r>
          </a:p>
        </p:txBody>
      </p:sp>
      <p:sp>
        <p:nvSpPr>
          <p:cNvPr id="100085" name="BotAns1"/>
          <p:cNvSpPr txBox="1"/>
          <p:nvPr/>
        </p:nvSpPr>
        <p:spPr>
          <a:xfrm xmlns:a="http://schemas.openxmlformats.org/drawingml/2006/main">
            <a:off x="900000" y="1908000"/>
            <a:ext cx="7920000" cy="90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0">
                <a:solidFill>
                  <a:srgbClr val="0F3460"/>
                </a:solidFill>
              </a:rPr>
              <a:t>NutriBot AI:  Great question! For vegetarian diabetics: lentils (dal), chickpeas, kidney beans, tofu, low-fat paneer, Greek yogurt, and quinoa. Aim for 0.8-1.2g protein per kg bodyweight. Spread protein across all meals for stable blood sugar.</a:t>
            </a:r>
          </a:p>
        </p:txBody>
      </p:sp>
      <p:sp>
        <p:nvSpPr>
          <p:cNvPr id="100086" name="UserQ2"/>
          <p:cNvSpPr txBox="1"/>
          <p:nvPr/>
        </p:nvSpPr>
        <p:spPr>
          <a:xfrm xmlns:a="http://schemas.openxmlformats.org/drawingml/2006/main">
            <a:off x="4320000" y="2988000"/>
            <a:ext cx="6660000" cy="32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b="0">
                <a:solidFill>
                  <a:srgbClr val="FFFFFF"/>
                </a:solidFill>
              </a:rPr>
              <a:t>User:  How much water should I drink daily?</a:t>
            </a:r>
          </a:p>
        </p:txBody>
      </p:sp>
      <p:sp>
        <p:nvSpPr>
          <p:cNvPr id="100087" name="BotAns2"/>
          <p:cNvSpPr txBox="1"/>
          <p:nvPr/>
        </p:nvSpPr>
        <p:spPr>
          <a:xfrm xmlns:a="http://schemas.openxmlformats.org/drawingml/2006/main">
            <a:off x="900000" y="3456000"/>
            <a:ext cx="7920000" cy="828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0">
                <a:solidFill>
                  <a:srgbClr val="0F3460"/>
                </a:solidFill>
              </a:rPr>
              <a:t>NutriBot AI:  Aim for 8-10 glasses (2-2.5 litres) daily. For diabetes, hydration supports kidney function. Start mornings with warm lemon water. Pale yellow urine = good hydration!</a:t>
            </a:r>
          </a:p>
        </p:txBody>
      </p:sp>
      <p:sp>
        <p:nvSpPr>
          <p:cNvPr id="100088" name="QuickQs"/>
          <p:cNvSpPr txBox="1"/>
          <p:nvPr/>
        </p:nvSpPr>
        <p:spPr>
          <a:xfrm xmlns:a="http://schemas.openxmlformats.org/drawingml/2006/main">
            <a:off x="720000" y="4428000"/>
            <a:ext cx="10440000" cy="288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200" b="0">
                <a:solidFill>
                  <a:srgbClr val="0F62FE"/>
                </a:solidFill>
              </a:rPr>
              <a:t>Quick:  Best veg protein?   Blood sugar?   Weight loss?   Daily water?   Essential vitamins?</a:t>
            </a:r>
          </a:p>
        </p:txBody>
      </p:sp>
      <p:sp>
        <p:nvSpPr>
          <p:cNvPr id="100089" name="InputBox"/>
          <p:cNvSpPr txBox="1"/>
          <p:nvPr/>
        </p:nvSpPr>
        <p:spPr>
          <a:xfrm xmlns:a="http://schemas.openxmlformats.org/drawingml/2006/main">
            <a:off x="720000" y="4824000"/>
            <a:ext cx="10440000" cy="324000"/>
          </a:xfrm>
          <a:prstGeom xmlns:a="http://schemas.openxmlformats.org/drawingml/2006/main" prst="rect">
            <a:avLst/>
          </a:prstGeom>
          <a:solidFill xmlns:a="http://schemas.openxmlformats.org/drawingml/2006/main">
            <a:srgbClr val="F5F5F5"/>
          </a:solidFill>
        </p:spPr>
        <p:txBody>
          <a:bodyPr xmlns:a="http://schemas.openxmlformats.org/drawingml/2006/main"/>
          <a:lstStyle xmlns:a="http://schemas.openxmlformats.org/drawingml/2006/main"/>
          <a:p xmlns:a="http://schemas.openxmlformats.org/drawingml/2006/main">
            <a:r>
              <a:rPr lang="en-US" sz="1300" b="0">
                <a:solidFill>
                  <a:srgbClr val="888888"/>
                </a:solidFill>
              </a:rPr>
              <a:t>Ask about nutrition, diet, or healthy eating...                                    [Send]</a:t>
            </a:r>
          </a:p>
        </p:txBody>
      </p:sp>
    </p:spTree>
  </p:cSld>
  <p:transition xmlns:p="http://schemas.openxmlformats.org/presentationml/2006/main" spd="fast" advClick="0" advTm="10000"/>
</p:sld>
</file>

<file path=ppt/slides/slide13.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090"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2200" b="1">
                <a:solidFill>
                  <a:srgbClr val="FFFFFF"/>
                </a:solidFill>
              </a:rPr>
              <a:t>AI Ethics, Guardrails &amp; Medical Disclaimer</a:t>
            </a:r>
          </a:p>
        </p:txBody>
      </p:sp>
      <p:sp>
        <p:nvSpPr>
          <p:cNvPr id="100091"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092" name="ETitle"/>
          <p:cNvSpPr txBox="1"/>
          <p:nvPr/>
        </p:nvSpPr>
        <p:spPr>
          <a:xfrm xmlns:a="http://schemas.openxmlformats.org/drawingml/2006/main">
            <a:off x="360000" y="648000"/>
            <a:ext cx="684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AADDFF"/>
                </a:solidFill>
              </a:rPr>
              <a:t>IBM AI Ethics — 5 Principles</a:t>
            </a:r>
          </a:p>
        </p:txBody>
      </p:sp>
      <p:sp>
        <p:nvSpPr>
          <p:cNvPr id="100093" name="E1"/>
          <p:cNvSpPr txBox="1"/>
          <p:nvPr/>
        </p:nvSpPr>
        <p:spPr>
          <a:xfrm xmlns:a="http://schemas.openxmlformats.org/drawingml/2006/main">
            <a:off x="360000" y="1044000"/>
            <a:ext cx="3240000" cy="900000"/>
          </a:xfrm>
          <a:prstGeom xmlns:a="http://schemas.openxmlformats.org/drawingml/2006/main" prst="rect">
            <a:avLst/>
          </a:prstGeom>
          <a:solidFill xmlns:a="http://schemas.openxmlformats.org/drawingml/2006/main">
            <a:srgbClr val="1A3A6A"/>
          </a:solidFill>
        </p:spPr>
        <p:txBody>
          <a:bodyPr xmlns:a="http://schemas.openxmlformats.org/drawingml/2006/main"/>
          <a:lstStyle xmlns:a="http://schemas.openxmlformats.org/drawingml/2006/main"/>
          <a:p xmlns:a="http://schemas.openxmlformats.org/drawingml/2006/main">
            <a:r>
              <a:rPr lang="en-US" sz="1400" b="0">
                <a:solidFill>
                  <a:srgbClr val="FFFFFF"/>
                </a:solidFill>
              </a:rPr>
              <a:t>TRANSPARENCY</a:t>
            </a:r>
          </a:p>
          <a:p xmlns:a="http://schemas.openxmlformats.org/drawingml/2006/main">
            <a:r>
              <a:rPr lang="en-US" sz="1400" b="0">
                <a:solidFill>
                  <a:srgbClr val="FFFFFF"/>
                </a:solidFill>
              </a:rPr>
              <a:t>Model name shown on every response</a:t>
            </a:r>
          </a:p>
        </p:txBody>
      </p:sp>
      <p:sp>
        <p:nvSpPr>
          <p:cNvPr id="100094" name="E2"/>
          <p:cNvSpPr txBox="1"/>
          <p:nvPr/>
        </p:nvSpPr>
        <p:spPr>
          <a:xfrm xmlns:a="http://schemas.openxmlformats.org/drawingml/2006/main">
            <a:off x="3960000" y="1044000"/>
            <a:ext cx="3240000" cy="900000"/>
          </a:xfrm>
          <a:prstGeom xmlns:a="http://schemas.openxmlformats.org/drawingml/2006/main" prst="rect">
            <a:avLst/>
          </a:prstGeom>
          <a:solidFill xmlns:a="http://schemas.openxmlformats.org/drawingml/2006/main">
            <a:srgbClr val="1A5A3A"/>
          </a:solidFill>
        </p:spPr>
        <p:txBody>
          <a:bodyPr xmlns:a="http://schemas.openxmlformats.org/drawingml/2006/main"/>
          <a:lstStyle xmlns:a="http://schemas.openxmlformats.org/drawingml/2006/main"/>
          <a:p xmlns:a="http://schemas.openxmlformats.org/drawingml/2006/main">
            <a:r>
              <a:rPr lang="en-US" sz="1400" b="0">
                <a:solidFill>
                  <a:srgbClr val="FFFFFF"/>
                </a:solidFill>
              </a:rPr>
              <a:t>FAIRNESS</a:t>
            </a:r>
          </a:p>
          <a:p xmlns:a="http://schemas.openxmlformats.org/drawingml/2006/main">
            <a:r>
              <a:rPr lang="en-US" sz="1400" b="0">
                <a:solidFill>
                  <a:srgbClr val="FFFFFF"/>
                </a:solidFill>
              </a:rPr>
              <a:t>Inclusive for all diets, ages, body types</a:t>
            </a:r>
          </a:p>
        </p:txBody>
      </p:sp>
      <p:sp>
        <p:nvSpPr>
          <p:cNvPr id="100095" name="E3"/>
          <p:cNvSpPr txBox="1"/>
          <p:nvPr/>
        </p:nvSpPr>
        <p:spPr>
          <a:xfrm xmlns:a="http://schemas.openxmlformats.org/drawingml/2006/main">
            <a:off x="360000" y="2160000"/>
            <a:ext cx="3240000" cy="900000"/>
          </a:xfrm>
          <a:prstGeom xmlns:a="http://schemas.openxmlformats.org/drawingml/2006/main" prst="rect">
            <a:avLst/>
          </a:prstGeom>
          <a:solidFill xmlns:a="http://schemas.openxmlformats.org/drawingml/2006/main">
            <a:srgbClr val="4A1A7A"/>
          </a:solidFill>
        </p:spPr>
        <p:txBody>
          <a:bodyPr xmlns:a="http://schemas.openxmlformats.org/drawingml/2006/main"/>
          <a:lstStyle xmlns:a="http://schemas.openxmlformats.org/drawingml/2006/main"/>
          <a:p xmlns:a="http://schemas.openxmlformats.org/drawingml/2006/main">
            <a:r>
              <a:rPr lang="en-US" sz="1400" b="0">
                <a:solidFill>
                  <a:srgbClr val="FFFFFF"/>
                </a:solidFill>
              </a:rPr>
              <a:t>ROBUSTNESS</a:t>
            </a:r>
          </a:p>
          <a:p xmlns:a="http://schemas.openxmlformats.org/drawingml/2006/main">
            <a:r>
              <a:rPr lang="en-US" sz="1400" b="0">
                <a:solidFill>
                  <a:srgbClr val="FFFFFF"/>
                </a:solidFill>
              </a:rPr>
              <a:t>12-category harmful content filter</a:t>
            </a:r>
          </a:p>
        </p:txBody>
      </p:sp>
      <p:sp>
        <p:nvSpPr>
          <p:cNvPr id="100096" name="E4"/>
          <p:cNvSpPr txBox="1"/>
          <p:nvPr/>
        </p:nvSpPr>
        <p:spPr>
          <a:xfrm xmlns:a="http://schemas.openxmlformats.org/drawingml/2006/main">
            <a:off x="3960000" y="2160000"/>
            <a:ext cx="3240000" cy="900000"/>
          </a:xfrm>
          <a:prstGeom xmlns:a="http://schemas.openxmlformats.org/drawingml/2006/main" prst="rect">
            <a:avLst/>
          </a:prstGeom>
          <a:solidFill xmlns:a="http://schemas.openxmlformats.org/drawingml/2006/main">
            <a:srgbClr val="7A3A1A"/>
          </a:solidFill>
        </p:spPr>
        <p:txBody>
          <a:bodyPr xmlns:a="http://schemas.openxmlformats.org/drawingml/2006/main"/>
          <a:lstStyle xmlns:a="http://schemas.openxmlformats.org/drawingml/2006/main"/>
          <a:p xmlns:a="http://schemas.openxmlformats.org/drawingml/2006/main">
            <a:r>
              <a:rPr lang="en-US" sz="1400" b="0">
                <a:solidFill>
                  <a:srgbClr val="FFFFFF"/>
                </a:solidFill>
              </a:rPr>
              <a:t>PRIVACY</a:t>
            </a:r>
          </a:p>
          <a:p xmlns:a="http://schemas.openxmlformats.org/drawingml/2006/main">
            <a:r>
              <a:rPr lang="en-US" sz="1400" b="0">
                <a:solidFill>
                  <a:srgbClr val="FFFFFF"/>
                </a:solidFill>
              </a:rPr>
              <a:t>No data stored, .env excluded from git</a:t>
            </a:r>
          </a:p>
        </p:txBody>
      </p:sp>
      <p:sp>
        <p:nvSpPr>
          <p:cNvPr id="100097" name="E5"/>
          <p:cNvSpPr txBox="1"/>
          <p:nvPr/>
        </p:nvSpPr>
        <p:spPr>
          <a:xfrm xmlns:a="http://schemas.openxmlformats.org/drawingml/2006/main">
            <a:off x="360000" y="3276000"/>
            <a:ext cx="6840000" cy="72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500" b="0">
                <a:solidFill>
                  <a:srgbClr val="FFFFFF"/>
                </a:solidFill>
              </a:rPr>
              <a:t>ACCOUNTABILITY</a:t>
            </a:r>
          </a:p>
          <a:p xmlns:a="http://schemas.openxmlformats.org/drawingml/2006/main">
            <a:r>
              <a:rPr lang="en-US" sz="1500" b="0">
                <a:solidFill>
                  <a:srgbClr val="FFFFFF"/>
                </a:solidFill>
              </a:rPr>
              <a:t>Medical disclaimer on every plan</a:t>
            </a:r>
          </a:p>
        </p:txBody>
      </p:sp>
      <p:sp>
        <p:nvSpPr>
          <p:cNvPr id="100098" name="Disclaimer"/>
          <p:cNvSpPr txBox="1"/>
          <p:nvPr/>
        </p:nvSpPr>
        <p:spPr>
          <a:xfrm xmlns:a="http://schemas.openxmlformats.org/drawingml/2006/main">
            <a:off x="360000" y="4176000"/>
            <a:ext cx="11160000" cy="1440000"/>
          </a:xfrm>
          <a:prstGeom xmlns:a="http://schemas.openxmlformats.org/drawingml/2006/main" prst="rect">
            <a:avLst/>
          </a:prstGeom>
          <a:solidFill xmlns:a="http://schemas.openxmlformats.org/drawingml/2006/main">
            <a:srgbClr val="3A0000"/>
          </a:solidFill>
        </p:spPr>
        <p:txBody>
          <a:bodyPr xmlns:a="http://schemas.openxmlformats.org/drawingml/2006/main"/>
          <a:lstStyle xmlns:a="http://schemas.openxmlformats.org/drawingml/2006/main"/>
          <a:p xmlns:a="http://schemas.openxmlformats.org/drawingml/2006/main">
            <a:r>
              <a:rPr lang="en-US" sz="1500" b="0">
                <a:solidFill>
                  <a:srgbClr val="FFCCCC"/>
                </a:solidFill>
              </a:rPr>
              <a:t>MEDICAL DISCLAIMER (on every generated plan)</a:t>
            </a:r>
          </a:p>
          <a:p xmlns:a="http://schemas.openxmlformats.org/drawingml/2006/main">
            <a:r>
              <a:rPr lang="en-US" sz="1500" b="0">
                <a:solidFill>
                  <a:srgbClr val="FFCCCC"/>
                </a:solidFill>
              </a:rPr>
              <a:t>This plan is for informational purposes ONLY. It does NOT constitute medical advice.</a:t>
            </a:r>
          </a:p>
          <a:p xmlns:a="http://schemas.openxmlformats.org/drawingml/2006/main">
            <a:r>
              <a:rPr lang="en-US" sz="1500" b="0">
                <a:solidFill>
                  <a:srgbClr val="FFCCCC"/>
                </a:solidFill>
              </a:rPr>
              <a:t>Always consult a qualified healthcare professional before making dietary changes,</a:t>
            </a:r>
          </a:p>
          <a:p xmlns:a="http://schemas.openxmlformats.org/drawingml/2006/main">
            <a:r>
              <a:rPr lang="en-US" sz="1500" b="0">
                <a:solidFill>
                  <a:srgbClr val="FFCCCC"/>
                </a:solidFill>
              </a:rPr>
              <a:t>especially with Diabetes, Hypertension, Heart Disease or any medical condition.</a:t>
            </a:r>
          </a:p>
        </p:txBody>
      </p:sp>
    </p:spTree>
  </p:cSld>
  <p:transition xmlns:p="http://schemas.openxmlformats.org/presentationml/2006/main" spd="fast" advClick="0" advTm="10000"/>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9" name="TopBar"/>
          <p:cNvSpPr txBox="1"/>
          <p:nvPr/>
        </p:nvSpPr>
        <p:spPr>
          <a:xfrm xmlns:a="http://schemas.openxmlformats.org/drawingml/2006/main">
            <a:off x="0" y="0"/>
            <a:ext cx="12193200" cy="504000"/>
          </a:xfrm>
          <a:prstGeom xmlns:a="http://schemas.openxmlformats.org/drawingml/2006/main" prst="rect">
            <a:avLst/>
          </a:prstGeom>
          <a:solidFill xmlns:a="http://schemas.openxmlformats.org/drawingml/2006/main">
            <a:srgbClr val="0F3460"/>
          </a:solidFill>
        </p:spPr>
        <p:txBody>
          <a:bodyPr xmlns:a="http://schemas.openxmlformats.org/drawingml/2006/main"/>
          <a:lstStyle xmlns:a="http://schemas.openxmlformats.org/drawingml/2006/main"/>
          <a:p xmlns:a="http://schemas.openxmlformats.org/drawingml/2006/main">
            <a:r>
              <a:rPr lang="en-US" sz="2200" b="1">
                <a:solidFill>
                  <a:srgbClr val="FFFFFF"/>
                </a:solidFill>
              </a:rPr>
              <a:t>GitHub Repository &amp; How to Run</a:t>
            </a:r>
          </a:p>
        </p:txBody>
      </p:sp>
      <p:sp>
        <p:nvSpPr>
          <p:cNvPr id="100100"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Agentic AI  |  github.com/jigarnakarani/Nutrition-Agentic-AI-</a:t>
            </a:r>
          </a:p>
        </p:txBody>
      </p:sp>
      <p:sp>
        <p:nvSpPr>
          <p:cNvPr id="100101" name="RepoURL"/>
          <p:cNvSpPr txBox="1"/>
          <p:nvPr/>
        </p:nvSpPr>
        <p:spPr>
          <a:xfrm xmlns:a="http://schemas.openxmlformats.org/drawingml/2006/main">
            <a:off x="720000" y="648000"/>
            <a:ext cx="10440000" cy="432000"/>
          </a:xfrm>
          <a:prstGeom xmlns:a="http://schemas.openxmlformats.org/drawingml/2006/main" prst="rect">
            <a:avLst/>
          </a:prstGeom>
          <a:solidFill xmlns:a="http://schemas.openxmlformats.org/drawingml/2006/main">
            <a:srgbClr val="1A1A2E"/>
          </a:solidFill>
        </p:spPr>
        <p:txBody>
          <a:bodyPr xmlns:a="http://schemas.openxmlformats.org/drawingml/2006/main"/>
          <a:lstStyle xmlns:a="http://schemas.openxmlformats.org/drawingml/2006/main"/>
          <a:p xmlns:a="http://schemas.openxmlformats.org/drawingml/2006/main">
            <a:r>
              <a:rPr lang="en-US" sz="2000" b="1">
                <a:solidFill>
                  <a:srgbClr val="00FF88"/>
                </a:solidFill>
                <a:latin typeface="Courier New"/>
                <a:ea typeface="Courier New"/>
              </a:rPr>
              <a:t>github.com/jigarnakarani/Nutrition-Agentic-AI-</a:t>
            </a:r>
          </a:p>
        </p:txBody>
      </p:sp>
      <p:sp>
        <p:nvSpPr>
          <p:cNvPr id="100102" name="Files"/>
          <p:cNvSpPr txBox="1"/>
          <p:nvPr/>
        </p:nvSpPr>
        <p:spPr>
          <a:xfrm xmlns:a="http://schemas.openxmlformats.org/drawingml/2006/main">
            <a:off x="720000" y="1188000"/>
            <a:ext cx="5040000" cy="2160000"/>
          </a:xfrm>
          <a:prstGeom xmlns:a="http://schemas.openxmlformats.org/drawingml/2006/main" prst="rect">
            <a:avLst/>
          </a:prstGeom>
          <a:solidFill xmlns:a="http://schemas.openxmlformats.org/drawingml/2006/main">
            <a:srgbClr val="F5F5F5"/>
          </a:solidFill>
        </p:spPr>
        <p:txBody>
          <a:bodyPr xmlns:a="http://schemas.openxmlformats.org/drawingml/2006/main"/>
          <a:lstStyle xmlns:a="http://schemas.openxmlformats.org/drawingml/2006/main"/>
          <a:p xmlns:a="http://schemas.openxmlformats.org/drawingml/2006/main">
            <a:r>
              <a:rPr lang="en-US" sz="1300" b="0">
                <a:solidFill>
                  <a:srgbClr val="222222"/>
                </a:solidFill>
                <a:latin typeface="Courier New"/>
                <a:ea typeface="Courier New"/>
              </a:rPr>
              <a:t>Repository Contents</a:t>
            </a:r>
          </a:p>
          <a:p xmlns:a="http://schemas.openxmlformats.org/drawingml/2006/main">
            <a:r>
              <a:rPr lang="en-US" sz="1300" b="0">
                <a:solidFill>
                  <a:srgbClr val="222222"/>
                </a:solidFill>
                <a:latin typeface="Courier New"/>
                <a:ea typeface="Courier New"/>
              </a:rPr>
              <a:t>app.py  |  README.md  |  requirements.txt  |  .gitignore</a:t>
            </a:r>
          </a:p>
          <a:p xmlns:a="http://schemas.openxmlformats.org/drawingml/2006/main">
            <a:r>
              <a:rPr lang="en-US" sz="1300" b="0">
                <a:solidFill>
                  <a:srgbClr val="222222"/>
                </a:solidFill>
                <a:latin typeface="Courier New"/>
                <a:ea typeface="Courier New"/>
              </a:rPr>
              <a:t>run.bat  |  deploy_to_github.bat  |  .env.example  |  LICENSE</a:t>
            </a:r>
          </a:p>
          <a:p xmlns:a="http://schemas.openxmlformats.org/drawingml/2006/main">
            <a:r>
              <a:rPr lang="en-US" sz="1300" b="0">
                <a:solidFill>
                  <a:srgbClr val="222222"/>
                </a:solidFill>
                <a:latin typeface="Courier New"/>
                <a:ea typeface="Courier New"/>
              </a:rPr>
              <a:t>templates/index.html  |  static/style.css  |  static/app.js</a:t>
            </a:r>
          </a:p>
          <a:p xmlns:a="http://schemas.openxmlformats.org/drawingml/2006/main">
            <a:r>
              <a:rPr lang="en-US" sz="1300" b="0">
                <a:solidFill>
                  <a:srgbClr val="222222"/>
                </a:solidFill>
                <a:latin typeface="Courier New"/>
                <a:ea typeface="Courier New"/>
              </a:rPr>
              <a:t>plans/sample_nutrition_plan_Priya_Patel.md</a:t>
            </a:r>
          </a:p>
          <a:p xmlns:a="http://schemas.openxmlformats.org/drawingml/2006/main">
            <a:r>
              <a:rPr lang="en-US" sz="1300" b="0">
                <a:solidFill>
                  <a:srgbClr val="222222"/>
                </a:solidFill>
                <a:latin typeface="Courier New"/>
                <a:ea typeface="Courier New"/>
              </a:rPr>
              <a:t>NutriBot_AI_Presentation.pptx  |  NutriBot_AI_Video.pptx</a:t>
            </a:r>
          </a:p>
        </p:txBody>
      </p:sp>
      <p:sp>
        <p:nvSpPr>
          <p:cNvPr id="100103" name="RunTitle"/>
          <p:cNvSpPr txBox="1"/>
          <p:nvPr/>
        </p:nvSpPr>
        <p:spPr>
          <a:xfrm xmlns:a="http://schemas.openxmlformats.org/drawingml/2006/main">
            <a:off x="6300000" y="1188000"/>
            <a:ext cx="48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0F3460"/>
                </a:solidFill>
              </a:rPr>
              <a:t>Run in 2 Steps</a:t>
            </a:r>
          </a:p>
        </p:txBody>
      </p:sp>
      <p:sp>
        <p:nvSpPr>
          <p:cNvPr id="100104" name="Step1Run"/>
          <p:cNvSpPr txBox="1"/>
          <p:nvPr/>
        </p:nvSpPr>
        <p:spPr>
          <a:xfrm xmlns:a="http://schemas.openxmlformats.org/drawingml/2006/main">
            <a:off x="6300000" y="1548000"/>
            <a:ext cx="4860000" cy="900000"/>
          </a:xfrm>
          <a:prstGeom xmlns:a="http://schemas.openxmlformats.org/drawingml/2006/main" prst="rect">
            <a:avLst/>
          </a:prstGeom>
          <a:solidFill xmlns:a="http://schemas.openxmlformats.org/drawingml/2006/main">
            <a:srgbClr val="EEF3FF"/>
          </a:solidFill>
        </p:spPr>
        <p:txBody>
          <a:bodyPr xmlns:a="http://schemas.openxmlformats.org/drawingml/2006/main"/>
          <a:lstStyle xmlns:a="http://schemas.openxmlformats.org/drawingml/2006/main"/>
          <a:p xmlns:a="http://schemas.openxmlformats.org/drawingml/2006/main">
            <a:r>
              <a:rPr lang="en-US" sz="1400" b="0">
                <a:solidFill>
                  <a:srgbClr val="0F3460"/>
                </a:solidFill>
                <a:latin typeface="Courier New"/>
                <a:ea typeface="Courier New"/>
              </a:rPr>
              <a:t>STEP 1 — Clone</a:t>
            </a:r>
          </a:p>
          <a:p xmlns:a="http://schemas.openxmlformats.org/drawingml/2006/main">
            <a:r>
              <a:rPr lang="en-US" sz="1400" b="0">
                <a:solidFill>
                  <a:srgbClr val="0F3460"/>
                </a:solidFill>
                <a:latin typeface="Courier New"/>
                <a:ea typeface="Courier New"/>
              </a:rPr>
              <a:t>git clone https://github.com/jigarnakarani/Nutrition-Agentic-AI-.git</a:t>
            </a:r>
          </a:p>
        </p:txBody>
      </p:sp>
      <p:sp>
        <p:nvSpPr>
          <p:cNvPr id="100105" name="Step2Run"/>
          <p:cNvSpPr txBox="1"/>
          <p:nvPr/>
        </p:nvSpPr>
        <p:spPr>
          <a:xfrm xmlns:a="http://schemas.openxmlformats.org/drawingml/2006/main">
            <a:off x="6300000" y="2592000"/>
            <a:ext cx="4860000" cy="900000"/>
          </a:xfrm>
          <a:prstGeom xmlns:a="http://schemas.openxmlformats.org/drawingml/2006/main" prst="rect">
            <a:avLst/>
          </a:prstGeom>
          <a:solidFill xmlns:a="http://schemas.openxmlformats.org/drawingml/2006/main">
            <a:srgbClr val="E8FFF0"/>
          </a:solidFill>
        </p:spPr>
        <p:txBody>
          <a:bodyPr xmlns:a="http://schemas.openxmlformats.org/drawingml/2006/main"/>
          <a:lstStyle xmlns:a="http://schemas.openxmlformats.org/drawingml/2006/main"/>
          <a:p xmlns:a="http://schemas.openxmlformats.org/drawingml/2006/main">
            <a:r>
              <a:rPr lang="en-US" sz="1400" b="0">
                <a:solidFill>
                  <a:srgbClr val="0A4A1A"/>
                </a:solidFill>
                <a:latin typeface="Courier New"/>
                <a:ea typeface="Courier New"/>
              </a:rPr>
              <a:t>STEP 2 — Launch</a:t>
            </a:r>
          </a:p>
          <a:p xmlns:a="http://schemas.openxmlformats.org/drawingml/2006/main">
            <a:r>
              <a:rPr lang="en-US" sz="1400" b="0">
                <a:solidFill>
                  <a:srgbClr val="0A4A1A"/>
                </a:solidFill>
                <a:latin typeface="Courier New"/>
                <a:ea typeface="Courier New"/>
              </a:rPr>
              <a:t>Double-click  run.bat</a:t>
            </a:r>
          </a:p>
          <a:p xmlns:a="http://schemas.openxmlformats.org/drawingml/2006/main">
            <a:r>
              <a:rPr lang="en-US" sz="1400" b="0">
                <a:solidFill>
                  <a:srgbClr val="0A4A1A"/>
                </a:solidFill>
                <a:latin typeface="Courier New"/>
                <a:ea typeface="Courier New"/>
              </a:rPr>
              <a:t>Browser opens http://localhost:5000</a:t>
            </a:r>
          </a:p>
        </p:txBody>
      </p:sp>
      <p:sp>
        <p:nvSpPr>
          <p:cNvPr id="100106" name="OptIBM"/>
          <p:cNvSpPr txBox="1"/>
          <p:nvPr/>
        </p:nvSpPr>
        <p:spPr>
          <a:xfrm xmlns:a="http://schemas.openxmlformats.org/drawingml/2006/main">
            <a:off x="6300000" y="3636000"/>
            <a:ext cx="4860000" cy="900000"/>
          </a:xfrm>
          <a:prstGeom xmlns:a="http://schemas.openxmlformats.org/drawingml/2006/main" prst="rect">
            <a:avLst/>
          </a:prstGeom>
          <a:solidFill xmlns:a="http://schemas.openxmlformats.org/drawingml/2006/main">
            <a:srgbClr val="FFF8E8"/>
          </a:solidFill>
        </p:spPr>
        <p:txBody>
          <a:bodyPr xmlns:a="http://schemas.openxmlformats.org/drawingml/2006/main"/>
          <a:lstStyle xmlns:a="http://schemas.openxmlformats.org/drawingml/2006/main"/>
          <a:p xmlns:a="http://schemas.openxmlformats.org/drawingml/2006/main">
            <a:r>
              <a:rPr lang="en-US" sz="1300" b="0">
                <a:solidFill>
                  <a:srgbClr val="5A3500"/>
                </a:solidFill>
              </a:rPr>
              <a:t>Optional IBM AI Mode</a:t>
            </a:r>
          </a:p>
          <a:p xmlns:a="http://schemas.openxmlformats.org/drawingml/2006/main">
            <a:r>
              <a:rPr lang="en-US" sz="1300" b="0">
                <a:solidFill>
                  <a:srgbClr val="5A3500"/>
                </a:solidFill>
              </a:rPr>
              <a:t>Edit .env  →  Set WATSONX_API_KEY + WATSONX_PROJECT_ID</a:t>
            </a:r>
          </a:p>
          <a:p xmlns:a="http://schemas.openxmlformats.org/drawingml/2006/main">
            <a:r>
              <a:rPr lang="en-US" sz="1300" b="0">
                <a:solidFill>
                  <a:srgbClr val="5A3500"/>
                </a:solidFill>
              </a:rPr>
              <a:t>https://cloud.ibm.com/iam/apikeys</a:t>
            </a:r>
          </a:p>
        </p:txBody>
      </p:sp>
      <p:sp>
        <p:nvSpPr>
          <p:cNvPr id="100107" name="DemoNote"/>
          <p:cNvSpPr txBox="1"/>
          <p:nvPr/>
        </p:nvSpPr>
        <p:spPr>
          <a:xfrm xmlns:a="http://schemas.openxmlformats.org/drawingml/2006/main">
            <a:off x="720000" y="3600000"/>
            <a:ext cx="5040000" cy="540000"/>
          </a:xfrm>
          <a:prstGeom xmlns:a="http://schemas.openxmlformats.org/drawingml/2006/main" prst="rect">
            <a:avLst/>
          </a:prstGeom>
          <a:solidFill xmlns:a="http://schemas.openxmlformats.org/drawingml/2006/main">
            <a:srgbClr val="CCFFDD"/>
          </a:solidFill>
        </p:spPr>
        <p:txBody>
          <a:bodyPr xmlns:a="http://schemas.openxmlformats.org/drawingml/2006/main"/>
          <a:lstStyle xmlns:a="http://schemas.openxmlformats.org/drawingml/2006/main"/>
          <a:p xmlns:a="http://schemas.openxmlformats.org/drawingml/2006/main">
            <a:r>
              <a:rPr lang="en-US" sz="1400" b="0">
                <a:solidFill>
                  <a:srgbClr val="0A4A1A"/>
                </a:solidFill>
              </a:rPr>
              <a:t>No API key needed — app runs in Demo Mode with full built-in nutrition intelligence.</a:t>
            </a:r>
          </a:p>
        </p:txBody>
      </p:sp>
    </p:spTree>
  </p:cSld>
  <p:transition xmlns:p="http://schemas.openxmlformats.org/presentationml/2006/main" spd="fast" advClick="0" advTm="10000"/>
</p:sld>
</file>

<file path=ppt/slides/slide15.xml><?xml version="1.0" encoding="utf-8"?>
<p:sld xmlns:p="http://schemas.openxmlformats.org/presentationml/2006/main">
  <p:cSld>
    <p:bg>
      <p:bgPr>
        <a:solidFill xmlns:a="http://schemas.openxmlformats.org/drawingml/2006/main">
          <a:srgbClr val="0F3460"/>
        </a:solidFill>
      </p:bgPr>
    </p:bg>
    <p:spTree>
      <p:nvGrpSpPr>
        <p:cNvPr id="1" name=""/>
        <p:cNvGrpSpPr/>
        <p:nvPr/>
      </p:nvGrpSpPr>
      <p:grpSpPr/>
      <p:sp>
        <p:nvSpPr>
          <p:cNvPr id="100108" name="Accent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09" name="BotBar"/>
          <p:cNvSpPr txBox="1"/>
          <p:nvPr/>
        </p:nvSpPr>
        <p:spPr>
          <a:xfrm xmlns:a="http://schemas.openxmlformats.org/drawingml/2006/main">
            <a:off x="0" y="6516000"/>
            <a:ext cx="121932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IBM Granite LLM  |  IBM watsonx.ai  |  Python / Flask  |  GitHub: jigarnakarani/Nutrition-Agentic-AI-</a:t>
            </a:r>
          </a:p>
        </p:txBody>
      </p:sp>
      <p:sp>
        <p:nvSpPr>
          <p:cNvPr id="100110" name="TY"/>
          <p:cNvSpPr txBox="1"/>
          <p:nvPr/>
        </p:nvSpPr>
        <p:spPr>
          <a:xfrm xmlns:a="http://schemas.openxmlformats.org/drawingml/2006/main">
            <a:off x="720000" y="720000"/>
            <a:ext cx="10440000" cy="12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6600" b="1">
                <a:solidFill>
                  <a:srgbClr val="FFFFFF"/>
                </a:solidFill>
                <a:latin typeface="Calibri"/>
                <a:ea typeface="Calibri"/>
              </a:rPr>
              <a:t>Thank You!</a:t>
            </a:r>
          </a:p>
        </p:txBody>
      </p:sp>
      <p:sp>
        <p:nvSpPr>
          <p:cNvPr id="100111" name="Project"/>
          <p:cNvSpPr txBox="1"/>
          <p:nvPr/>
        </p:nvSpPr>
        <p:spPr>
          <a:xfrm xmlns:a="http://schemas.openxmlformats.org/drawingml/2006/main">
            <a:off x="720000" y="2088000"/>
            <a:ext cx="1044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0">
                <a:solidFill>
                  <a:srgbClr val="AADDFF"/>
                </a:solidFill>
                <a:latin typeface="Calibri"/>
                <a:ea typeface="Calibri"/>
              </a:rPr>
              <a:t>NutriBot AI — Nutrition Agentic AI Application</a:t>
            </a:r>
          </a:p>
        </p:txBody>
      </p:sp>
      <p:sp>
        <p:nvSpPr>
          <p:cNvPr id="100112" name="Built"/>
          <p:cNvSpPr txBox="1"/>
          <p:nvPr/>
        </p:nvSpPr>
        <p:spPr>
          <a:xfrm xmlns:a="http://schemas.openxmlformats.org/drawingml/2006/main">
            <a:off x="720000" y="2736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7DB3FF"/>
                </a:solidFill>
                <a:latin typeface="Calibri"/>
                <a:ea typeface="Calibri"/>
              </a:rPr>
              <a:t>IBM Granite LLM  •  IBM watsonx.ai  •  Python  •  Flask  •  HTML5 / CSS3 / JS</a:t>
            </a:r>
          </a:p>
        </p:txBody>
      </p:sp>
      <p:sp>
        <p:nvSpPr>
          <p:cNvPr id="100113" name="Repo"/>
          <p:cNvSpPr txBox="1"/>
          <p:nvPr/>
        </p:nvSpPr>
        <p:spPr>
          <a:xfrm xmlns:a="http://schemas.openxmlformats.org/drawingml/2006/main">
            <a:off x="720000" y="3348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00FF88"/>
                </a:solidFill>
                <a:latin typeface="Courier New"/>
                <a:ea typeface="Courier New"/>
              </a:rPr>
              <a:t>github.com/jigarnakarani/Nutrition-Agentic-AI-</a:t>
            </a:r>
          </a:p>
        </p:txBody>
      </p:sp>
      <p:sp>
        <p:nvSpPr>
          <p:cNvPr id="100114" name="Stats"/>
          <p:cNvSpPr txBox="1"/>
          <p:nvPr/>
        </p:nvSpPr>
        <p:spPr>
          <a:xfrm xmlns:a="http://schemas.openxmlformats.org/drawingml/2006/main">
            <a:off x="720000" y="3960000"/>
            <a:ext cx="104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0">
                <a:solidFill>
                  <a:srgbClr val="AADDFF"/>
                </a:solidFill>
                <a:latin typeface="Calibri"/>
                <a:ea typeface="Calibri"/>
              </a:rPr>
              <a:t>15 Slides  •  150 Seconds  •  7 SDLC Phases  •  5 IBM Ethics Principles  •  7-Day Meal Plan  •  Chat Agent</a:t>
            </a:r>
          </a:p>
        </p:txBody>
      </p:sp>
      <p:sp>
        <p:nvSpPr>
          <p:cNvPr id="100115" name="Tagline"/>
          <p:cNvSpPr txBox="1"/>
          <p:nvPr/>
        </p:nvSpPr>
        <p:spPr>
          <a:xfrm xmlns:a="http://schemas.openxmlformats.org/drawingml/2006/main">
            <a:off x="720000" y="4500000"/>
            <a:ext cx="1044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0">
                <a:solidFill>
                  <a:srgbClr val="CCFFCC"/>
                </a:solidFill>
                <a:latin typeface="Calibri"/>
                <a:ea typeface="Calibri"/>
              </a:rPr>
              <a:t>Personalised  •  Medical-Aware  •  Ethics-First  •  Agentic  •  Open Source</a:t>
            </a:r>
          </a:p>
        </p:txBody>
      </p:sp>
      <p:sp>
        <p:nvSpPr>
          <p:cNvPr id="100116" name="Disc"/>
          <p:cNvSpPr txBox="1"/>
          <p:nvPr/>
        </p:nvSpPr>
        <p:spPr>
          <a:xfrm xmlns:a="http://schemas.openxmlformats.org/drawingml/2006/main">
            <a:off x="720000" y="5760000"/>
            <a:ext cx="1044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0">
                <a:solidFill>
                  <a:srgbClr val="888888"/>
                </a:solidFill>
                <a:latin typeface="Calibri"/>
                <a:ea typeface="Calibri"/>
              </a:rPr>
              <a:t>For informational purposes only. Not medical advice. Consult a healthcare professional before dietary changes.</a:t>
            </a:r>
          </a:p>
        </p:txBody>
      </p:sp>
    </p:spTree>
  </p:cSld>
  <p:transition xmlns:p="http://schemas.openxmlformats.org/presentationml/2006/main" spd="fast" advClick="0" advTm="10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OfficeCLI/1.0.157</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2026-10-13T09:07:42Z</dcterms:created>
  <cp:lastModifiedBy>OfficeCLI</cp:lastModifiedBy>
  <dcterms:modified xsi:type="dcterms:W3CDTF">2026-10-13T09:07:42Z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2026-10-13T09:13:50Z</vt:lpwstr>
  </op:property>
</op:Properties>
</file>