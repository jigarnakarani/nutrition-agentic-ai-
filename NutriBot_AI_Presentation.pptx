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625d1279b0f245fb" /><Relationship Type="http://schemas.openxmlformats.org/package/2006/relationships/metadata/core-properties" Target="/docProps/core.xml" Id="R2c6fdf5cc0414da5" /><Relationship Type="http://schemas.openxmlformats.org/officeDocument/2006/relationships/extended-properties" Target="/docProps/app.xml" Id="R8ab01cab166f4327" /><Relationship Type="http://schemas.openxmlformats.org/officeDocument/2006/relationships/custom-properties" Target="/docProps/custom.xml" Id="Rdd5f1fe01582444d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notesMasterIdLst>
    <p:notesMasterId r:id="Ra369d00eb71d47cf"/>
  </p:notesMasterIdLst>
  <p:sldIdLst>
    <p:sldId id="256" r:id="Rb380b61cdcbd436a"/>
    <p:sldId id="257" r:id="Rf5c85d4a5bf94bbf"/>
    <p:sldId id="258" r:id="Re0ba840bcdc94233"/>
    <p:sldId id="259" r:id="R9f92de55489946b6"/>
    <p:sldId id="260" r:id="R3b7a071929be4e36"/>
    <p:sldId id="261" r:id="Rb1cb6fa6e2054f8b"/>
    <p:sldId id="262" r:id="R94e071803cfe4232"/>
    <p:sldId id="263" r:id="R7cb85abe4345469c"/>
    <p:sldId id="264" r:id="R10f73ceae5324076"/>
    <p:sldId id="265" r:id="R4ede11fc381a4454"/>
    <p:sldId id="266" r:id="Rebcc67b0c6bb4bae"/>
    <p:sldId id="267" r:id="Re2e3fb109b5746c9"/>
    <p:sldId id="268" r:id="R3be1860083d04239"/>
    <p:sldId id="269" r:id="Rc67d48d5e807496b"/>
    <p:sldId id="270" r:id="Rd1e1a46673864ab3"/>
    <p:sldId id="271" r:id="R757b4f64dbd749ca"/>
    <p:sldId id="272" r:id="Ra145632a625e4938"/>
    <p:sldId id="273" r:id="Rc0a7a8eed0d64283"/>
    <p:sldId id="274" r:id="R07858ed6b0534409"/>
    <p:sldId id="275" r:id="R610affcfd59f4264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b380b61cdcbd436a" /><Relationship Type="http://schemas.openxmlformats.org/officeDocument/2006/relationships/notesMaster" Target="/ppt/notesMasters/notesMaster1.xml" Id="Ra369d00eb71d47cf" /><Relationship Type="http://schemas.openxmlformats.org/officeDocument/2006/relationships/slide" Target="/ppt/slides/slide2.xml" Id="Rf5c85d4a5bf94bbf" /><Relationship Type="http://schemas.openxmlformats.org/officeDocument/2006/relationships/slide" Target="/ppt/slides/slide3.xml" Id="Re0ba840bcdc94233" /><Relationship Type="http://schemas.openxmlformats.org/officeDocument/2006/relationships/slide" Target="/ppt/slides/slide4.xml" Id="R9f92de55489946b6" /><Relationship Type="http://schemas.openxmlformats.org/officeDocument/2006/relationships/slide" Target="/ppt/slides/slide5.xml" Id="R3b7a071929be4e36" /><Relationship Type="http://schemas.openxmlformats.org/officeDocument/2006/relationships/slide" Target="/ppt/slides/slide6.xml" Id="Rb1cb6fa6e2054f8b" /><Relationship Type="http://schemas.openxmlformats.org/officeDocument/2006/relationships/slide" Target="/ppt/slides/slide7.xml" Id="R94e071803cfe4232" /><Relationship Type="http://schemas.openxmlformats.org/officeDocument/2006/relationships/slide" Target="/ppt/slides/slide8.xml" Id="R7cb85abe4345469c" /><Relationship Type="http://schemas.openxmlformats.org/officeDocument/2006/relationships/slide" Target="/ppt/slides/slide9.xml" Id="R10f73ceae5324076" /><Relationship Type="http://schemas.openxmlformats.org/officeDocument/2006/relationships/slide" Target="/ppt/slides/slide10.xml" Id="R4ede11fc381a4454" /><Relationship Type="http://schemas.openxmlformats.org/officeDocument/2006/relationships/slide" Target="/ppt/slides/slide11.xml" Id="Rebcc67b0c6bb4bae" /><Relationship Type="http://schemas.openxmlformats.org/officeDocument/2006/relationships/slide" Target="/ppt/slides/slide12.xml" Id="Re2e3fb109b5746c9" /><Relationship Type="http://schemas.openxmlformats.org/officeDocument/2006/relationships/slide" Target="/ppt/slides/slide13.xml" Id="R3be1860083d04239" /><Relationship Type="http://schemas.openxmlformats.org/officeDocument/2006/relationships/slide" Target="/ppt/slides/slide14.xml" Id="Rc67d48d5e807496b" /><Relationship Type="http://schemas.openxmlformats.org/officeDocument/2006/relationships/slide" Target="/ppt/slides/slide15.xml" Id="Rd1e1a46673864ab3" /><Relationship Type="http://schemas.openxmlformats.org/officeDocument/2006/relationships/slide" Target="/ppt/slides/slide16.xml" Id="R757b4f64dbd749ca" /><Relationship Type="http://schemas.openxmlformats.org/officeDocument/2006/relationships/slide" Target="/ppt/slides/slide17.xml" Id="Ra145632a625e4938" /><Relationship Type="http://schemas.openxmlformats.org/officeDocument/2006/relationships/slide" Target="/ppt/slides/slide18.xml" Id="Rc0a7a8eed0d64283" /><Relationship Type="http://schemas.openxmlformats.org/officeDocument/2006/relationships/slide" Target="/ppt/slides/slide19.xml" Id="R07858ed6b0534409" /><Relationship Type="http://schemas.openxmlformats.org/officeDocument/2006/relationships/slide" Target="/ppt/slides/slide20.xml" Id="R610affcfd59f426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b6be1410abec4bf3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1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3429000"/>
            <a:ext cx="5486400" cy="411480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2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fa8acf7b80374cd3" /><Relationship Type="http://schemas.openxmlformats.org/officeDocument/2006/relationships/slide" Target="/ppt/slides/slide1.xml" Id="R2febdacf21d1480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4cd1df9c7e534830" /><Relationship Type="http://schemas.openxmlformats.org/officeDocument/2006/relationships/slide" Target="/ppt/slides/slide2.xml" Id="R62c8d3f0e9b24e4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4cb14683ea914a09" /><Relationship Type="http://schemas.openxmlformats.org/officeDocument/2006/relationships/slide" Target="/ppt/slides/slide3.xml" Id="Rff1137324c05468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ef968cddc72e41b0" /><Relationship Type="http://schemas.openxmlformats.org/officeDocument/2006/relationships/slide" Target="/ppt/slides/slide4.xml" Id="Rd4ddd7d79bf0437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7ad68f88319447ad" /><Relationship Type="http://schemas.openxmlformats.org/officeDocument/2006/relationships/slide" Target="/ppt/slides/slide5.xml" Id="Rd020b6a5b62c483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c29d0f2a2de2404d" /><Relationship Type="http://schemas.openxmlformats.org/officeDocument/2006/relationships/slide" Target="/ppt/slides/slide6.xml" Id="R199f5a54ecdd42e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9e353dd087404d05" /><Relationship Type="http://schemas.openxmlformats.org/officeDocument/2006/relationships/slide" Target="/ppt/slides/slide7.xml" Id="Rc8fe5dda096f4b2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b91b5bdf00154879" /><Relationship Type="http://schemas.openxmlformats.org/officeDocument/2006/relationships/slide" Target="/ppt/slides/slide8.xml" Id="Rcb2b85b97cf3423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cbd3512cf2d248eb" /><Relationship Type="http://schemas.openxmlformats.org/officeDocument/2006/relationships/slide" Target="/ppt/slides/slide9.xml" Id="Rfefc3da49df4441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b424488d495749d1" /><Relationship Type="http://schemas.openxmlformats.org/officeDocument/2006/relationships/slide" Target="/ppt/slides/slide10.xml" Id="R74db399377cc49e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2fff0d2828af4148" /><Relationship Type="http://schemas.openxmlformats.org/officeDocument/2006/relationships/slide" Target="/ppt/slides/slide11.xml" Id="R088f712f79e64a7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1ec2bde2f82e47e6" /><Relationship Type="http://schemas.openxmlformats.org/officeDocument/2006/relationships/slide" Target="/ppt/slides/slide12.xml" Id="Rc4330ed6049b46b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a36207523bc542b3" /><Relationship Type="http://schemas.openxmlformats.org/officeDocument/2006/relationships/slide" Target="/ppt/slides/slide13.xml" Id="R9c36e383e0d4415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b62363b2e7064e9d" /><Relationship Type="http://schemas.openxmlformats.org/officeDocument/2006/relationships/slide" Target="/ppt/slides/slide14.xml" Id="Rae634226b91945b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413153822e61484f" /><Relationship Type="http://schemas.openxmlformats.org/officeDocument/2006/relationships/slide" Target="/ppt/slides/slide15.xml" Id="R1d44574a9e1946e7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66a8ad1a9d4e4a0c" /><Relationship Type="http://schemas.openxmlformats.org/officeDocument/2006/relationships/slide" Target="/ppt/slides/slide16.xml" Id="Rc8c9ba7c41c64e94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7deb721d5e5e4d23" /><Relationship Type="http://schemas.openxmlformats.org/officeDocument/2006/relationships/slide" Target="/ppt/slides/slide17.xml" Id="Rc9265eb8aea544be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4de4716ab99b4736" /><Relationship Type="http://schemas.openxmlformats.org/officeDocument/2006/relationships/slide" Target="/ppt/slides/slide18.xml" Id="R19b0b11e7549438e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7cd55a99014f4dfb" /><Relationship Type="http://schemas.openxmlformats.org/officeDocument/2006/relationships/slide" Target="/ppt/slides/slide19.xml" Id="Rac7efd7176e141fc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310582c055154745" /><Relationship Type="http://schemas.openxmlformats.org/officeDocument/2006/relationships/slide" Target="/ppt/slides/slide20.xml" Id="Rd77b613dac8a40d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Title slide. NutriBot AI is a full-stack Agentic AI web application powered by IBM Granite LLM that generates personalised 7-day nutrition plans.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Agenda slide covering all 15 key topics of the NutriBot AI Agentic application.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NutriBot AI is an Agentic AI application powered by IBM Granite LLM. It collects user profile data (name, age, diet, medical history, location), reasons autonomously, and outputs a complete structured 7-day nutrition plan with medical guardrails.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The problem is the gap between generic diet advice and personalised medical-grade nutrition guidance. NutriBot AI bridges this with IBM Granite LLM.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NutriBot AI follows all 7 phases of the Agentic AI SDLC: Problem Scoping, Data &amp; Context, Agent Design, Guardrail Integration, Tool Use, Evaluation, and Deployment.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Three-tier architecture: Presentation (HTML/JS) → Flask API Gateway with guardrails → IBM Granite LLM on watsonx.ai cloud. Plans are saved to the local filesystem as .md files.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IBM Granite-13b-instruct-v2 is used with a carefully designed system prompt that enforces the HAM (Helpful, Accountable, Mindful) framework. Generation parameters balance creativity with factual accuracy.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8 key features: 7-day meal plan, medical-aware planning, location-aware meals, chat agent, .md export, AI ethics guardrails, demo mode, and responsive UI.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The main web interface has a header navigation bar, a hero section, and a two-panel layout: left panel is the user profile form, right panel shows the generated nutrition plan.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The user profile form captures 5 steps: personal info, location, diet preference, medical history, and health goal/activity. This data is sent as a JSON payload to the Flask API which forwards it to IBM Granite.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This shows the generated plan output screen. The toolbar has Download .md, Copy, and Print buttons. The model badge shows which IBM Granite model was used. Day 1 Foundation Day is shown.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Complete 7-day meal plan for Priya Patel. Each day has a theme: Foundation, Protein Focus, Fiber Rich, Anti-Inflammatory, Heart Health, Detox, Rest &amp; Restore. Full details from the generated .md output file.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Macronutrient targets are calibrated for Priya's diabetes and hypertension. Carbohydrates are low-GI restricted to 150-180g. Five personalised nutrition tips and nine foods to avoid are derived from medical history.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The NutriBot Chat Agent tab provides conversational AI powered by IBM Granite. Quick question buttons are pre-loaded. The agent uses session context from the generated plan to give personalised answers.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NutriBot AI implements all 5 IBM AI Ethics principles and the HAM framework. 12 harmful content categories are blocked. Medical disclaimer is mandatory on every generated plan.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Every generated plan includes a mandatory medical disclaimer. Supplement recommendations and a hydration plan are also included with doctor-first guidance.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The .md file export feature saves the complete plan with the medical disclaimer as a GitHub Flavored Markdown file. It can be opened in VS Code, Notion, GitHub, or any Markdown viewer.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The GitHub repository contains all 12 project files. Deployment is a single double-click on run.bat for Windows. Manual deployment works on any OS with Python 3.11+.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Full tech stack: IBM Granite LLM on watsonx.ai for AI, Python/Flask for backend, HTML5/CSS3/Vanilla JS for frontend, and GitHub for version control. Run.bat provides zero-config Windows deployment.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Closing slide. NutriBot AI is a complete Agentic AI application following all 7 SDLC phases with IBM Granite LLM, 5 IBM AI Ethics principles, HAM framework, and medical guardrails.</a:t>
            </a:r>
          </a:p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38fe6ad849f441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26303b58ee4d5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b137a6e893a4f2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7d235de9c21448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6725020f784acb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ddb4256cd7764823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9f863cdfeb434b" /><Relationship Type="http://schemas.openxmlformats.org/officeDocument/2006/relationships/notesSlide" Target="/ppt/notesSlides/notesSlide1.xml" Id="R09159563cb144a4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9dc74b6373425f" /><Relationship Type="http://schemas.openxmlformats.org/officeDocument/2006/relationships/notesSlide" Target="/ppt/notesSlides/notesSlide2.xml" Id="R3fbaa7ac5dc44ee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cab8a1c0af4ffb" /><Relationship Type="http://schemas.openxmlformats.org/officeDocument/2006/relationships/notesSlide" Target="/ppt/notesSlides/notesSlide3.xml" Id="R0547aac93a014aa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a4fdf8f0f247af" /><Relationship Type="http://schemas.openxmlformats.org/officeDocument/2006/relationships/notesSlide" Target="/ppt/notesSlides/notesSlide4.xml" Id="Rf2b4e592c98a4f8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6be0c0763f43b3" /><Relationship Type="http://schemas.openxmlformats.org/officeDocument/2006/relationships/notesSlide" Target="/ppt/notesSlides/notesSlide5.xml" Id="R81f6bd54133a4cc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627be07f064cfc" /><Relationship Type="http://schemas.openxmlformats.org/officeDocument/2006/relationships/notesSlide" Target="/ppt/notesSlides/notesSlide6.xml" Id="Re801a289d74343d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f47f96ecd844f1" /><Relationship Type="http://schemas.openxmlformats.org/officeDocument/2006/relationships/notesSlide" Target="/ppt/notesSlides/notesSlide7.xml" Id="R458304e8dba74c1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eb59f7c5dd4d7e" /><Relationship Type="http://schemas.openxmlformats.org/officeDocument/2006/relationships/notesSlide" Target="/ppt/notesSlides/notesSlide8.xml" Id="R2bfe91ad8ac44a7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6d1a79632e4dd9" /><Relationship Type="http://schemas.openxmlformats.org/officeDocument/2006/relationships/notesSlide" Target="/ppt/notesSlides/notesSlide9.xml" Id="R3ac25c5eea7945c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0d527189044e80" /><Relationship Type="http://schemas.openxmlformats.org/officeDocument/2006/relationships/notesSlide" Target="/ppt/notesSlides/notesSlide10.xml" Id="R486c12b370824c4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1e5dc1b64e4e8e" /><Relationship Type="http://schemas.openxmlformats.org/officeDocument/2006/relationships/notesSlide" Target="/ppt/notesSlides/notesSlide11.xml" Id="Rdcd0c66656ee46b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ea779c37164e9b" /><Relationship Type="http://schemas.openxmlformats.org/officeDocument/2006/relationships/notesSlide" Target="/ppt/notesSlides/notesSlide12.xml" Id="R38d54aaa70f4477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7c00e5dcc94f46" /><Relationship Type="http://schemas.openxmlformats.org/officeDocument/2006/relationships/notesSlide" Target="/ppt/notesSlides/notesSlide13.xml" Id="Rc69628e411b041f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71626e1e264dc2" /><Relationship Type="http://schemas.openxmlformats.org/officeDocument/2006/relationships/notesSlide" Target="/ppt/notesSlides/notesSlide14.xml" Id="R2373fa343720418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88655093b749d1" /><Relationship Type="http://schemas.openxmlformats.org/officeDocument/2006/relationships/notesSlide" Target="/ppt/notesSlides/notesSlide15.xml" Id="R8c6fa8a731ec4f4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9f8a5e6b294c47" /><Relationship Type="http://schemas.openxmlformats.org/officeDocument/2006/relationships/notesSlide" Target="/ppt/notesSlides/notesSlide16.xml" Id="R2a1215ab80bd43ea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3b5e6366fc4eb2" /><Relationship Type="http://schemas.openxmlformats.org/officeDocument/2006/relationships/notesSlide" Target="/ppt/notesSlides/notesSlide17.xml" Id="Rd50fabdfba944a3a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15660659b749db" /><Relationship Type="http://schemas.openxmlformats.org/officeDocument/2006/relationships/notesSlide" Target="/ppt/notesSlides/notesSlide18.xml" Id="R5e4e1ee205a141b0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997fe9d8ee45d8" /><Relationship Type="http://schemas.openxmlformats.org/officeDocument/2006/relationships/notesSlide" Target="/ppt/notesSlides/notesSlide19.xml" Id="R5559eaf716c54eec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c3e51b680a4d6f" /><Relationship Type="http://schemas.openxmlformats.org/officeDocument/2006/relationships/notesSlide" Target="/ppt/notesSlides/notesSlide20.xml" Id="R81677ea5177c4dc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F3460"/>
        </a:solidFill>
      </p:bgPr>
    </p:bg>
    <p:spTree>
      <p:nvGrpSpPr>
        <p:cNvPr id="1" name=""/>
        <p:cNvGrpSpPr/>
        <p:nvPr/>
      </p:nvGrpSpPr>
      <p:grpSpPr/>
      <p:sp>
        <p:nvSpPr>
          <p:cNvPr id="100000" name="TopBar"/>
          <p:cNvSpPr txBox="1"/>
          <p:nvPr/>
        </p:nvSpPr>
        <p:spPr>
          <a:xfrm xmlns:a="http://schemas.openxmlformats.org/drawingml/2006/main">
            <a:off x="0" y="0"/>
            <a:ext cx="12193200" cy="3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2F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1000">
              <a:solidFill>
                <a:srgbClr val="FFFFFF"/>
              </a:solidFill>
            </a:endParaRPr>
          </a:p>
        </p:txBody>
      </p:sp>
      <p:sp>
        <p:nvSpPr>
          <p:cNvPr id="100001" name="BottomBar"/>
          <p:cNvSpPr txBox="1"/>
          <p:nvPr/>
        </p:nvSpPr>
        <p:spPr>
          <a:xfrm xmlns:a="http://schemas.openxmlformats.org/drawingml/2006/main">
            <a:off x="0" y="6588000"/>
            <a:ext cx="12193200" cy="28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2F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0">
                <a:solidFill>
                  <a:srgbClr val="FFFFFF"/>
                </a:solidFill>
              </a:rPr>
              <a:t>IBM Granite LLM  |  Agentic AI  |  Responsible AI  |  watsonx.ai</a:t>
            </a:r>
          </a:p>
        </p:txBody>
      </p:sp>
      <p:sp>
        <p:nvSpPr>
          <p:cNvPr id="100002" name="MainTitle"/>
          <p:cNvSpPr txBox="1"/>
          <p:nvPr/>
        </p:nvSpPr>
        <p:spPr>
          <a:xfrm xmlns:a="http://schemas.openxmlformats.org/drawingml/2006/main">
            <a:off x="720000" y="1260000"/>
            <a:ext cx="10800000" cy="12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6400" b="1">
                <a:solidFill>
                  <a:srgbClr val="FFFFFF"/>
                </a:solidFill>
                <a:latin typeface="Calibri"/>
                <a:ea typeface="Calibri"/>
              </a:rPr>
              <a:t>NutriBot AI</a:t>
            </a:r>
          </a:p>
        </p:txBody>
      </p:sp>
      <p:sp>
        <p:nvSpPr>
          <p:cNvPr id="100003" name="Subtitle"/>
          <p:cNvSpPr txBox="1"/>
          <p:nvPr/>
        </p:nvSpPr>
        <p:spPr>
          <a:xfrm xmlns:a="http://schemas.openxmlformats.org/drawingml/2006/main">
            <a:off x="720000" y="2592000"/>
            <a:ext cx="10800000" cy="64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000" b="0">
                <a:solidFill>
                  <a:srgbClr val="A8C8FF"/>
                </a:solidFill>
                <a:latin typeface="Calibri"/>
                <a:ea typeface="Calibri"/>
              </a:rPr>
              <a:t>Nutrition Agentic AI Application</a:t>
            </a:r>
          </a:p>
        </p:txBody>
      </p:sp>
      <p:sp>
        <p:nvSpPr>
          <p:cNvPr id="100004" name="SubLine"/>
          <p:cNvSpPr txBox="1"/>
          <p:nvPr/>
        </p:nvSpPr>
        <p:spPr>
          <a:xfrm xmlns:a="http://schemas.openxmlformats.org/drawingml/2006/main">
            <a:off x="720000" y="3312000"/>
            <a:ext cx="1080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0">
                <a:solidFill>
                  <a:srgbClr val="7DB3FF"/>
                </a:solidFill>
                <a:latin typeface="Calibri"/>
                <a:ea typeface="Calibri"/>
              </a:rPr>
              <a:t>Powered by IBM Granite LLM  |  IBM watsonx.ai  |  Flask  |  Python</a:t>
            </a:r>
          </a:p>
        </p:txBody>
      </p:sp>
      <p:sp>
        <p:nvSpPr>
          <p:cNvPr id="100005" name="TagLine"/>
          <p:cNvSpPr txBox="1"/>
          <p:nvPr/>
        </p:nvSpPr>
        <p:spPr>
          <a:xfrm xmlns:a="http://schemas.openxmlformats.org/drawingml/2006/main">
            <a:off x="720000" y="3780000"/>
            <a:ext cx="1080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 b="0">
                <a:solidFill>
                  <a:srgbClr val="AADDAA"/>
                </a:solidFill>
                <a:latin typeface="Calibri"/>
                <a:ea typeface="Calibri"/>
              </a:rPr>
              <a:t>Personalised  •  Medical-Aware  •  Ethics-First  •  Agentic</a:t>
            </a:r>
          </a:p>
        </p:txBody>
      </p:sp>
      <p:sp>
        <p:nvSpPr>
          <p:cNvPr id="100006" name="GithubLine"/>
          <p:cNvSpPr txBox="1"/>
          <p:nvPr/>
        </p:nvSpPr>
        <p:spPr>
          <a:xfrm xmlns:a="http://schemas.openxmlformats.org/drawingml/2006/main">
            <a:off x="720000" y="4500000"/>
            <a:ext cx="10800000" cy="28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88BBFF"/>
                </a:solidFill>
                <a:latin typeface="Calibri"/>
                <a:ea typeface="Calibri"/>
              </a:rPr>
              <a:t>github.com/jigarnakarani/Nutrition-Agentic-AI-</a:t>
            </a:r>
          </a:p>
        </p:txBody>
      </p:sp>
    </p:spTree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07" name="TopBar"/>
          <p:cNvSpPr txBox="1"/>
          <p:nvPr/>
        </p:nvSpPr>
        <p:spPr>
          <a:xfrm xmlns:a="http://schemas.openxmlformats.org/drawingml/2006/main">
            <a:off x="0" y="0"/>
            <a:ext cx="12193200" cy="50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346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 b="1">
                <a:solidFill>
                  <a:srgbClr val="FFFFFF"/>
                </a:solidFill>
              </a:rPr>
              <a:t>NutriBot AI — Presentation Agenda</a:t>
            </a:r>
          </a:p>
        </p:txBody>
      </p:sp>
      <p:sp>
        <p:nvSpPr>
          <p:cNvPr id="100008" name="BottomBar"/>
          <p:cNvSpPr txBox="1"/>
          <p:nvPr/>
        </p:nvSpPr>
        <p:spPr>
          <a:xfrm xmlns:a="http://schemas.openxmlformats.org/drawingml/2006/main">
            <a:off x="0" y="6588000"/>
            <a:ext cx="12193200" cy="28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2F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>
                <a:solidFill>
                  <a:srgbClr val="FFFFFF"/>
                </a:solidFill>
              </a:rPr>
              <a:t>IBM Granite LLM  |  Agentic AI Application</a:t>
            </a:r>
          </a:p>
        </p:txBody>
      </p:sp>
      <p:sp>
        <p:nvSpPr>
          <p:cNvPr id="100009" name="Col1"/>
          <p:cNvSpPr txBox="1"/>
          <p:nvPr/>
        </p:nvSpPr>
        <p:spPr>
          <a:xfrm xmlns:a="http://schemas.openxmlformats.org/drawingml/2006/main">
            <a:off x="720000" y="720000"/>
            <a:ext cx="5040000" cy="50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900" b="0">
                <a:solidFill>
                  <a:srgbClr val="0F3460"/>
                </a:solidFill>
                <a:latin typeface="Calibri"/>
                <a:ea typeface="Calibri"/>
              </a:rPr>
              <a:t>01  Project Overview</a:t>
            </a:r>
          </a:p>
          <a:p xmlns:a="http://schemas.openxmlformats.org/drawingml/2006/main">
            <a:r>
              <a:rPr lang="en-US" sz="1900" b="0">
                <a:solidFill>
                  <a:srgbClr val="0F3460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900" b="0">
                <a:solidFill>
                  <a:srgbClr val="0F3460"/>
                </a:solidFill>
                <a:latin typeface="Calibri"/>
                <a:ea typeface="Calibri"/>
              </a:rPr>
              <a:t>02  Problem Statement</a:t>
            </a:r>
          </a:p>
          <a:p xmlns:a="http://schemas.openxmlformats.org/drawingml/2006/main">
            <a:r>
              <a:rPr lang="en-US" sz="1900" b="0">
                <a:solidFill>
                  <a:srgbClr val="0F3460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900" b="0">
                <a:solidFill>
                  <a:srgbClr val="0F3460"/>
                </a:solidFill>
                <a:latin typeface="Calibri"/>
                <a:ea typeface="Calibri"/>
              </a:rPr>
              <a:t>03  Agentic AI SDLC Phases</a:t>
            </a:r>
          </a:p>
          <a:p xmlns:a="http://schemas.openxmlformats.org/drawingml/2006/main">
            <a:r>
              <a:rPr lang="en-US" sz="1900" b="0">
                <a:solidFill>
                  <a:srgbClr val="0F3460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900" b="0">
                <a:solidFill>
                  <a:srgbClr val="0F3460"/>
                </a:solidFill>
                <a:latin typeface="Calibri"/>
                <a:ea typeface="Calibri"/>
              </a:rPr>
              <a:t>04  System Architecture</a:t>
            </a:r>
          </a:p>
          <a:p xmlns:a="http://schemas.openxmlformats.org/drawingml/2006/main">
            <a:r>
              <a:rPr lang="en-US" sz="1900" b="0">
                <a:solidFill>
                  <a:srgbClr val="0F3460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900" b="0">
                <a:solidFill>
                  <a:srgbClr val="0F3460"/>
                </a:solidFill>
                <a:latin typeface="Calibri"/>
                <a:ea typeface="Calibri"/>
              </a:rPr>
              <a:t>05  IBM Granite LLM</a:t>
            </a:r>
          </a:p>
        </p:txBody>
      </p:sp>
      <p:sp>
        <p:nvSpPr>
          <p:cNvPr id="100010" name="Col2"/>
          <p:cNvSpPr txBox="1"/>
          <p:nvPr/>
        </p:nvSpPr>
        <p:spPr>
          <a:xfrm xmlns:a="http://schemas.openxmlformats.org/drawingml/2006/main">
            <a:off x="6120000" y="720000"/>
            <a:ext cx="5040000" cy="50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900" b="0">
                <a:solidFill>
                  <a:srgbClr val="0F3460"/>
                </a:solidFill>
                <a:latin typeface="Calibri"/>
                <a:ea typeface="Calibri"/>
              </a:rPr>
              <a:t>06  Key Features</a:t>
            </a:r>
          </a:p>
          <a:p xmlns:a="http://schemas.openxmlformats.org/drawingml/2006/main">
            <a:r>
              <a:rPr lang="en-US" sz="1900" b="0">
                <a:solidFill>
                  <a:srgbClr val="0F3460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900" b="0">
                <a:solidFill>
                  <a:srgbClr val="0F3460"/>
                </a:solidFill>
                <a:latin typeface="Calibri"/>
                <a:ea typeface="Calibri"/>
              </a:rPr>
              <a:t>07  Web Application UI</a:t>
            </a:r>
          </a:p>
          <a:p xmlns:a="http://schemas.openxmlformats.org/drawingml/2006/main">
            <a:r>
              <a:rPr lang="en-US" sz="1900" b="0">
                <a:solidFill>
                  <a:srgbClr val="0F3460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900" b="0">
                <a:solidFill>
                  <a:srgbClr val="0F3460"/>
                </a:solidFill>
                <a:latin typeface="Calibri"/>
                <a:ea typeface="Calibri"/>
              </a:rPr>
              <a:t>08  User Profile Collection</a:t>
            </a:r>
          </a:p>
          <a:p xmlns:a="http://schemas.openxmlformats.org/drawingml/2006/main">
            <a:r>
              <a:rPr lang="en-US" sz="1900" b="0">
                <a:solidFill>
                  <a:srgbClr val="0F3460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900" b="0">
                <a:solidFill>
                  <a:srgbClr val="0F3460"/>
                </a:solidFill>
                <a:latin typeface="Calibri"/>
                <a:ea typeface="Calibri"/>
              </a:rPr>
              <a:t>09  Nutrition Plan Output</a:t>
            </a:r>
          </a:p>
          <a:p xmlns:a="http://schemas.openxmlformats.org/drawingml/2006/main">
            <a:r>
              <a:rPr lang="en-US" sz="1900" b="0">
                <a:solidFill>
                  <a:srgbClr val="0F3460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900" b="0">
                <a:solidFill>
                  <a:srgbClr val="0F3460"/>
                </a:solidFill>
                <a:latin typeface="Calibri"/>
                <a:ea typeface="Calibri"/>
              </a:rPr>
              <a:t>10  7-Day Meal Plan Details</a:t>
            </a:r>
          </a:p>
        </p:txBody>
      </p:sp>
      <p:sp>
        <p:nvSpPr>
          <p:cNvPr id="100011" name="Col3"/>
          <p:cNvSpPr txBox="1"/>
          <p:nvPr/>
        </p:nvSpPr>
        <p:spPr>
          <a:xfrm xmlns:a="http://schemas.openxmlformats.org/drawingml/2006/main">
            <a:off x="720000" y="3420000"/>
            <a:ext cx="10800000" cy="18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900" b="0">
                <a:solidFill>
                  <a:srgbClr val="0F3460"/>
                </a:solidFill>
                <a:latin typeface="Calibri"/>
                <a:ea typeface="Calibri"/>
              </a:rPr>
              <a:t>11  Macros &amp; Calorie Targets</a:t>
            </a:r>
          </a:p>
          <a:p xmlns:a="http://schemas.openxmlformats.org/drawingml/2006/main">
            <a:r>
              <a:rPr lang="en-US" sz="1900" b="0">
                <a:solidFill>
                  <a:srgbClr val="0F3460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900" b="0">
                <a:solidFill>
                  <a:srgbClr val="0F3460"/>
                </a:solidFill>
                <a:latin typeface="Calibri"/>
                <a:ea typeface="Calibri"/>
              </a:rPr>
              <a:t>12  NutriBot Chat Agent</a:t>
            </a:r>
          </a:p>
          <a:p xmlns:a="http://schemas.openxmlformats.org/drawingml/2006/main">
            <a:r>
              <a:rPr lang="en-US" sz="1900" b="0">
                <a:solidFill>
                  <a:srgbClr val="0F3460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900" b="0">
                <a:solidFill>
                  <a:srgbClr val="0F3460"/>
                </a:solidFill>
                <a:latin typeface="Calibri"/>
                <a:ea typeface="Calibri"/>
              </a:rPr>
              <a:t>13  AI Ethics &amp; Guardrails</a:t>
            </a:r>
          </a:p>
          <a:p xmlns:a="http://schemas.openxmlformats.org/drawingml/2006/main">
            <a:r>
              <a:rPr lang="en-US" sz="1900" b="0">
                <a:solidFill>
                  <a:srgbClr val="0F3460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900" b="0">
                <a:solidFill>
                  <a:srgbClr val="0F3460"/>
                </a:solidFill>
                <a:latin typeface="Calibri"/>
                <a:ea typeface="Calibri"/>
              </a:rPr>
              <a:t>14  Medical Disclaimer</a:t>
            </a:r>
          </a:p>
          <a:p xmlns:a="http://schemas.openxmlformats.org/drawingml/2006/main">
            <a:r>
              <a:rPr lang="en-US" sz="1900" b="0">
                <a:solidFill>
                  <a:srgbClr val="0F3460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900" b="0">
                <a:solidFill>
                  <a:srgbClr val="0F3460"/>
                </a:solidFill>
                <a:latin typeface="Calibri"/>
                <a:ea typeface="Calibri"/>
              </a:rPr>
              <a:t>15  GitHub &amp; Deployment</a:t>
            </a:r>
          </a:p>
        </p:txBody>
      </p:sp>
    </p:spTree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12" name="TopBar"/>
          <p:cNvSpPr txBox="1"/>
          <p:nvPr/>
        </p:nvSpPr>
        <p:spPr>
          <a:xfrm xmlns:a="http://schemas.openxmlformats.org/drawingml/2006/main">
            <a:off x="0" y="0"/>
            <a:ext cx="12193200" cy="50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346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 b="1">
                <a:solidFill>
                  <a:srgbClr val="FFFFFF"/>
                </a:solidFill>
              </a:rPr>
              <a:t>01  Project Overview</a:t>
            </a:r>
          </a:p>
        </p:txBody>
      </p:sp>
      <p:sp>
        <p:nvSpPr>
          <p:cNvPr id="100013" name="BottomBar"/>
          <p:cNvSpPr txBox="1"/>
          <p:nvPr/>
        </p:nvSpPr>
        <p:spPr>
          <a:xfrm xmlns:a="http://schemas.openxmlformats.org/drawingml/2006/main">
            <a:off x="0" y="6588000"/>
            <a:ext cx="12193200" cy="28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2F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>
                <a:solidFill>
                  <a:srgbClr val="FFFFFF"/>
                </a:solidFill>
              </a:rPr>
              <a:t>IBM Granite LLM  |  Agentic AI Application</a:t>
            </a:r>
          </a:p>
        </p:txBody>
      </p:sp>
      <p:sp>
        <p:nvSpPr>
          <p:cNvPr id="100014" name="AppName"/>
          <p:cNvSpPr txBox="1"/>
          <p:nvPr/>
        </p:nvSpPr>
        <p:spPr>
          <a:xfrm xmlns:a="http://schemas.openxmlformats.org/drawingml/2006/main">
            <a:off x="720000" y="576000"/>
            <a:ext cx="7200000" cy="5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600" b="1">
                <a:solidFill>
                  <a:srgbClr val="0F3460"/>
                </a:solidFill>
                <a:latin typeface="Calibri"/>
                <a:ea typeface="Calibri"/>
              </a:rPr>
              <a:t>NutriBot AI</a:t>
            </a:r>
          </a:p>
        </p:txBody>
      </p:sp>
      <p:sp>
        <p:nvSpPr>
          <p:cNvPr id="100015" name="AppDesc"/>
          <p:cNvSpPr txBox="1"/>
          <p:nvPr/>
        </p:nvSpPr>
        <p:spPr>
          <a:xfrm xmlns:a="http://schemas.openxmlformats.org/drawingml/2006/main">
            <a:off x="720000" y="1152000"/>
            <a:ext cx="10440000" cy="9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700" b="0">
                <a:solidFill>
                  <a:srgbClr val="333333"/>
                </a:solidFill>
                <a:latin typeface="Calibri"/>
                <a:ea typeface="Calibri"/>
              </a:rPr>
              <a:t>NutriBot AI is a web-based Agentic AI application that autonomously collects user health profiles, reasons about individual nutritional needs, and generates personalised 7-day meal plans — powered by IBM Granite LLM via IBM watsonx.ai.</a:t>
            </a:r>
          </a:p>
        </p:txBody>
      </p:sp>
      <p:sp>
        <p:nvSpPr>
          <p:cNvPr id="100016" name="Box1"/>
          <p:cNvSpPr txBox="1"/>
          <p:nvPr/>
        </p:nvSpPr>
        <p:spPr>
          <a:xfrm xmlns:a="http://schemas.openxmlformats.org/drawingml/2006/main">
            <a:off x="720000" y="2232000"/>
            <a:ext cx="4860000" cy="12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 b="0">
                <a:solidFill>
                  <a:srgbClr val="0F3460"/>
                </a:solidFill>
              </a:rPr>
              <a:t>AGENTIC AI</a:t>
            </a:r>
          </a:p>
          <a:p xmlns:a="http://schemas.openxmlformats.org/drawingml/2006/main">
            <a:r>
              <a:rPr lang="en-US" sz="1500" b="0">
                <a:solidFill>
                  <a:srgbClr val="0F3460"/>
                </a:solidFill>
              </a:rPr>
              <a:t>Autonomously plans, reasons &amp; acts without human intervention per step</a:t>
            </a:r>
          </a:p>
        </p:txBody>
      </p:sp>
      <p:sp>
        <p:nvSpPr>
          <p:cNvPr id="100017" name="Box2"/>
          <p:cNvSpPr txBox="1"/>
          <p:nvPr/>
        </p:nvSpPr>
        <p:spPr>
          <a:xfrm xmlns:a="http://schemas.openxmlformats.org/drawingml/2006/main">
            <a:off x="6300000" y="2232000"/>
            <a:ext cx="4860000" cy="12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 b="0">
                <a:solidFill>
                  <a:srgbClr val="0F3460"/>
                </a:solidFill>
              </a:rPr>
              <a:t>IBM GRANITE LLM</a:t>
            </a:r>
          </a:p>
          <a:p xmlns:a="http://schemas.openxmlformats.org/drawingml/2006/main">
            <a:r>
              <a:rPr lang="en-US" sz="1500" b="0">
                <a:solidFill>
                  <a:srgbClr val="0F3460"/>
                </a:solidFill>
              </a:rPr>
              <a:t>granite-13b-instruct-v2 via IBM watsonx.ai for enterprise-grade AI reasoning</a:t>
            </a:r>
          </a:p>
        </p:txBody>
      </p:sp>
      <p:sp>
        <p:nvSpPr>
          <p:cNvPr id="100018" name="Box3"/>
          <p:cNvSpPr txBox="1"/>
          <p:nvPr/>
        </p:nvSpPr>
        <p:spPr>
          <a:xfrm xmlns:a="http://schemas.openxmlformats.org/drawingml/2006/main">
            <a:off x="720000" y="3744000"/>
            <a:ext cx="4860000" cy="12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 b="0">
                <a:solidFill>
                  <a:srgbClr val="0F3460"/>
                </a:solidFill>
              </a:rPr>
              <a:t>MEDICAL-AWARE</a:t>
            </a:r>
          </a:p>
          <a:p xmlns:a="http://schemas.openxmlformats.org/drawingml/2006/main">
            <a:r>
              <a:rPr lang="en-US" sz="1500" b="0">
                <a:solidFill>
                  <a:srgbClr val="0F3460"/>
                </a:solidFill>
              </a:rPr>
              <a:t>Adapts plans for diabetes, hypertension, heart disease, PCOS, thyroid</a:t>
            </a:r>
          </a:p>
        </p:txBody>
      </p:sp>
      <p:sp>
        <p:nvSpPr>
          <p:cNvPr id="100019" name="Box4"/>
          <p:cNvSpPr txBox="1"/>
          <p:nvPr/>
        </p:nvSpPr>
        <p:spPr>
          <a:xfrm xmlns:a="http://schemas.openxmlformats.org/drawingml/2006/main">
            <a:off x="6300000" y="3744000"/>
            <a:ext cx="4860000" cy="12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 b="0">
                <a:solidFill>
                  <a:srgbClr val="0F3460"/>
                </a:solidFill>
              </a:rPr>
              <a:t>ETHICS FIRST</a:t>
            </a:r>
          </a:p>
          <a:p xmlns:a="http://schemas.openxmlformats.org/drawingml/2006/main">
            <a:r>
              <a:rPr lang="en-US" sz="1500" b="0">
                <a:solidFill>
                  <a:srgbClr val="0F3460"/>
                </a:solidFill>
              </a:rPr>
              <a:t>IBM AI Ethics: transparency, fairness, robustness, privacy, accountability</a:t>
            </a:r>
          </a:p>
        </p:txBody>
      </p:sp>
      <p:sp>
        <p:nvSpPr>
          <p:cNvPr id="100020" name="TechBadge"/>
          <p:cNvSpPr txBox="1"/>
          <p:nvPr/>
        </p:nvSpPr>
        <p:spPr>
          <a:xfrm xmlns:a="http://schemas.openxmlformats.org/drawingml/2006/main">
            <a:off x="720000" y="5220000"/>
            <a:ext cx="1044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0F62FE"/>
                </a:solidFill>
                <a:latin typeface="Calibri"/>
                <a:ea typeface="Calibri"/>
              </a:rPr>
              <a:t>Python 3.11   Flask 3.0   IBM watsonx.ai   HTML5 / CSS3   Vanilla JS   Marked.js</a:t>
            </a:r>
          </a:p>
        </p:txBody>
      </p:sp>
    </p:spTree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21" name="TopBar"/>
          <p:cNvSpPr txBox="1"/>
          <p:nvPr/>
        </p:nvSpPr>
        <p:spPr>
          <a:xfrm xmlns:a="http://schemas.openxmlformats.org/drawingml/2006/main">
            <a:off x="0" y="0"/>
            <a:ext cx="12193200" cy="50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346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 b="1">
                <a:solidFill>
                  <a:srgbClr val="FFFFFF"/>
                </a:solidFill>
              </a:rPr>
              <a:t>02  Problem Statement</a:t>
            </a:r>
          </a:p>
        </p:txBody>
      </p:sp>
      <p:sp>
        <p:nvSpPr>
          <p:cNvPr id="100022" name="BottomBar"/>
          <p:cNvSpPr txBox="1"/>
          <p:nvPr/>
        </p:nvSpPr>
        <p:spPr>
          <a:xfrm xmlns:a="http://schemas.openxmlformats.org/drawingml/2006/main">
            <a:off x="0" y="6588000"/>
            <a:ext cx="12193200" cy="28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2F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>
                <a:solidFill>
                  <a:srgbClr val="FFFFFF"/>
                </a:solidFill>
              </a:rPr>
              <a:t>IBM Granite LLM  |  Agentic AI Application</a:t>
            </a:r>
          </a:p>
        </p:txBody>
      </p:sp>
      <p:sp>
        <p:nvSpPr>
          <p:cNvPr id="100023" name="ProbTitle"/>
          <p:cNvSpPr txBox="1"/>
          <p:nvPr/>
        </p:nvSpPr>
        <p:spPr>
          <a:xfrm xmlns:a="http://schemas.openxmlformats.org/drawingml/2006/main">
            <a:off x="720000" y="576000"/>
            <a:ext cx="10440000" cy="43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800" b="1">
                <a:solidFill>
                  <a:srgbClr val="0F3460"/>
                </a:solidFill>
                <a:latin typeface="Calibri"/>
                <a:ea typeface="Calibri"/>
              </a:rPr>
              <a:t>The Challenge</a:t>
            </a:r>
          </a:p>
        </p:txBody>
      </p:sp>
      <p:sp>
        <p:nvSpPr>
          <p:cNvPr id="100024" name="P1"/>
          <p:cNvSpPr txBox="1"/>
          <p:nvPr/>
        </p:nvSpPr>
        <p:spPr>
          <a:xfrm xmlns:a="http://schemas.openxmlformats.org/drawingml/2006/main">
            <a:off x="720000" y="1152000"/>
            <a:ext cx="10440000" cy="79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C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 b="0">
                <a:solidFill>
                  <a:srgbClr val="7A4900"/>
                </a:solidFill>
              </a:rPr>
              <a:t>LACK OF PERSONALISATION</a:t>
            </a:r>
          </a:p>
          <a:p xmlns:a="http://schemas.openxmlformats.org/drawingml/2006/main">
            <a:r>
              <a:rPr lang="en-US" sz="1500" b="0">
                <a:solidFill>
                  <a:srgbClr val="7A4900"/>
                </a:solidFill>
              </a:rPr>
              <a:t>Generic diet charts ignore individual medical conditions, age, local food availability, and activity levels. One-size-fits-all advice is ineffective.</a:t>
            </a:r>
          </a:p>
        </p:txBody>
      </p:sp>
      <p:sp>
        <p:nvSpPr>
          <p:cNvPr id="100025" name="P2"/>
          <p:cNvSpPr txBox="1"/>
          <p:nvPr/>
        </p:nvSpPr>
        <p:spPr>
          <a:xfrm xmlns:a="http://schemas.openxmlformats.org/drawingml/2006/main">
            <a:off x="720000" y="2088000"/>
            <a:ext cx="10440000" cy="79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2E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 b="0">
                <a:solidFill>
                  <a:srgbClr val="7A0000"/>
                </a:solidFill>
              </a:rPr>
              <a:t>ACCESS BARRIER</a:t>
            </a:r>
          </a:p>
          <a:p xmlns:a="http://schemas.openxmlformats.org/drawingml/2006/main">
            <a:r>
              <a:rPr lang="en-US" sz="1500" b="0">
                <a:solidFill>
                  <a:srgbClr val="7A0000"/>
                </a:solidFill>
              </a:rPr>
              <a:t>Qualified dietitians are expensive and hard to access globally. Millions in developing nations lack personalised nutrition guidance.</a:t>
            </a:r>
          </a:p>
        </p:txBody>
      </p:sp>
      <p:sp>
        <p:nvSpPr>
          <p:cNvPr id="100026" name="P3"/>
          <p:cNvSpPr txBox="1"/>
          <p:nvPr/>
        </p:nvSpPr>
        <p:spPr>
          <a:xfrm xmlns:a="http://schemas.openxmlformats.org/drawingml/2006/main">
            <a:off x="720000" y="3024000"/>
            <a:ext cx="10440000" cy="79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0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 b="0">
                <a:solidFill>
                  <a:srgbClr val="00287A"/>
                </a:solidFill>
              </a:rPr>
              <a:t>MEDICAL RISK</a:t>
            </a:r>
          </a:p>
          <a:p xmlns:a="http://schemas.openxmlformats.org/drawingml/2006/main">
            <a:r>
              <a:rPr lang="en-US" sz="1500" b="0">
                <a:solidFill>
                  <a:srgbClr val="00287A"/>
                </a:solidFill>
              </a:rPr>
              <a:t>People with chronic conditions (diabetes, hypertension) need diet plans that actively avoid harm — not just general healthy eating advice.</a:t>
            </a:r>
          </a:p>
        </p:txBody>
      </p:sp>
      <p:sp>
        <p:nvSpPr>
          <p:cNvPr id="100027" name="SolveTitle"/>
          <p:cNvSpPr txBox="1"/>
          <p:nvPr/>
        </p:nvSpPr>
        <p:spPr>
          <a:xfrm xmlns:a="http://schemas.openxmlformats.org/drawingml/2006/main">
            <a:off x="720000" y="4032000"/>
            <a:ext cx="10440000" cy="32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1">
                <a:solidFill>
                  <a:srgbClr val="0F62FE"/>
                </a:solidFill>
                <a:latin typeface="Calibri"/>
                <a:ea typeface="Calibri"/>
              </a:rPr>
              <a:t>Our Solution: NutriBot AI</a:t>
            </a:r>
          </a:p>
        </p:txBody>
      </p:sp>
      <p:sp>
        <p:nvSpPr>
          <p:cNvPr id="100028" name="SolveText"/>
          <p:cNvSpPr txBox="1"/>
          <p:nvPr/>
        </p:nvSpPr>
        <p:spPr>
          <a:xfrm xmlns:a="http://schemas.openxmlformats.org/drawingml/2006/main">
            <a:off x="720000" y="4428000"/>
            <a:ext cx="10440000" cy="9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0">
                <a:solidFill>
                  <a:srgbClr val="0F3460"/>
                </a:solidFill>
              </a:rPr>
              <a:t>An Agentic AI that collects detailed user profiles (name, age, diet type, medical history, city/country, health goal, activity level) and autonomously generates a safe, personalised, medically-aware 7-day nutrition plan — free, instant, and accessible to all.</a:t>
            </a:r>
          </a:p>
        </p:txBody>
      </p:sp>
    </p:spTree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F3460"/>
        </a:solidFill>
      </p:bgPr>
    </p:bg>
    <p:spTree>
      <p:nvGrpSpPr>
        <p:cNvPr id="1" name=""/>
        <p:cNvGrpSpPr/>
        <p:nvPr/>
      </p:nvGrpSpPr>
      <p:grpSpPr/>
      <p:sp>
        <p:nvSpPr>
          <p:cNvPr id="100029" name="TopBar"/>
          <p:cNvSpPr txBox="1"/>
          <p:nvPr/>
        </p:nvSpPr>
        <p:spPr>
          <a:xfrm xmlns:a="http://schemas.openxmlformats.org/drawingml/2006/main">
            <a:off x="0" y="0"/>
            <a:ext cx="12193200" cy="50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2F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 b="1">
                <a:solidFill>
                  <a:srgbClr val="FFFFFF"/>
                </a:solidFill>
              </a:rPr>
              <a:t>03  Agentic AI SDLC — 7 Phases</a:t>
            </a:r>
          </a:p>
        </p:txBody>
      </p:sp>
      <p:sp>
        <p:nvSpPr>
          <p:cNvPr id="100030" name="BottomBar"/>
          <p:cNvSpPr txBox="1"/>
          <p:nvPr/>
        </p:nvSpPr>
        <p:spPr>
          <a:xfrm xmlns:a="http://schemas.openxmlformats.org/drawingml/2006/main">
            <a:off x="0" y="6588000"/>
            <a:ext cx="12193200" cy="28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2F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>
                <a:solidFill>
                  <a:srgbClr val="FFFFFF"/>
                </a:solidFill>
              </a:rPr>
              <a:t>IBM Granite LLM  |  Agentic AI Application</a:t>
            </a:r>
          </a:p>
        </p:txBody>
      </p:sp>
      <p:sp>
        <p:nvSpPr>
          <p:cNvPr id="100031" name="Ph1"/>
          <p:cNvSpPr txBox="1"/>
          <p:nvPr/>
        </p:nvSpPr>
        <p:spPr>
          <a:xfrm xmlns:a="http://schemas.openxmlformats.org/drawingml/2006/main">
            <a:off x="360000" y="648000"/>
            <a:ext cx="3240000" cy="12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4A7A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FFFFFF"/>
                </a:solidFill>
              </a:rPr>
              <a:t>Phase 1</a:t>
            </a:r>
          </a:p>
          <a:p xmlns:a="http://schemas.openxmlformats.org/drawingml/2006/main">
            <a:r>
              <a:rPr lang="en-US" sz="1300" b="0">
                <a:solidFill>
                  <a:srgbClr val="FFFFFF"/>
                </a:solidFill>
              </a:rPr>
              <a:t>PROBLEM SCOPING</a:t>
            </a:r>
          </a:p>
          <a:p xmlns:a="http://schemas.openxmlformats.org/drawingml/2006/main">
            <a:r>
              <a:rPr lang="en-US" sz="1300" b="0">
                <a:solidFill>
                  <a:srgbClr val="FFFFFF"/>
                </a:solidFill>
              </a:rPr>
              <a:t>Personalised nutrition for diverse health profiles globally</a:t>
            </a:r>
          </a:p>
        </p:txBody>
      </p:sp>
      <p:sp>
        <p:nvSpPr>
          <p:cNvPr id="100032" name="Ph2"/>
          <p:cNvSpPr txBox="1"/>
          <p:nvPr/>
        </p:nvSpPr>
        <p:spPr>
          <a:xfrm xmlns:a="http://schemas.openxmlformats.org/drawingml/2006/main">
            <a:off x="3960000" y="648000"/>
            <a:ext cx="3240000" cy="12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5A3A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FFFFFF"/>
                </a:solidFill>
              </a:rPr>
              <a:t>Phase 2</a:t>
            </a:r>
          </a:p>
          <a:p xmlns:a="http://schemas.openxmlformats.org/drawingml/2006/main">
            <a:r>
              <a:rPr lang="en-US" sz="1300" b="0">
                <a:solidFill>
                  <a:srgbClr val="FFFFFF"/>
                </a:solidFill>
              </a:rPr>
              <a:t>DATA &amp; CONTEXT</a:t>
            </a:r>
          </a:p>
          <a:p xmlns:a="http://schemas.openxmlformats.org/drawingml/2006/main">
            <a:r>
              <a:rPr lang="en-US" sz="1300" b="0">
                <a:solidFill>
                  <a:srgbClr val="FFFFFF"/>
                </a:solidFill>
              </a:rPr>
              <a:t>User profile form: name, age, diet, medical, location, goal, activity</a:t>
            </a:r>
          </a:p>
        </p:txBody>
      </p:sp>
      <p:sp>
        <p:nvSpPr>
          <p:cNvPr id="100033" name="Ph3"/>
          <p:cNvSpPr txBox="1"/>
          <p:nvPr/>
        </p:nvSpPr>
        <p:spPr>
          <a:xfrm xmlns:a="http://schemas.openxmlformats.org/drawingml/2006/main">
            <a:off x="7560000" y="648000"/>
            <a:ext cx="3240000" cy="12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1A7A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FFFFFF"/>
                </a:solidFill>
              </a:rPr>
              <a:t>Phase 3</a:t>
            </a:r>
          </a:p>
          <a:p xmlns:a="http://schemas.openxmlformats.org/drawingml/2006/main">
            <a:r>
              <a:rPr lang="en-US" sz="1300" b="0">
                <a:solidFill>
                  <a:srgbClr val="FFFFFF"/>
                </a:solidFill>
              </a:rPr>
              <a:t>AGENT DESIGN</a:t>
            </a:r>
          </a:p>
          <a:p xmlns:a="http://schemas.openxmlformats.org/drawingml/2006/main">
            <a:r>
              <a:rPr lang="en-US" sz="1300" b="0">
                <a:solidFill>
                  <a:srgbClr val="FFFFFF"/>
                </a:solidFill>
              </a:rPr>
              <a:t>IBM Granite LLM system prompt + planning &amp; reasoning loop</a:t>
            </a:r>
          </a:p>
        </p:txBody>
      </p:sp>
      <p:sp>
        <p:nvSpPr>
          <p:cNvPr id="100034" name="Ph4"/>
          <p:cNvSpPr txBox="1"/>
          <p:nvPr/>
        </p:nvSpPr>
        <p:spPr>
          <a:xfrm xmlns:a="http://schemas.openxmlformats.org/drawingml/2006/main">
            <a:off x="360000" y="2268000"/>
            <a:ext cx="3240000" cy="12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1A1A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FFFFFF"/>
                </a:solidFill>
              </a:rPr>
              <a:t>Phase 4</a:t>
            </a:r>
          </a:p>
          <a:p xmlns:a="http://schemas.openxmlformats.org/drawingml/2006/main">
            <a:r>
              <a:rPr lang="en-US" sz="1300" b="0">
                <a:solidFill>
                  <a:srgbClr val="FFFFFF"/>
                </a:solidFill>
              </a:rPr>
              <a:t>GUARDRAIL INTEGRATION</a:t>
            </a:r>
          </a:p>
          <a:p xmlns:a="http://schemas.openxmlformats.org/drawingml/2006/main">
            <a:r>
              <a:rPr lang="en-US" sz="1300" b="0">
                <a:solidFill>
                  <a:srgbClr val="FFFFFF"/>
                </a:solidFill>
              </a:rPr>
              <a:t>Harmful keyword filter, content policy, medical disclaimer enforcement</a:t>
            </a:r>
          </a:p>
        </p:txBody>
      </p:sp>
      <p:sp>
        <p:nvSpPr>
          <p:cNvPr id="100035" name="Ph5"/>
          <p:cNvSpPr txBox="1"/>
          <p:nvPr/>
        </p:nvSpPr>
        <p:spPr>
          <a:xfrm xmlns:a="http://schemas.openxmlformats.org/drawingml/2006/main">
            <a:off x="3960000" y="2268000"/>
            <a:ext cx="3240000" cy="12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4A5A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FFFFFF"/>
                </a:solidFill>
              </a:rPr>
              <a:t>Phase 5</a:t>
            </a:r>
          </a:p>
          <a:p xmlns:a="http://schemas.openxmlformats.org/drawingml/2006/main">
            <a:r>
              <a:rPr lang="en-US" sz="1300" b="0">
                <a:solidFill>
                  <a:srgbClr val="FFFFFF"/>
                </a:solidFill>
              </a:rPr>
              <a:t>TOOL USE</a:t>
            </a:r>
          </a:p>
          <a:p xmlns:a="http://schemas.openxmlformats.org/drawingml/2006/main">
            <a:r>
              <a:rPr lang="en-US" sz="1300" b="0">
                <a:solidFill>
                  <a:srgbClr val="FFFFFF"/>
                </a:solidFill>
              </a:rPr>
              <a:t>Plan generator  •  Chat Q&amp;A agent  •  .md file export tool</a:t>
            </a:r>
          </a:p>
        </p:txBody>
      </p:sp>
      <p:sp>
        <p:nvSpPr>
          <p:cNvPr id="100036" name="Ph6"/>
          <p:cNvSpPr txBox="1"/>
          <p:nvPr/>
        </p:nvSpPr>
        <p:spPr>
          <a:xfrm xmlns:a="http://schemas.openxmlformats.org/drawingml/2006/main">
            <a:off x="7560000" y="2268000"/>
            <a:ext cx="3240000" cy="12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4A1A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FFFFFF"/>
                </a:solidFill>
              </a:rPr>
              <a:t>Phase 6</a:t>
            </a:r>
          </a:p>
          <a:p xmlns:a="http://schemas.openxmlformats.org/drawingml/2006/main">
            <a:r>
              <a:rPr lang="en-US" sz="1300" b="0">
                <a:solidFill>
                  <a:srgbClr val="FFFFFF"/>
                </a:solidFill>
              </a:rPr>
              <a:t>EVALUATION</a:t>
            </a:r>
          </a:p>
          <a:p xmlns:a="http://schemas.openxmlformats.org/drawingml/2006/main">
            <a:r>
              <a:rPr lang="en-US" sz="1300" b="0">
                <a:solidFill>
                  <a:srgbClr val="FFFFFF"/>
                </a:solidFill>
              </a:rPr>
              <a:t>Output review, disclaimer verification, model attribution check</a:t>
            </a:r>
          </a:p>
        </p:txBody>
      </p:sp>
      <p:sp>
        <p:nvSpPr>
          <p:cNvPr id="100037" name="Ph7"/>
          <p:cNvSpPr txBox="1"/>
          <p:nvPr/>
        </p:nvSpPr>
        <p:spPr>
          <a:xfrm xmlns:a="http://schemas.openxmlformats.org/drawingml/2006/main">
            <a:off x="360000" y="3888000"/>
            <a:ext cx="10440000" cy="9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2F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 b="0">
                <a:solidFill>
                  <a:srgbClr val="FFFFFF"/>
                </a:solidFill>
              </a:rPr>
              <a:t>Phase 7 — DEPLOYMENT</a:t>
            </a:r>
          </a:p>
          <a:p xmlns:a="http://schemas.openxmlformats.org/drawingml/2006/main">
            <a:r>
              <a:rPr lang="en-US" sz="1500" b="0">
                <a:solidFill>
                  <a:srgbClr val="FFFFFF"/>
                </a:solidFill>
              </a:rPr>
              <a:t>Flask REST API  +  HTML5/CSS3/JS web app  +  Windows run.bat launcher  +  GitHub repository</a:t>
            </a:r>
          </a:p>
        </p:txBody>
      </p:sp>
      <p:sp>
        <p:nvSpPr>
          <p:cNvPr id="100038" name="SDLCLabel"/>
          <p:cNvSpPr txBox="1"/>
          <p:nvPr/>
        </p:nvSpPr>
        <p:spPr>
          <a:xfrm xmlns:a="http://schemas.openxmlformats.org/drawingml/2006/main">
            <a:off x="360000" y="5040000"/>
            <a:ext cx="10440000" cy="28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0">
                <a:solidFill>
                  <a:srgbClr val="AADDFF"/>
                </a:solidFill>
                <a:latin typeface="Calibri"/>
                <a:ea typeface="Calibri"/>
              </a:rPr>
              <a:t>All 7 phases completed and integrated in the NutriBot AI application</a:t>
            </a:r>
          </a:p>
        </p:txBody>
      </p:sp>
    </p:spTree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39" name="TopBar"/>
          <p:cNvSpPr txBox="1"/>
          <p:nvPr/>
        </p:nvSpPr>
        <p:spPr>
          <a:xfrm xmlns:a="http://schemas.openxmlformats.org/drawingml/2006/main">
            <a:off x="0" y="0"/>
            <a:ext cx="12193200" cy="50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346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 b="1">
                <a:solidFill>
                  <a:srgbClr val="FFFFFF"/>
                </a:solidFill>
              </a:rPr>
              <a:t>04  System Architecture</a:t>
            </a:r>
          </a:p>
        </p:txBody>
      </p:sp>
      <p:sp>
        <p:nvSpPr>
          <p:cNvPr id="100040" name="BottomBar"/>
          <p:cNvSpPr txBox="1"/>
          <p:nvPr/>
        </p:nvSpPr>
        <p:spPr>
          <a:xfrm xmlns:a="http://schemas.openxmlformats.org/drawingml/2006/main">
            <a:off x="0" y="6588000"/>
            <a:ext cx="12193200" cy="28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2F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>
                <a:solidFill>
                  <a:srgbClr val="FFFFFF"/>
                </a:solidFill>
              </a:rPr>
              <a:t>IBM Granite LLM  |  Agentic AI Application</a:t>
            </a:r>
          </a:p>
        </p:txBody>
      </p:sp>
      <p:sp>
        <p:nvSpPr>
          <p:cNvPr id="100041" name="Layer1"/>
          <p:cNvSpPr txBox="1"/>
          <p:nvPr/>
        </p:nvSpPr>
        <p:spPr>
          <a:xfrm xmlns:a="http://schemas.openxmlformats.org/drawingml/2006/main">
            <a:off x="720000" y="648000"/>
            <a:ext cx="10440000" cy="86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0">
                <a:solidFill>
                  <a:srgbClr val="0F3460"/>
                </a:solidFill>
              </a:rPr>
              <a:t>PRESENTATION LAYER</a:t>
            </a:r>
          </a:p>
          <a:p xmlns:a="http://schemas.openxmlformats.org/drawingml/2006/main">
            <a:r>
              <a:rPr lang="en-US" sz="1400" b="0">
                <a:solidFill>
                  <a:srgbClr val="0F3460"/>
                </a:solidFill>
              </a:rPr>
              <a:t>HTML5  •  CSS3  •  Vanilla JavaScript  •  Marked.js  •  Font Awesome</a:t>
            </a:r>
          </a:p>
          <a:p xmlns:a="http://schemas.openxmlformats.org/drawingml/2006/main">
            <a:r>
              <a:rPr lang="en-US" sz="1400" b="0">
                <a:solidFill>
                  <a:srgbClr val="0F3460"/>
                </a:solidFill>
              </a:rPr>
              <a:t>Tab 1: Nutrition Plan  |  Tab 2: NutriBot Chat  |  Tab 3: About</a:t>
            </a:r>
          </a:p>
        </p:txBody>
      </p:sp>
      <p:sp>
        <p:nvSpPr>
          <p:cNvPr id="100042" name="Arrow1"/>
          <p:cNvSpPr txBox="1"/>
          <p:nvPr/>
        </p:nvSpPr>
        <p:spPr>
          <a:xfrm xmlns:a="http://schemas.openxmlformats.org/drawingml/2006/main">
            <a:off x="4680000" y="1620000"/>
            <a:ext cx="2520000" cy="25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2F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0">
                <a:solidFill>
                  <a:srgbClr val="FFFFFF"/>
                </a:solidFill>
              </a:rPr>
              <a:t>Fetch API  (HTTP JSON)</a:t>
            </a:r>
          </a:p>
        </p:txBody>
      </p:sp>
      <p:sp>
        <p:nvSpPr>
          <p:cNvPr id="100043" name="Layer2"/>
          <p:cNvSpPr txBox="1"/>
          <p:nvPr/>
        </p:nvSpPr>
        <p:spPr>
          <a:xfrm xmlns:a="http://schemas.openxmlformats.org/drawingml/2006/main">
            <a:off x="720000" y="1980000"/>
            <a:ext cx="10440000" cy="86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C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0">
                <a:solidFill>
                  <a:srgbClr val="5A3500"/>
                </a:solidFill>
              </a:rPr>
              <a:t>API GATEWAY — Flask 3.0</a:t>
            </a:r>
          </a:p>
          <a:p xmlns:a="http://schemas.openxmlformats.org/drawingml/2006/main">
            <a:r>
              <a:rPr lang="en-US" sz="1400" b="0">
                <a:solidFill>
                  <a:srgbClr val="5A3500"/>
                </a:solidFill>
              </a:rPr>
              <a:t>/api/generate-plan   /api/chat   /api/download/&lt;file&gt;   /api/health</a:t>
            </a:r>
          </a:p>
          <a:p xmlns:a="http://schemas.openxmlformats.org/drawingml/2006/main">
            <a:r>
              <a:rPr lang="en-US" sz="1400" b="0">
                <a:solidFill>
                  <a:srgbClr val="5A3500"/>
                </a:solidFill>
              </a:rPr>
              <a:t>Input Validation  •  Guardrail Engine  •  Ethics Layer</a:t>
            </a:r>
          </a:p>
        </p:txBody>
      </p:sp>
      <p:sp>
        <p:nvSpPr>
          <p:cNvPr id="100044" name="Arrow2"/>
          <p:cNvSpPr txBox="1"/>
          <p:nvPr/>
        </p:nvSpPr>
        <p:spPr>
          <a:xfrm xmlns:a="http://schemas.openxmlformats.org/drawingml/2006/main">
            <a:off x="4680000" y="2952000"/>
            <a:ext cx="2520000" cy="25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2F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0">
                <a:solidFill>
                  <a:srgbClr val="FFFFFF"/>
                </a:solidFill>
              </a:rPr>
              <a:t>watsonx.ai REST API</a:t>
            </a:r>
          </a:p>
        </p:txBody>
      </p:sp>
      <p:sp>
        <p:nvSpPr>
          <p:cNvPr id="100045" name="Layer3"/>
          <p:cNvSpPr txBox="1"/>
          <p:nvPr/>
        </p:nvSpPr>
        <p:spPr>
          <a:xfrm xmlns:a="http://schemas.openxmlformats.org/drawingml/2006/main">
            <a:off x="720000" y="3312000"/>
            <a:ext cx="10440000" cy="86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346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0">
                <a:solidFill>
                  <a:srgbClr val="FFFFFF"/>
                </a:solidFill>
              </a:rPr>
              <a:t>IBM GRANITE LLM AGENT  (ibm/granite-13b-instruct-v2)</a:t>
            </a:r>
          </a:p>
          <a:p xmlns:a="http://schemas.openxmlformats.org/drawingml/2006/main">
            <a:r>
              <a:rPr lang="en-US" sz="1400" b="0">
                <a:solidFill>
                  <a:srgbClr val="FFFFFF"/>
                </a:solidFill>
              </a:rPr>
              <a:t>Nutrition Plan Generation  •  Q&amp;A Reasoning  •  Contextual Advice</a:t>
            </a:r>
          </a:p>
          <a:p xmlns:a="http://schemas.openxmlformats.org/drawingml/2006/main">
            <a:r>
              <a:rPr lang="en-US" sz="1400" b="0">
                <a:solidFill>
                  <a:srgbClr val="FFFFFF"/>
                </a:solidFill>
              </a:rPr>
              <a:t>via IBM watsonx.ai Cloud API</a:t>
            </a:r>
          </a:p>
        </p:txBody>
      </p:sp>
      <p:sp>
        <p:nvSpPr>
          <p:cNvPr id="100046" name="Layer4L"/>
          <p:cNvSpPr txBox="1"/>
          <p:nvPr/>
        </p:nvSpPr>
        <p:spPr>
          <a:xfrm xmlns:a="http://schemas.openxmlformats.org/drawingml/2006/main">
            <a:off x="720000" y="4464000"/>
            <a:ext cx="4680000" cy="86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FE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0">
                <a:solidFill>
                  <a:srgbClr val="0A4A0A"/>
                </a:solidFill>
              </a:rPr>
              <a:t>FILE SYSTEM</a:t>
            </a:r>
          </a:p>
          <a:p xmlns:a="http://schemas.openxmlformats.org/drawingml/2006/main">
            <a:r>
              <a:rPr lang="en-US" sz="1400" b="0">
                <a:solidFill>
                  <a:srgbClr val="0A4A0A"/>
                </a:solidFill>
              </a:rPr>
              <a:t>plans/*.md</a:t>
            </a:r>
          </a:p>
          <a:p xmlns:a="http://schemas.openxmlformats.org/drawingml/2006/main">
            <a:r>
              <a:rPr lang="en-US" sz="1400" b="0">
                <a:solidFill>
                  <a:srgbClr val="0A4A0A"/>
                </a:solidFill>
              </a:rPr>
              <a:t>Exported Nutrition Plans</a:t>
            </a:r>
          </a:p>
        </p:txBody>
      </p:sp>
      <p:sp>
        <p:nvSpPr>
          <p:cNvPr id="100047" name="Layer4R"/>
          <p:cNvSpPr txBox="1"/>
          <p:nvPr/>
        </p:nvSpPr>
        <p:spPr>
          <a:xfrm xmlns:a="http://schemas.openxmlformats.org/drawingml/2006/main">
            <a:off x="6480000" y="4464000"/>
            <a:ext cx="4680000" cy="86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2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0">
                <a:solidFill>
                  <a:srgbClr val="4A004A"/>
                </a:solidFill>
              </a:rPr>
              <a:t>DEMO MODE</a:t>
            </a:r>
          </a:p>
          <a:p xmlns:a="http://schemas.openxmlformats.org/drawingml/2006/main">
            <a:r>
              <a:rPr lang="en-US" sz="1400" b="0">
                <a:solidFill>
                  <a:srgbClr val="4A004A"/>
                </a:solidFill>
              </a:rPr>
              <a:t>Built-in AI logic</a:t>
            </a:r>
          </a:p>
          <a:p xmlns:a="http://schemas.openxmlformats.org/drawingml/2006/main">
            <a:r>
              <a:rPr lang="en-US" sz="1400" b="0">
                <a:solidFill>
                  <a:srgbClr val="4A004A"/>
                </a:solidFill>
              </a:rPr>
              <a:t>No API key needed</a:t>
            </a:r>
          </a:p>
        </p:txBody>
      </p:sp>
    </p:spTree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F3460"/>
        </a:solidFill>
      </p:bgPr>
    </p:bg>
    <p:spTree>
      <p:nvGrpSpPr>
        <p:cNvPr id="1" name=""/>
        <p:cNvGrpSpPr/>
        <p:nvPr/>
      </p:nvGrpSpPr>
      <p:grpSpPr/>
      <p:sp>
        <p:nvSpPr>
          <p:cNvPr id="100048" name="TopBar"/>
          <p:cNvSpPr txBox="1"/>
          <p:nvPr/>
        </p:nvSpPr>
        <p:spPr>
          <a:xfrm xmlns:a="http://schemas.openxmlformats.org/drawingml/2006/main">
            <a:off x="0" y="0"/>
            <a:ext cx="12193200" cy="50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2F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 b="1">
                <a:solidFill>
                  <a:srgbClr val="FFFFFF"/>
                </a:solidFill>
              </a:rPr>
              <a:t>05  IBM Granite LLM — AI Engine</a:t>
            </a:r>
          </a:p>
        </p:txBody>
      </p:sp>
      <p:sp>
        <p:nvSpPr>
          <p:cNvPr id="100049" name="BottomBar"/>
          <p:cNvSpPr txBox="1"/>
          <p:nvPr/>
        </p:nvSpPr>
        <p:spPr>
          <a:xfrm xmlns:a="http://schemas.openxmlformats.org/drawingml/2006/main">
            <a:off x="0" y="6588000"/>
            <a:ext cx="12193200" cy="28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2F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>
                <a:solidFill>
                  <a:srgbClr val="FFFFFF"/>
                </a:solidFill>
              </a:rPr>
              <a:t>IBM Granite LLM  |  Agentic AI Application</a:t>
            </a:r>
          </a:p>
        </p:txBody>
      </p:sp>
      <p:sp>
        <p:nvSpPr>
          <p:cNvPr id="100050" name="ModelCard"/>
          <p:cNvSpPr txBox="1"/>
          <p:nvPr/>
        </p:nvSpPr>
        <p:spPr>
          <a:xfrm xmlns:a="http://schemas.openxmlformats.org/drawingml/2006/main">
            <a:off x="720000" y="720000"/>
            <a:ext cx="4680000" cy="18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6A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700" b="0">
                <a:solidFill>
                  <a:srgbClr val="FFFFFF"/>
                </a:solidFill>
              </a:rPr>
              <a:t>Model: ibm/granite-13b-instruct-v2</a:t>
            </a:r>
          </a:p>
          <a:p xmlns:a="http://schemas.openxmlformats.org/drawingml/2006/main">
            <a:r>
              <a:rPr lang="en-US" sz="1700" b="0">
                <a:solidFill>
                  <a:srgbClr val="FFFFFF"/>
                </a:solidFill>
              </a:rPr>
              <a:t>Platform: IBM watsonx.ai</a:t>
            </a:r>
          </a:p>
          <a:p xmlns:a="http://schemas.openxmlformats.org/drawingml/2006/main">
            <a:r>
              <a:rPr lang="en-US" sz="1700" b="0">
                <a:solidFill>
                  <a:srgbClr val="FFFFFF"/>
                </a:solidFill>
              </a:rPr>
              <a:t>Parameters: 13 Billion</a:t>
            </a:r>
          </a:p>
          <a:p xmlns:a="http://schemas.openxmlformats.org/drawingml/2006/main">
            <a:r>
              <a:rPr lang="en-US" sz="1700" b="0">
                <a:solidFill>
                  <a:srgbClr val="FFFFFF"/>
                </a:solidFill>
              </a:rPr>
              <a:t>Type: Instruction-tuned LLM</a:t>
            </a:r>
          </a:p>
        </p:txBody>
      </p:sp>
      <p:sp>
        <p:nvSpPr>
          <p:cNvPr id="100051" name="Params"/>
          <p:cNvSpPr txBox="1"/>
          <p:nvPr/>
        </p:nvSpPr>
        <p:spPr>
          <a:xfrm xmlns:a="http://schemas.openxmlformats.org/drawingml/2006/main">
            <a:off x="5940000" y="720000"/>
            <a:ext cx="4680000" cy="18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6A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 b="0">
                <a:solidFill>
                  <a:srgbClr val="FFFFFF"/>
                </a:solidFill>
              </a:rPr>
              <a:t>Generation Parameters</a:t>
            </a:r>
          </a:p>
          <a:p xmlns:a="http://schemas.openxmlformats.org/drawingml/2006/main">
            <a:r>
              <a:rPr lang="en-US" sz="1500" b="0">
                <a:solidFill>
                  <a:srgbClr val="FFFFFF"/>
                </a:solidFill>
              </a:rPr>
              <a:t/>
            </a:r>
          </a:p>
          <a:p xmlns:a="http://schemas.openxmlformats.org/drawingml/2006/main">
            <a:r>
              <a:rPr lang="en-US" sz="1500" b="0">
                <a:solidFill>
                  <a:srgbClr val="FFFFFF"/>
                </a:solidFill>
              </a:rPr>
              <a:t>Max New Tokens: 1024</a:t>
            </a:r>
          </a:p>
          <a:p xmlns:a="http://schemas.openxmlformats.org/drawingml/2006/main">
            <a:r>
              <a:rPr lang="en-US" sz="1500" b="0">
                <a:solidFill>
                  <a:srgbClr val="FFFFFF"/>
                </a:solidFill>
              </a:rPr>
              <a:t>Temperature: 0.7</a:t>
            </a:r>
          </a:p>
          <a:p xmlns:a="http://schemas.openxmlformats.org/drawingml/2006/main">
            <a:r>
              <a:rPr lang="en-US" sz="1500" b="0">
                <a:solidFill>
                  <a:srgbClr val="FFFFFF"/>
                </a:solidFill>
              </a:rPr>
              <a:t>Top-P: 0.9</a:t>
            </a:r>
          </a:p>
          <a:p xmlns:a="http://schemas.openxmlformats.org/drawingml/2006/main">
            <a:r>
              <a:rPr lang="en-US" sz="1500" b="0">
                <a:solidFill>
                  <a:srgbClr val="FFFFFF"/>
                </a:solidFill>
              </a:rPr>
              <a:t>Repetition Penalty: 1.1</a:t>
            </a:r>
          </a:p>
          <a:p xmlns:a="http://schemas.openxmlformats.org/drawingml/2006/main">
            <a:r>
              <a:rPr lang="en-US" sz="1500" b="0">
                <a:solidFill>
                  <a:srgbClr val="FFFFFF"/>
                </a:solidFill>
              </a:rPr>
              <a:t>Stop Sequences: Human: / User:</a:t>
            </a:r>
          </a:p>
        </p:txBody>
      </p:sp>
      <p:sp>
        <p:nvSpPr>
          <p:cNvPr id="100052" name="SystemPromptTitle"/>
          <p:cNvSpPr txBox="1"/>
          <p:nvPr/>
        </p:nvSpPr>
        <p:spPr>
          <a:xfrm xmlns:a="http://schemas.openxmlformats.org/drawingml/2006/main">
            <a:off x="720000" y="2736000"/>
            <a:ext cx="10440000" cy="28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700" b="1">
                <a:solidFill>
                  <a:srgbClr val="AADDFF"/>
                </a:solidFill>
                <a:latin typeface="Calibri"/>
                <a:ea typeface="Calibri"/>
              </a:rPr>
              <a:t>System Prompt (HAM Framework)</a:t>
            </a:r>
          </a:p>
        </p:txBody>
      </p:sp>
      <p:sp>
        <p:nvSpPr>
          <p:cNvPr id="100053" name="SystemPrompt"/>
          <p:cNvSpPr txBox="1"/>
          <p:nvPr/>
        </p:nvSpPr>
        <p:spPr>
          <a:xfrm xmlns:a="http://schemas.openxmlformats.org/drawingml/2006/main">
            <a:off x="720000" y="3096000"/>
            <a:ext cx="10440000" cy="18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2A4A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0">
                <a:solidFill>
                  <a:srgbClr val="CCDDFF"/>
                </a:solidFill>
              </a:rPr>
              <a:t>You are NutriBot, a compassionate and knowledgeable Nutrition AI Assistant powered by IBM Granite.</a:t>
            </a:r>
          </a:p>
          <a:p xmlns:a="http://schemas.openxmlformats.org/drawingml/2006/main">
            <a:r>
              <a:rPr lang="en-US" sz="1400" b="0">
                <a:solidFill>
                  <a:srgbClr val="CCDDFF"/>
                </a:solidFill>
              </a:rPr>
              <a:t/>
            </a:r>
          </a:p>
          <a:p xmlns:a="http://schemas.openxmlformats.org/drawingml/2006/main">
            <a:r>
              <a:rPr lang="en-US" sz="1400" b="0">
                <a:solidFill>
                  <a:srgbClr val="CCDDFF"/>
                </a:solidFill>
              </a:rPr>
              <a:t>1. Helpful — Provide evidence-based, practical nutrition guidance</a:t>
            </a:r>
          </a:p>
          <a:p xmlns:a="http://schemas.openxmlformats.org/drawingml/2006/main">
            <a:r>
              <a:rPr lang="en-US" sz="1400" b="0">
                <a:solidFill>
                  <a:srgbClr val="CCDDFF"/>
                </a:solidFill>
              </a:rPr>
              <a:t>2. Accountable — Acknowledge AI limitations; defer complex cases to professionals</a:t>
            </a:r>
          </a:p>
          <a:p xmlns:a="http://schemas.openxmlformats.org/drawingml/2006/main">
            <a:r>
              <a:rPr lang="en-US" sz="1400" b="0">
                <a:solidFill>
                  <a:srgbClr val="CCDDFF"/>
                </a:solidFill>
              </a:rPr>
              <a:t>3. Mindful — Respect cultural, religious, and personal dietary preferences</a:t>
            </a:r>
          </a:p>
          <a:p xmlns:a="http://schemas.openxmlformats.org/drawingml/2006/main">
            <a:r>
              <a:rPr lang="en-US" sz="1400" b="0">
                <a:solidFill>
                  <a:srgbClr val="CCDDFF"/>
                </a:solidFill>
              </a:rPr>
              <a:t>4. Safe — Never recommend extreme or medically unsound practices</a:t>
            </a:r>
          </a:p>
          <a:p xmlns:a="http://schemas.openxmlformats.org/drawingml/2006/main">
            <a:r>
              <a:rPr lang="en-US" sz="1400" b="0">
                <a:solidFill>
                  <a:srgbClr val="CCDDFF"/>
                </a:solidFill>
              </a:rPr>
              <a:t>5. Inclusive — Use respectful, non-judgmental language regardless of weight or age</a:t>
            </a:r>
          </a:p>
        </p:txBody>
      </p:sp>
    </p:spTree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54" name="TopBar"/>
          <p:cNvSpPr txBox="1"/>
          <p:nvPr/>
        </p:nvSpPr>
        <p:spPr>
          <a:xfrm xmlns:a="http://schemas.openxmlformats.org/drawingml/2006/main">
            <a:off x="0" y="0"/>
            <a:ext cx="12193200" cy="50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346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 b="1">
                <a:solidFill>
                  <a:srgbClr val="FFFFFF"/>
                </a:solidFill>
              </a:rPr>
              <a:t>06  Key Features</a:t>
            </a:r>
          </a:p>
        </p:txBody>
      </p:sp>
      <p:sp>
        <p:nvSpPr>
          <p:cNvPr id="100055" name="BottomBar"/>
          <p:cNvSpPr txBox="1"/>
          <p:nvPr/>
        </p:nvSpPr>
        <p:spPr>
          <a:xfrm xmlns:a="http://schemas.openxmlformats.org/drawingml/2006/main">
            <a:off x="0" y="6588000"/>
            <a:ext cx="12193200" cy="28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2F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>
                <a:solidFill>
                  <a:srgbClr val="FFFFFF"/>
                </a:solidFill>
              </a:rPr>
              <a:t>IBM Granite LLM  |  Agentic AI Application</a:t>
            </a:r>
          </a:p>
        </p:txBody>
      </p:sp>
      <p:sp>
        <p:nvSpPr>
          <p:cNvPr id="100056" name="F1"/>
          <p:cNvSpPr txBox="1"/>
          <p:nvPr/>
        </p:nvSpPr>
        <p:spPr>
          <a:xfrm xmlns:a="http://schemas.openxmlformats.org/drawingml/2006/main">
            <a:off x="360000" y="648000"/>
            <a:ext cx="5580000" cy="10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0">
                <a:solidFill>
                  <a:srgbClr val="0A3060"/>
                </a:solidFill>
              </a:rPr>
              <a:t>7-Day Meal Plan</a:t>
            </a:r>
          </a:p>
          <a:p xmlns:a="http://schemas.openxmlformats.org/drawingml/2006/main">
            <a:r>
              <a:rPr lang="en-US" sz="1400" b="0">
                <a:solidFill>
                  <a:srgbClr val="0A3060"/>
                </a:solidFill>
              </a:rPr>
              <a:t>Breakfast, mid-morning snack, lunch, evening snack &amp; dinner — with calorie targets per meal</a:t>
            </a:r>
          </a:p>
        </p:txBody>
      </p:sp>
      <p:sp>
        <p:nvSpPr>
          <p:cNvPr id="100057" name="F2"/>
          <p:cNvSpPr txBox="1"/>
          <p:nvPr/>
        </p:nvSpPr>
        <p:spPr>
          <a:xfrm xmlns:a="http://schemas.openxmlformats.org/drawingml/2006/main">
            <a:off x="6300000" y="648000"/>
            <a:ext cx="5580000" cy="10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FE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0">
                <a:solidFill>
                  <a:srgbClr val="0A4A0A"/>
                </a:solidFill>
              </a:rPr>
              <a:t>Medical-Aware Planning</a:t>
            </a:r>
          </a:p>
          <a:p xmlns:a="http://schemas.openxmlformats.org/drawingml/2006/main">
            <a:r>
              <a:rPr lang="en-US" sz="1400" b="0">
                <a:solidFill>
                  <a:srgbClr val="0A4A0A"/>
                </a:solidFill>
              </a:rPr>
              <a:t>Adapts for diabetes, hypertension, heart disease, PCOS, thyroid, kidney disease</a:t>
            </a:r>
          </a:p>
        </p:txBody>
      </p:sp>
      <p:sp>
        <p:nvSpPr>
          <p:cNvPr id="100058" name="F3"/>
          <p:cNvSpPr txBox="1"/>
          <p:nvPr/>
        </p:nvSpPr>
        <p:spPr>
          <a:xfrm xmlns:a="http://schemas.openxmlformats.org/drawingml/2006/main">
            <a:off x="360000" y="1872000"/>
            <a:ext cx="5580000" cy="10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0">
                <a:solidFill>
                  <a:srgbClr val="5A3500"/>
                </a:solidFill>
              </a:rPr>
              <a:t>Location-Aware Meals</a:t>
            </a:r>
          </a:p>
          <a:p xmlns:a="http://schemas.openxmlformats.org/drawingml/2006/main">
            <a:r>
              <a:rPr lang="en-US" sz="1400" b="0">
                <a:solidFill>
                  <a:srgbClr val="5A3500"/>
                </a:solidFill>
              </a:rPr>
              <a:t>Recommends locally available foods from the user's country — culturally relevant</a:t>
            </a:r>
          </a:p>
        </p:txBody>
      </p:sp>
      <p:sp>
        <p:nvSpPr>
          <p:cNvPr id="100059" name="F4"/>
          <p:cNvSpPr txBox="1"/>
          <p:nvPr/>
        </p:nvSpPr>
        <p:spPr>
          <a:xfrm xmlns:a="http://schemas.openxmlformats.org/drawingml/2006/main">
            <a:off x="6300000" y="1872000"/>
            <a:ext cx="5580000" cy="10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8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0">
                <a:solidFill>
                  <a:srgbClr val="3A0A5A"/>
                </a:solidFill>
              </a:rPr>
              <a:t>NutriBot Chat Agent</a:t>
            </a:r>
          </a:p>
          <a:p xmlns:a="http://schemas.openxmlformats.org/drawingml/2006/main">
            <a:r>
              <a:rPr lang="en-US" sz="1400" b="0">
                <a:solidFill>
                  <a:srgbClr val="3A0A5A"/>
                </a:solidFill>
              </a:rPr>
              <a:t>Conversational AI for instant nutrition Q&amp;A with session context from generated plan</a:t>
            </a:r>
          </a:p>
        </p:txBody>
      </p:sp>
      <p:sp>
        <p:nvSpPr>
          <p:cNvPr id="100060" name="F5"/>
          <p:cNvSpPr txBox="1"/>
          <p:nvPr/>
        </p:nvSpPr>
        <p:spPr>
          <a:xfrm xmlns:a="http://schemas.openxmlformats.org/drawingml/2006/main">
            <a:off x="360000" y="3096000"/>
            <a:ext cx="5580000" cy="10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8E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0">
                <a:solidFill>
                  <a:srgbClr val="5A0A0A"/>
                </a:solidFill>
              </a:rPr>
              <a:t>Markdown (.md) Export</a:t>
            </a:r>
          </a:p>
          <a:p xmlns:a="http://schemas.openxmlformats.org/drawingml/2006/main">
            <a:r>
              <a:rPr lang="en-US" sz="1400" b="0">
                <a:solidFill>
                  <a:srgbClr val="5A0A0A"/>
                </a:solidFill>
              </a:rPr>
              <a:t>Download complete nutrition plan as a structured, shareable .md file</a:t>
            </a:r>
          </a:p>
        </p:txBody>
      </p:sp>
      <p:sp>
        <p:nvSpPr>
          <p:cNvPr id="100061" name="F6"/>
          <p:cNvSpPr txBox="1"/>
          <p:nvPr/>
        </p:nvSpPr>
        <p:spPr>
          <a:xfrm xmlns:a="http://schemas.openxmlformats.org/drawingml/2006/main">
            <a:off x="6300000" y="3096000"/>
            <a:ext cx="5580000" cy="10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0">
                <a:solidFill>
                  <a:srgbClr val="0A4A4A"/>
                </a:solidFill>
              </a:rPr>
              <a:t>AI Ethics Guardrails</a:t>
            </a:r>
          </a:p>
          <a:p xmlns:a="http://schemas.openxmlformats.org/drawingml/2006/main">
            <a:r>
              <a:rPr lang="en-US" sz="1400" b="0">
                <a:solidFill>
                  <a:srgbClr val="0A4A4A"/>
                </a:solidFill>
              </a:rPr>
              <a:t>Harmful content detection across 12 categories; blocks dangerous diet advice automatically</a:t>
            </a:r>
          </a:p>
        </p:txBody>
      </p:sp>
      <p:sp>
        <p:nvSpPr>
          <p:cNvPr id="100062" name="F7"/>
          <p:cNvSpPr txBox="1"/>
          <p:nvPr/>
        </p:nvSpPr>
        <p:spPr>
          <a:xfrm xmlns:a="http://schemas.openxmlformats.org/drawingml/2006/main">
            <a:off x="360000" y="4320000"/>
            <a:ext cx="5580000" cy="9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F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0">
                <a:solidFill>
                  <a:srgbClr val="333333"/>
                </a:solidFill>
              </a:rPr>
              <a:t>Demo Mode (No API Key)</a:t>
            </a:r>
          </a:p>
          <a:p xmlns:a="http://schemas.openxmlformats.org/drawingml/2006/main">
            <a:r>
              <a:rPr lang="en-US" sz="1400" b="0">
                <a:solidFill>
                  <a:srgbClr val="333333"/>
                </a:solidFill>
              </a:rPr>
              <a:t>Fully functional without IBM credentials — built-in nutrition intelligence for evaluation</a:t>
            </a:r>
          </a:p>
        </p:txBody>
      </p:sp>
      <p:sp>
        <p:nvSpPr>
          <p:cNvPr id="100063" name="F8"/>
          <p:cNvSpPr txBox="1"/>
          <p:nvPr/>
        </p:nvSpPr>
        <p:spPr>
          <a:xfrm xmlns:a="http://schemas.openxmlformats.org/drawingml/2006/main">
            <a:off x="6300000" y="4320000"/>
            <a:ext cx="5580000" cy="9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0">
                <a:solidFill>
                  <a:srgbClr val="0A0A5A"/>
                </a:solidFill>
              </a:rPr>
              <a:t>Responsive Web UI</a:t>
            </a:r>
          </a:p>
          <a:p xmlns:a="http://schemas.openxmlformats.org/drawingml/2006/main">
            <a:r>
              <a:rPr lang="en-US" sz="1400" b="0">
                <a:solidFill>
                  <a:srgbClr val="0A0A5A"/>
                </a:solidFill>
              </a:rPr>
              <a:t>3-tab interface: Plan Generator, Chat Agent, About — works on desktop, tablet &amp; mobile</a:t>
            </a:r>
          </a:p>
        </p:txBody>
      </p:sp>
    </p:spTree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0F4F8"/>
        </a:solidFill>
      </p:bgPr>
    </p:bg>
    <p:spTree>
      <p:nvGrpSpPr>
        <p:cNvPr id="1" name=""/>
        <p:cNvGrpSpPr/>
        <p:nvPr/>
      </p:nvGrpSpPr>
      <p:grpSpPr/>
      <p:sp>
        <p:nvSpPr>
          <p:cNvPr id="100064" name="TopBar"/>
          <p:cNvSpPr txBox="1"/>
          <p:nvPr/>
        </p:nvSpPr>
        <p:spPr>
          <a:xfrm xmlns:a="http://schemas.openxmlformats.org/drawingml/2006/main">
            <a:off x="0" y="0"/>
            <a:ext cx="12193200" cy="50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346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 b="1">
                <a:solidFill>
                  <a:srgbClr val="FFFFFF"/>
                </a:solidFill>
              </a:rPr>
              <a:t>07  Web Application UI — Main Screen</a:t>
            </a:r>
          </a:p>
        </p:txBody>
      </p:sp>
      <p:sp>
        <p:nvSpPr>
          <p:cNvPr id="100065" name="BottomBar"/>
          <p:cNvSpPr txBox="1"/>
          <p:nvPr/>
        </p:nvSpPr>
        <p:spPr>
          <a:xfrm xmlns:a="http://schemas.openxmlformats.org/drawingml/2006/main">
            <a:off x="0" y="6588000"/>
            <a:ext cx="12193200" cy="28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2F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>
                <a:solidFill>
                  <a:srgbClr val="FFFFFF"/>
                </a:solidFill>
              </a:rPr>
              <a:t>IBM Granite LLM  |  Agentic AI Application</a:t>
            </a:r>
          </a:p>
        </p:txBody>
      </p:sp>
      <p:sp>
        <p:nvSpPr>
          <p:cNvPr id="100066" name="Browser"/>
          <p:cNvSpPr txBox="1"/>
          <p:nvPr/>
        </p:nvSpPr>
        <p:spPr>
          <a:xfrm xmlns:a="http://schemas.openxmlformats.org/drawingml/2006/main">
            <a:off x="720000" y="648000"/>
            <a:ext cx="10440000" cy="55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1200">
              <a:solidFill>
                <a:srgbClr val="333333"/>
              </a:solidFill>
            </a:endParaRPr>
          </a:p>
        </p:txBody>
      </p:sp>
      <p:sp>
        <p:nvSpPr>
          <p:cNvPr id="100067" name="Header"/>
          <p:cNvSpPr txBox="1"/>
          <p:nvPr/>
        </p:nvSpPr>
        <p:spPr>
          <a:xfrm xmlns:a="http://schemas.openxmlformats.org/drawingml/2006/main">
            <a:off x="720000" y="648000"/>
            <a:ext cx="10440000" cy="43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346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FFFFFF"/>
                </a:solidFill>
              </a:rPr>
              <a:t>   NutriBot AI         Nutrition Plan      Ask NutriBot      About                                                          IBM  Granite</a:t>
            </a:r>
          </a:p>
        </p:txBody>
      </p:sp>
      <p:sp>
        <p:nvSpPr>
          <p:cNvPr id="100068" name="HeroText"/>
          <p:cNvSpPr txBox="1"/>
          <p:nvPr/>
        </p:nvSpPr>
        <p:spPr>
          <a:xfrm xmlns:a="http://schemas.openxmlformats.org/drawingml/2006/main">
            <a:off x="2160000" y="1188000"/>
            <a:ext cx="7560000" cy="64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0">
                <a:solidFill>
                  <a:srgbClr val="0F3460"/>
                </a:solidFill>
                <a:latin typeface="Calibri"/>
                <a:ea typeface="Calibri"/>
              </a:rPr>
              <a:t>Personalized Nutrition Plan</a:t>
            </a:r>
          </a:p>
          <a:p xmlns:a="http://schemas.openxmlformats.org/drawingml/2006/main">
            <a:r>
              <a:rPr lang="en-US" sz="1600" b="0">
                <a:solidFill>
                  <a:srgbClr val="0F3460"/>
                </a:solidFill>
                <a:latin typeface="Calibri"/>
                <a:ea typeface="Calibri"/>
              </a:rPr>
              <a:t>Fill in your details below and let IBM Granite AI craft a 7-day nutrition plan tailored specifically to you.</a:t>
            </a:r>
          </a:p>
        </p:txBody>
      </p:sp>
      <p:sp>
        <p:nvSpPr>
          <p:cNvPr id="100069" name="FormCard"/>
          <p:cNvSpPr txBox="1"/>
          <p:nvPr/>
        </p:nvSpPr>
        <p:spPr>
          <a:xfrm xmlns:a="http://schemas.openxmlformats.org/drawingml/2006/main">
            <a:off x="792000" y="1944000"/>
            <a:ext cx="4680000" cy="34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B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0">
                <a:solidFill>
                  <a:srgbClr val="1A202C"/>
                </a:solidFill>
              </a:rPr>
              <a:t>Your Profile</a:t>
            </a:r>
          </a:p>
          <a:p xmlns:a="http://schemas.openxmlformats.org/drawingml/2006/main">
            <a:r>
              <a:rPr lang="en-US" sz="1200" b="0">
                <a:solidFill>
                  <a:srgbClr val="1A202C"/>
                </a:solidFill>
              </a:rPr>
              <a:t/>
            </a:r>
          </a:p>
          <a:p xmlns:a="http://schemas.openxmlformats.org/drawingml/2006/main">
            <a:r>
              <a:rPr lang="en-US" sz="1200" b="0">
                <a:solidFill>
                  <a:srgbClr val="1A202C"/>
                </a:solidFill>
              </a:rPr>
              <a:t>Full Name: Priya Patel                Age: 35</a:t>
            </a:r>
          </a:p>
          <a:p xmlns:a="http://schemas.openxmlformats.org/drawingml/2006/main">
            <a:r>
              <a:rPr lang="en-US" sz="1200" b="0">
                <a:solidFill>
                  <a:srgbClr val="1A202C"/>
                </a:solidFill>
              </a:rPr>
              <a:t>City: Mumbai                               Country: India</a:t>
            </a:r>
          </a:p>
          <a:p xmlns:a="http://schemas.openxmlformats.org/drawingml/2006/main">
            <a:r>
              <a:rPr lang="en-US" sz="1200" b="0">
                <a:solidFill>
                  <a:srgbClr val="1A202C"/>
                </a:solidFill>
              </a:rPr>
              <a:t/>
            </a:r>
          </a:p>
          <a:p xmlns:a="http://schemas.openxmlformats.org/drawingml/2006/main">
            <a:r>
              <a:rPr lang="en-US" sz="1200" b="0">
                <a:solidFill>
                  <a:srgbClr val="1A202C"/>
                </a:solidFill>
              </a:rPr>
              <a:t>Diet:  [x] Vegetarian   [ ] Non-Veg   [ ] Vegan   [ ] Pescatarian</a:t>
            </a:r>
          </a:p>
          <a:p xmlns:a="http://schemas.openxmlformats.org/drawingml/2006/main">
            <a:r>
              <a:rPr lang="en-US" sz="1200" b="0">
                <a:solidFill>
                  <a:srgbClr val="1A202C"/>
                </a:solidFill>
              </a:rPr>
              <a:t/>
            </a:r>
          </a:p>
          <a:p xmlns:a="http://schemas.openxmlformats.org/drawingml/2006/main">
            <a:r>
              <a:rPr lang="en-US" sz="1200" b="0">
                <a:solidFill>
                  <a:srgbClr val="1A202C"/>
                </a:solidFill>
              </a:rPr>
              <a:t>Medical: [x] Diabetes   [x] Hypertension   [ ] Heart Disease   [ ] PCOS</a:t>
            </a:r>
          </a:p>
          <a:p xmlns:a="http://schemas.openxmlformats.org/drawingml/2006/main">
            <a:r>
              <a:rPr lang="en-US" sz="1200" b="0">
                <a:solidFill>
                  <a:srgbClr val="1A202C"/>
                </a:solidFill>
              </a:rPr>
              <a:t/>
            </a:r>
          </a:p>
          <a:p xmlns:a="http://schemas.openxmlformats.org/drawingml/2006/main">
            <a:r>
              <a:rPr lang="en-US" sz="1200" b="0">
                <a:solidFill>
                  <a:srgbClr val="1A202C"/>
                </a:solidFill>
              </a:rPr>
              <a:t>Health Goal: [Diabetes Management   v]</a:t>
            </a:r>
          </a:p>
          <a:p xmlns:a="http://schemas.openxmlformats.org/drawingml/2006/main">
            <a:r>
              <a:rPr lang="en-US" sz="1200" b="0">
                <a:solidFill>
                  <a:srgbClr val="1A202C"/>
                </a:solidFill>
              </a:rPr>
              <a:t>Activity Level: [Moderate (3-5 days/week)   v]</a:t>
            </a:r>
          </a:p>
          <a:p xmlns:a="http://schemas.openxmlformats.org/drawingml/2006/main">
            <a:r>
              <a:rPr lang="en-US" sz="1200" b="0">
                <a:solidFill>
                  <a:srgbClr val="1A202C"/>
                </a:solidFill>
              </a:rPr>
              <a:t/>
            </a:r>
          </a:p>
          <a:p xmlns:a="http://schemas.openxmlformats.org/drawingml/2006/main">
            <a:r>
              <a:rPr lang="en-US" sz="1200" b="0">
                <a:solidFill>
                  <a:srgbClr val="1A202C"/>
                </a:solidFill>
              </a:rPr>
              <a:t>[  Generate My Nutrition Plan  ]</a:t>
            </a:r>
          </a:p>
        </p:txBody>
      </p:sp>
      <p:sp>
        <p:nvSpPr>
          <p:cNvPr id="100070" name="ResultCard"/>
          <p:cNvSpPr txBox="1"/>
          <p:nvPr/>
        </p:nvSpPr>
        <p:spPr>
          <a:xfrm xmlns:a="http://schemas.openxmlformats.org/drawingml/2006/main">
            <a:off x="5760000" y="1944000"/>
            <a:ext cx="5328000" cy="34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B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64748B"/>
                </a:solidFill>
              </a:rPr>
              <a:t>Your Plan Will Appear Here</a:t>
            </a:r>
          </a:p>
          <a:p xmlns:a="http://schemas.openxmlformats.org/drawingml/2006/main">
            <a:r>
              <a:rPr lang="en-US" sz="1300" b="0">
                <a:solidFill>
                  <a:srgbClr val="64748B"/>
                </a:solidFill>
              </a:rPr>
              <a:t/>
            </a:r>
          </a:p>
          <a:p xmlns:a="http://schemas.openxmlformats.org/drawingml/2006/main">
            <a:r>
              <a:rPr lang="en-US" sz="1300" b="0">
                <a:solidFill>
                  <a:srgbClr val="64748B"/>
                </a:solidFill>
              </a:rPr>
              <a:t>[Green Pills Below]</a:t>
            </a:r>
          </a:p>
          <a:p xmlns:a="http://schemas.openxmlformats.org/drawingml/2006/main">
            <a:r>
              <a:rPr lang="en-US" sz="1300" b="0">
                <a:solidFill>
                  <a:srgbClr val="64748B"/>
                </a:solidFill>
              </a:rPr>
              <a:t>v  7-Day Meal Plan</a:t>
            </a:r>
          </a:p>
          <a:p xmlns:a="http://schemas.openxmlformats.org/drawingml/2006/main">
            <a:r>
              <a:rPr lang="en-US" sz="1300" b="0">
                <a:solidFill>
                  <a:srgbClr val="64748B"/>
                </a:solidFill>
              </a:rPr>
              <a:t>v  Calorie Targets</a:t>
            </a:r>
          </a:p>
          <a:p xmlns:a="http://schemas.openxmlformats.org/drawingml/2006/main">
            <a:r>
              <a:rPr lang="en-US" sz="1300" b="0">
                <a:solidFill>
                  <a:srgbClr val="64748B"/>
                </a:solidFill>
              </a:rPr>
              <a:t>v  Medical Guardrails</a:t>
            </a:r>
          </a:p>
          <a:p xmlns:a="http://schemas.openxmlformats.org/drawingml/2006/main">
            <a:r>
              <a:rPr lang="en-US" sz="1300" b="0">
                <a:solidFill>
                  <a:srgbClr val="64748B"/>
                </a:solidFill>
              </a:rPr>
              <a:t>v  Local Food Options</a:t>
            </a:r>
          </a:p>
          <a:p xmlns:a="http://schemas.openxmlformats.org/drawingml/2006/main">
            <a:r>
              <a:rPr lang="en-US" sz="1300" b="0">
                <a:solidFill>
                  <a:srgbClr val="64748B"/>
                </a:solidFill>
              </a:rPr>
              <a:t>v  Hydration Guide</a:t>
            </a:r>
          </a:p>
          <a:p xmlns:a="http://schemas.openxmlformats.org/drawingml/2006/main">
            <a:r>
              <a:rPr lang="en-US" sz="1300" b="0">
                <a:solidFill>
                  <a:srgbClr val="64748B"/>
                </a:solidFill>
              </a:rPr>
              <a:t>v  Nutrition Tips</a:t>
            </a:r>
          </a:p>
        </p:txBody>
      </p:sp>
    </p:spTree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71" name="TopBar"/>
          <p:cNvSpPr txBox="1"/>
          <p:nvPr/>
        </p:nvSpPr>
        <p:spPr>
          <a:xfrm xmlns:a="http://schemas.openxmlformats.org/drawingml/2006/main">
            <a:off x="0" y="0"/>
            <a:ext cx="12193200" cy="50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346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 b="1">
                <a:solidFill>
                  <a:srgbClr val="FFFFFF"/>
                </a:solidFill>
              </a:rPr>
              <a:t>08  User Profile Collection — Input Fields</a:t>
            </a:r>
          </a:p>
        </p:txBody>
      </p:sp>
      <p:sp>
        <p:nvSpPr>
          <p:cNvPr id="100072" name="BottomBar"/>
          <p:cNvSpPr txBox="1"/>
          <p:nvPr/>
        </p:nvSpPr>
        <p:spPr>
          <a:xfrm xmlns:a="http://schemas.openxmlformats.org/drawingml/2006/main">
            <a:off x="0" y="6588000"/>
            <a:ext cx="12193200" cy="28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2F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>
                <a:solidFill>
                  <a:srgbClr val="FFFFFF"/>
                </a:solidFill>
              </a:rPr>
              <a:t>IBM Granite LLM  |  Agentic AI Application</a:t>
            </a:r>
          </a:p>
        </p:txBody>
      </p:sp>
      <p:sp>
        <p:nvSpPr>
          <p:cNvPr id="100073" name="Intro"/>
          <p:cNvSpPr txBox="1"/>
          <p:nvPr/>
        </p:nvSpPr>
        <p:spPr>
          <a:xfrm xmlns:a="http://schemas.openxmlformats.org/drawingml/2006/main">
            <a:off x="720000" y="576000"/>
            <a:ext cx="10440000" cy="28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 b="0">
                <a:solidFill>
                  <a:srgbClr val="444444"/>
                </a:solidFill>
                <a:latin typeface="Calibri"/>
                <a:ea typeface="Calibri"/>
              </a:rPr>
              <a:t>The agent collects 8 structured data points to reason about the user's nutritional needs:</a:t>
            </a:r>
          </a:p>
        </p:txBody>
      </p:sp>
      <p:sp>
        <p:nvSpPr>
          <p:cNvPr id="100074" name="Step1"/>
          <p:cNvSpPr txBox="1"/>
          <p:nvPr/>
        </p:nvSpPr>
        <p:spPr>
          <a:xfrm xmlns:a="http://schemas.openxmlformats.org/drawingml/2006/main">
            <a:off x="720000" y="972000"/>
            <a:ext cx="5040000" cy="9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0">
                <a:solidFill>
                  <a:srgbClr val="0F3460"/>
                </a:solidFill>
              </a:rPr>
              <a:t>Step 1 — Personal Info</a:t>
            </a:r>
          </a:p>
          <a:p xmlns:a="http://schemas.openxmlformats.org/drawingml/2006/main">
            <a:r>
              <a:rPr lang="en-US" sz="1400" b="0">
                <a:solidFill>
                  <a:srgbClr val="0F3460"/>
                </a:solidFill>
              </a:rPr>
              <a:t>  Full Name:  Priya Patel</a:t>
            </a:r>
          </a:p>
          <a:p xmlns:a="http://schemas.openxmlformats.org/drawingml/2006/main">
            <a:r>
              <a:rPr lang="en-US" sz="1400" b="0">
                <a:solidFill>
                  <a:srgbClr val="0F3460"/>
                </a:solidFill>
              </a:rPr>
              <a:t>  Age:            35 years</a:t>
            </a:r>
          </a:p>
        </p:txBody>
      </p:sp>
      <p:sp>
        <p:nvSpPr>
          <p:cNvPr id="100075" name="Step2"/>
          <p:cNvSpPr txBox="1"/>
          <p:nvPr/>
        </p:nvSpPr>
        <p:spPr>
          <a:xfrm xmlns:a="http://schemas.openxmlformats.org/drawingml/2006/main">
            <a:off x="6120000" y="972000"/>
            <a:ext cx="5040000" cy="9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FF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0">
                <a:solidFill>
                  <a:srgbClr val="0A4A1A"/>
                </a:solidFill>
              </a:rPr>
              <a:t>Step 2 — Location</a:t>
            </a:r>
          </a:p>
          <a:p xmlns:a="http://schemas.openxmlformats.org/drawingml/2006/main">
            <a:r>
              <a:rPr lang="en-US" sz="1400" b="0">
                <a:solidFill>
                  <a:srgbClr val="0A4A1A"/>
                </a:solidFill>
              </a:rPr>
              <a:t>  City:       Mumbai</a:t>
            </a:r>
          </a:p>
          <a:p xmlns:a="http://schemas.openxmlformats.org/drawingml/2006/main">
            <a:r>
              <a:rPr lang="en-US" sz="1400" b="0">
                <a:solidFill>
                  <a:srgbClr val="0A4A1A"/>
                </a:solidFill>
              </a:rPr>
              <a:t>  Country: India</a:t>
            </a:r>
          </a:p>
        </p:txBody>
      </p:sp>
      <p:sp>
        <p:nvSpPr>
          <p:cNvPr id="100076" name="Step3"/>
          <p:cNvSpPr txBox="1"/>
          <p:nvPr/>
        </p:nvSpPr>
        <p:spPr>
          <a:xfrm xmlns:a="http://schemas.openxmlformats.org/drawingml/2006/main">
            <a:off x="720000" y="2052000"/>
            <a:ext cx="5040000" cy="9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0">
                <a:solidFill>
                  <a:srgbClr val="5A3500"/>
                </a:solidFill>
              </a:rPr>
              <a:t>Step 3 — Diet Preference</a:t>
            </a:r>
          </a:p>
          <a:p xmlns:a="http://schemas.openxmlformats.org/drawingml/2006/main">
            <a:r>
              <a:rPr lang="en-US" sz="1400" b="0">
                <a:solidFill>
                  <a:srgbClr val="5A3500"/>
                </a:solidFill>
              </a:rPr>
              <a:t>  [x] Vegetarian</a:t>
            </a:r>
          </a:p>
          <a:p xmlns:a="http://schemas.openxmlformats.org/drawingml/2006/main">
            <a:r>
              <a:rPr lang="en-US" sz="1400" b="0">
                <a:solidFill>
                  <a:srgbClr val="5A3500"/>
                </a:solidFill>
              </a:rPr>
              <a:t>  [ ] Non-Vegetarian   [ ] Vegan   [ ] Pescatarian</a:t>
            </a:r>
          </a:p>
        </p:txBody>
      </p:sp>
      <p:sp>
        <p:nvSpPr>
          <p:cNvPr id="100077" name="Step4"/>
          <p:cNvSpPr txBox="1"/>
          <p:nvPr/>
        </p:nvSpPr>
        <p:spPr>
          <a:xfrm xmlns:a="http://schemas.openxmlformats.org/drawingml/2006/main">
            <a:off x="6120000" y="2052000"/>
            <a:ext cx="5040000" cy="9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8E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0">
                <a:solidFill>
                  <a:srgbClr val="5A0A0A"/>
                </a:solidFill>
              </a:rPr>
              <a:t>Step 4 — Medical History</a:t>
            </a:r>
          </a:p>
          <a:p xmlns:a="http://schemas.openxmlformats.org/drawingml/2006/main">
            <a:r>
              <a:rPr lang="en-US" sz="1400" b="0">
                <a:solidFill>
                  <a:srgbClr val="5A0A0A"/>
                </a:solidFill>
              </a:rPr>
              <a:t>  [x] Diabetes     [x] Hypertension</a:t>
            </a:r>
          </a:p>
          <a:p xmlns:a="http://schemas.openxmlformats.org/drawingml/2006/main">
            <a:r>
              <a:rPr lang="en-US" sz="1400" b="0">
                <a:solidFill>
                  <a:srgbClr val="5A0A0A"/>
                </a:solidFill>
              </a:rPr>
              <a:t>  [ ] Heart Disease   [ ] PCOS   [ ] Thyroid</a:t>
            </a:r>
          </a:p>
        </p:txBody>
      </p:sp>
      <p:sp>
        <p:nvSpPr>
          <p:cNvPr id="100078" name="Step5"/>
          <p:cNvSpPr txBox="1"/>
          <p:nvPr/>
        </p:nvSpPr>
        <p:spPr>
          <a:xfrm xmlns:a="http://schemas.openxmlformats.org/drawingml/2006/main">
            <a:off x="720000" y="3132000"/>
            <a:ext cx="10440000" cy="9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8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0">
                <a:solidFill>
                  <a:srgbClr val="3A0A5A"/>
                </a:solidFill>
              </a:rPr>
              <a:t>Step 5 — Goal &amp; Activity</a:t>
            </a:r>
          </a:p>
          <a:p xmlns:a="http://schemas.openxmlformats.org/drawingml/2006/main">
            <a:r>
              <a:rPr lang="en-US" sz="1400" b="0">
                <a:solidFill>
                  <a:srgbClr val="3A0A5A"/>
                </a:solidFill>
              </a:rPr>
              <a:t>  Health Goal:    Diabetes Management</a:t>
            </a:r>
          </a:p>
          <a:p xmlns:a="http://schemas.openxmlformats.org/drawingml/2006/main">
            <a:r>
              <a:rPr lang="en-US" sz="1400" b="0">
                <a:solidFill>
                  <a:srgbClr val="3A0A5A"/>
                </a:solidFill>
              </a:rPr>
              <a:t>  Activity Level:  Moderate (3-5 days/week)</a:t>
            </a:r>
          </a:p>
        </p:txBody>
      </p:sp>
      <p:sp>
        <p:nvSpPr>
          <p:cNvPr id="100079" name="APIPayload"/>
          <p:cNvSpPr txBox="1"/>
          <p:nvPr/>
        </p:nvSpPr>
        <p:spPr>
          <a:xfrm xmlns:a="http://schemas.openxmlformats.org/drawingml/2006/main">
            <a:off x="720000" y="4248000"/>
            <a:ext cx="10440000" cy="14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2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00FF88"/>
                </a:solidFill>
                <a:latin typeface="Courier New"/>
                <a:ea typeface="Courier New"/>
              </a:rPr>
              <a:t>API Payload sent to IBM Granite:</a:t>
            </a:r>
          </a:p>
          <a:p xmlns:a="http://schemas.openxmlformats.org/drawingml/2006/main">
            <a:r>
              <a:rPr lang="en-US" sz="1300" b="0">
                <a:solidFill>
                  <a:srgbClr val="00FF88"/>
                </a:solidFill>
                <a:latin typeface="Courier New"/>
                <a:ea typeface="Courier New"/>
              </a:rPr>
              <a:t>{</a:t>
            </a:r>
          </a:p>
          <a:p xmlns:a="http://schemas.openxmlformats.org/drawingml/2006/main">
            <a:r>
              <a:rPr lang="en-US" sz="1300" b="0">
                <a:solidFill>
                  <a:srgbClr val="00FF88"/>
                </a:solidFill>
                <a:latin typeface="Courier New"/>
                <a:ea typeface="Courier New"/>
              </a:rPr>
              <a:t>  "name": "Priya Patel",  "age": "35",  "diet": "Vegetarian",</a:t>
            </a:r>
          </a:p>
          <a:p xmlns:a="http://schemas.openxmlformats.org/drawingml/2006/main">
            <a:r>
              <a:rPr lang="en-US" sz="1300" b="0">
                <a:solidFill>
                  <a:srgbClr val="00FF88"/>
                </a:solidFill>
                <a:latin typeface="Courier New"/>
                <a:ea typeface="Courier New"/>
              </a:rPr>
              <a:t>  "city": "Mumbai",  "country": "India",</a:t>
            </a:r>
          </a:p>
          <a:p xmlns:a="http://schemas.openxmlformats.org/drawingml/2006/main">
            <a:r>
              <a:rPr lang="en-US" sz="1300" b="0">
                <a:solidFill>
                  <a:srgbClr val="00FF88"/>
                </a:solidFill>
                <a:latin typeface="Courier New"/>
                <a:ea typeface="Courier New"/>
              </a:rPr>
              <a:t>  "medical_history": "Diabetes, Hypertension",</a:t>
            </a:r>
          </a:p>
          <a:p xmlns:a="http://schemas.openxmlformats.org/drawingml/2006/main">
            <a:r>
              <a:rPr lang="en-US" sz="1300" b="0">
                <a:solidFill>
                  <a:srgbClr val="00FF88"/>
                </a:solidFill>
                <a:latin typeface="Courier New"/>
                <a:ea typeface="Courier New"/>
              </a:rPr>
              <a:t>  "goal": "diabetes management",  "activity": "moderate"</a:t>
            </a:r>
          </a:p>
          <a:p xmlns:a="http://schemas.openxmlformats.org/drawingml/2006/main">
            <a:r>
              <a:rPr lang="en-US" sz="1300" b="0">
                <a:solidFill>
                  <a:srgbClr val="00FF88"/>
                </a:solidFill>
                <a:latin typeface="Courier New"/>
                <a:ea typeface="Courier New"/>
              </a:rPr>
              <a:t>}</a:t>
            </a:r>
          </a:p>
        </p:txBody>
      </p:sp>
    </p:spTree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0F4F8"/>
        </a:solidFill>
      </p:bgPr>
    </p:bg>
    <p:spTree>
      <p:nvGrpSpPr>
        <p:cNvPr id="1" name=""/>
        <p:cNvGrpSpPr/>
        <p:nvPr/>
      </p:nvGrpSpPr>
      <p:grpSpPr/>
      <p:sp>
        <p:nvSpPr>
          <p:cNvPr id="100080" name="TopBar"/>
          <p:cNvSpPr txBox="1"/>
          <p:nvPr/>
        </p:nvSpPr>
        <p:spPr>
          <a:xfrm xmlns:a="http://schemas.openxmlformats.org/drawingml/2006/main">
            <a:off x="0" y="0"/>
            <a:ext cx="12193200" cy="50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346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 b="1">
                <a:solidFill>
                  <a:srgbClr val="FFFFFF"/>
                </a:solidFill>
              </a:rPr>
              <a:t>09  Generated Nutrition Plan — Output Screen</a:t>
            </a:r>
          </a:p>
        </p:txBody>
      </p:sp>
      <p:sp>
        <p:nvSpPr>
          <p:cNvPr id="100081" name="BottomBar"/>
          <p:cNvSpPr txBox="1"/>
          <p:nvPr/>
        </p:nvSpPr>
        <p:spPr>
          <a:xfrm xmlns:a="http://schemas.openxmlformats.org/drawingml/2006/main">
            <a:off x="0" y="6588000"/>
            <a:ext cx="12193200" cy="28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2F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>
                <a:solidFill>
                  <a:srgbClr val="FFFFFF"/>
                </a:solidFill>
              </a:rPr>
              <a:t>IBM Granite LLM  |  Agentic AI Application</a:t>
            </a:r>
          </a:p>
        </p:txBody>
      </p:sp>
      <p:sp>
        <p:nvSpPr>
          <p:cNvPr id="100082" name="PlanHeader"/>
          <p:cNvSpPr txBox="1"/>
          <p:nvPr/>
        </p:nvSpPr>
        <p:spPr>
          <a:xfrm xmlns:a="http://schemas.openxmlformats.org/drawingml/2006/main">
            <a:off x="792000" y="648000"/>
            <a:ext cx="10440000" cy="3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1">
                <a:solidFill>
                  <a:srgbClr val="0F3460"/>
                </a:solidFill>
              </a:rPr>
              <a:t>Your Nutrition Plan              [Download .md]  [Copy]  [Print]</a:t>
            </a:r>
          </a:p>
        </p:txBody>
      </p:sp>
      <p:sp>
        <p:nvSpPr>
          <p:cNvPr id="100083" name="ModelBadge"/>
          <p:cNvSpPr txBox="1"/>
          <p:nvPr/>
        </p:nvSpPr>
        <p:spPr>
          <a:xfrm xmlns:a="http://schemas.openxmlformats.org/drawingml/2006/main">
            <a:off x="792000" y="1044000"/>
            <a:ext cx="7200000" cy="25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0">
                <a:solidFill>
                  <a:srgbClr val="0F62FE"/>
                </a:solidFill>
              </a:rPr>
              <a:t>  Generated by ibm/granite-13b-instruct-v2  (IBM Granite)</a:t>
            </a:r>
          </a:p>
        </p:txBody>
      </p:sp>
      <p:sp>
        <p:nvSpPr>
          <p:cNvPr id="100084" name="PlanTitle"/>
          <p:cNvSpPr txBox="1"/>
          <p:nvPr/>
        </p:nvSpPr>
        <p:spPr>
          <a:xfrm xmlns:a="http://schemas.openxmlformats.org/drawingml/2006/main">
            <a:off x="792000" y="1368000"/>
            <a:ext cx="10440000" cy="7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0F3460"/>
                </a:solidFill>
              </a:rPr>
              <a:t>Personalized 7-Day Nutrition Plan</a:t>
            </a:r>
          </a:p>
          <a:p xmlns:a="http://schemas.openxmlformats.org/drawingml/2006/main">
            <a:r>
              <a:rPr lang="en-US" sz="1300" b="0">
                <a:solidFill>
                  <a:srgbClr val="0F3460"/>
                </a:solidFill>
              </a:rPr>
              <a:t>Prepared for: Priya Patel  |  Age: 35  |  Diet: Vegetarian  |  Goal: Diabetes Management</a:t>
            </a:r>
          </a:p>
          <a:p xmlns:a="http://schemas.openxmlformats.org/drawingml/2006/main">
            <a:r>
              <a:rPr lang="en-US" sz="1300" b="0">
                <a:solidFill>
                  <a:srgbClr val="0F3460"/>
                </a:solidFill>
              </a:rPr>
              <a:t>Location: Mumbai, India  |  Medical Notes: Diabetes, Hypertension</a:t>
            </a:r>
          </a:p>
        </p:txBody>
      </p:sp>
      <p:sp>
        <p:nvSpPr>
          <p:cNvPr id="100085" name="MacroTable"/>
          <p:cNvSpPr txBox="1"/>
          <p:nvPr/>
        </p:nvSpPr>
        <p:spPr>
          <a:xfrm xmlns:a="http://schemas.openxmlformats.org/drawingml/2006/main">
            <a:off x="792000" y="2196000"/>
            <a:ext cx="10440000" cy="6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0F3460"/>
                </a:solidFill>
              </a:rPr>
              <a:t>Daily Calorie &amp; Macro Targets</a:t>
            </a:r>
          </a:p>
          <a:p xmlns:a="http://schemas.openxmlformats.org/drawingml/2006/main">
            <a:r>
              <a:rPr lang="en-US" sz="1300" b="0">
                <a:solidFill>
                  <a:srgbClr val="0F3460"/>
                </a:solidFill>
              </a:rPr>
              <a:t>Calories: 1600-1800 kcal  |  Protein: 60-80g  |  Carbs: 150-180g (low-GI)  |  Fats: 45-65g  |  Fiber: 25-35g</a:t>
            </a:r>
          </a:p>
        </p:txBody>
      </p:sp>
      <p:sp>
        <p:nvSpPr>
          <p:cNvPr id="100086" name="Day1Box"/>
          <p:cNvSpPr txBox="1"/>
          <p:nvPr/>
        </p:nvSpPr>
        <p:spPr>
          <a:xfrm xmlns:a="http://schemas.openxmlformats.org/drawingml/2006/main">
            <a:off x="792000" y="2952000"/>
            <a:ext cx="10440000" cy="14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0">
                <a:solidFill>
                  <a:srgbClr val="222222"/>
                </a:solidFill>
              </a:rPr>
              <a:t>Day 1 — Foundation Day</a:t>
            </a:r>
          </a:p>
          <a:p xmlns:a="http://schemas.openxmlformats.org/drawingml/2006/main">
            <a:r>
              <a:rPr lang="en-US" sz="1200" b="0">
                <a:solidFill>
                  <a:srgbClr val="222222"/>
                </a:solidFill>
              </a:rPr>
              <a:t>Breakfast (7-8 AM):  Oatmeal with chia seeds, berries &amp; nuts  (~350 kcal)</a:t>
            </a:r>
          </a:p>
          <a:p xmlns:a="http://schemas.openxmlformats.org/drawingml/2006/main">
            <a:r>
              <a:rPr lang="en-US" sz="1200" b="0">
                <a:solidFill>
                  <a:srgbClr val="222222"/>
                </a:solidFill>
              </a:rPr>
              <a:t>Mid-Morning (10 AM): 1 apple + 10 almonds  (~150 kcal)</a:t>
            </a:r>
          </a:p>
          <a:p xmlns:a="http://schemas.openxmlformats.org/drawingml/2006/main">
            <a:r>
              <a:rPr lang="en-US" sz="1200" b="0">
                <a:solidFill>
                  <a:srgbClr val="222222"/>
                </a:solidFill>
              </a:rPr>
              <a:t>Lunch (1 PM):  Brown rice + lentils curry + mixed vegetable salad  (~550 kcal)</a:t>
            </a:r>
          </a:p>
          <a:p xmlns:a="http://schemas.openxmlformats.org/drawingml/2006/main">
            <a:r>
              <a:rPr lang="en-US" sz="1200" b="0">
                <a:solidFill>
                  <a:srgbClr val="222222"/>
                </a:solidFill>
              </a:rPr>
              <a:t>Evening Snack (4 PM): Green tea + roasted chickpeas  (~120 kcal)</a:t>
            </a:r>
          </a:p>
          <a:p xmlns:a="http://schemas.openxmlformats.org/drawingml/2006/main">
            <a:r>
              <a:rPr lang="en-US" sz="1200" b="0">
                <a:solidFill>
                  <a:srgbClr val="222222"/>
                </a:solidFill>
              </a:rPr>
              <a:t>Dinner (7-8 PM):  Vegetable soup + whole wheat roti + dal  (~450 kcal)</a:t>
            </a:r>
          </a:p>
        </p:txBody>
      </p:sp>
      <p:sp>
        <p:nvSpPr>
          <p:cNvPr id="100087" name="ActionBar"/>
          <p:cNvSpPr txBox="1"/>
          <p:nvPr/>
        </p:nvSpPr>
        <p:spPr>
          <a:xfrm xmlns:a="http://schemas.openxmlformats.org/drawingml/2006/main">
            <a:off x="792000" y="4500000"/>
            <a:ext cx="10440000" cy="28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346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0">
                <a:solidFill>
                  <a:srgbClr val="AADDFF"/>
                </a:solidFill>
              </a:rPr>
              <a:t>IBM Granite LLM generated this plan  |  Plan saved as: nutrition_plan_Priya_Patel_20250115.md  |  Download available</a:t>
            </a:r>
          </a:p>
        </p:txBody>
      </p:sp>
    </p:spTree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88" name="TopBar"/>
          <p:cNvSpPr txBox="1"/>
          <p:nvPr/>
        </p:nvSpPr>
        <p:spPr>
          <a:xfrm xmlns:a="http://schemas.openxmlformats.org/drawingml/2006/main">
            <a:off x="0" y="0"/>
            <a:ext cx="12193200" cy="50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346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 b="1">
                <a:solidFill>
                  <a:srgbClr val="FFFFFF"/>
                </a:solidFill>
              </a:rPr>
              <a:t>10  7-Day Meal Plan — Full Details (from .md output)</a:t>
            </a:r>
          </a:p>
        </p:txBody>
      </p:sp>
      <p:sp>
        <p:nvSpPr>
          <p:cNvPr id="100089" name="BottomBar"/>
          <p:cNvSpPr txBox="1"/>
          <p:nvPr/>
        </p:nvSpPr>
        <p:spPr>
          <a:xfrm xmlns:a="http://schemas.openxmlformats.org/drawingml/2006/main">
            <a:off x="0" y="6588000"/>
            <a:ext cx="12193200" cy="28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2F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>
                <a:solidFill>
                  <a:srgbClr val="FFFFFF"/>
                </a:solidFill>
              </a:rPr>
              <a:t>IBM Granite LLM  |  Agentic AI Application</a:t>
            </a:r>
          </a:p>
        </p:txBody>
      </p:sp>
      <p:sp>
        <p:nvSpPr>
          <p:cNvPr id="100090" name="D1"/>
          <p:cNvSpPr txBox="1"/>
          <p:nvPr/>
        </p:nvSpPr>
        <p:spPr>
          <a:xfrm xmlns:a="http://schemas.openxmlformats.org/drawingml/2006/main">
            <a:off x="360000" y="648000"/>
            <a:ext cx="5580000" cy="12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0">
                <a:solidFill>
                  <a:srgbClr val="0F3460"/>
                </a:solidFill>
              </a:rPr>
              <a:t>Day 1 — Foundation Day</a:t>
            </a:r>
          </a:p>
          <a:p xmlns:a="http://schemas.openxmlformats.org/drawingml/2006/main">
            <a:r>
              <a:rPr lang="en-US" sz="1200" b="0">
                <a:solidFill>
                  <a:srgbClr val="0F3460"/>
                </a:solidFill>
              </a:rPr>
              <a:t>Breakfast: Oatmeal + chia + berries + nuts  350 kcal</a:t>
            </a:r>
          </a:p>
          <a:p xmlns:a="http://schemas.openxmlformats.org/drawingml/2006/main">
            <a:r>
              <a:rPr lang="en-US" sz="1200" b="0">
                <a:solidFill>
                  <a:srgbClr val="0F3460"/>
                </a:solidFill>
              </a:rPr>
              <a:t>Lunch: Brown rice + lentil curry + salad  550 kcal</a:t>
            </a:r>
          </a:p>
          <a:p xmlns:a="http://schemas.openxmlformats.org/drawingml/2006/main">
            <a:r>
              <a:rPr lang="en-US" sz="1200" b="0">
                <a:solidFill>
                  <a:srgbClr val="0F3460"/>
                </a:solidFill>
              </a:rPr>
              <a:t>Dinner: Veg soup + roti + dal  450 kcal</a:t>
            </a:r>
          </a:p>
        </p:txBody>
      </p:sp>
      <p:sp>
        <p:nvSpPr>
          <p:cNvPr id="100091" name="D2"/>
          <p:cNvSpPr txBox="1"/>
          <p:nvPr/>
        </p:nvSpPr>
        <p:spPr>
          <a:xfrm xmlns:a="http://schemas.openxmlformats.org/drawingml/2006/main">
            <a:off x="6300000" y="648000"/>
            <a:ext cx="5580000" cy="12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FF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0">
                <a:solidFill>
                  <a:srgbClr val="0A4A1A"/>
                </a:solidFill>
              </a:rPr>
              <a:t>Day 2 — Protein Focus</a:t>
            </a:r>
          </a:p>
          <a:p xmlns:a="http://schemas.openxmlformats.org/drawingml/2006/main">
            <a:r>
              <a:rPr lang="en-US" sz="1200" b="0">
                <a:solidFill>
                  <a:srgbClr val="0A4A1A"/>
                </a:solidFill>
              </a:rPr>
              <a:t>Breakfast: Greek yogurt parfait + granola  380 kcal</a:t>
            </a:r>
          </a:p>
          <a:p xmlns:a="http://schemas.openxmlformats.org/drawingml/2006/main">
            <a:r>
              <a:rPr lang="en-US" sz="1200" b="0">
                <a:solidFill>
                  <a:srgbClr val="0A4A1A"/>
                </a:solidFill>
              </a:rPr>
              <a:t>Lunch: Quinoa bowl + roasted veg + paneer  560 kcal</a:t>
            </a:r>
          </a:p>
          <a:p xmlns:a="http://schemas.openxmlformats.org/drawingml/2006/main">
            <a:r>
              <a:rPr lang="en-US" sz="1200" b="0">
                <a:solidFill>
                  <a:srgbClr val="0A4A1A"/>
                </a:solidFill>
              </a:rPr>
              <a:t>Dinner: Stir-fried veg + paneer + brown rice  480 kcal</a:t>
            </a:r>
          </a:p>
        </p:txBody>
      </p:sp>
      <p:sp>
        <p:nvSpPr>
          <p:cNvPr id="100092" name="D3"/>
          <p:cNvSpPr txBox="1"/>
          <p:nvPr/>
        </p:nvSpPr>
        <p:spPr>
          <a:xfrm xmlns:a="http://schemas.openxmlformats.org/drawingml/2006/main">
            <a:off x="360000" y="2124000"/>
            <a:ext cx="5580000" cy="12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0">
                <a:solidFill>
                  <a:srgbClr val="5A3500"/>
                </a:solidFill>
              </a:rPr>
              <a:t>Day 3 — Fiber Rich Day</a:t>
            </a:r>
          </a:p>
          <a:p xmlns:a="http://schemas.openxmlformats.org/drawingml/2006/main">
            <a:r>
              <a:rPr lang="en-US" sz="1200" b="0">
                <a:solidFill>
                  <a:srgbClr val="5A3500"/>
                </a:solidFill>
              </a:rPr>
              <a:t>Breakfast: Whole grain toast + avocado + sprouts  370 kcal</a:t>
            </a:r>
          </a:p>
          <a:p xmlns:a="http://schemas.openxmlformats.org/drawingml/2006/main">
            <a:r>
              <a:rPr lang="en-US" sz="1200" b="0">
                <a:solidFill>
                  <a:srgbClr val="5A3500"/>
                </a:solidFill>
              </a:rPr>
              <a:t>Lunch: Rajma curry + brown rice + raita  580 kcal</a:t>
            </a:r>
          </a:p>
          <a:p xmlns:a="http://schemas.openxmlformats.org/drawingml/2006/main">
            <a:r>
              <a:rPr lang="en-US" sz="1200" b="0">
                <a:solidFill>
                  <a:srgbClr val="5A3500"/>
                </a:solidFill>
              </a:rPr>
              <a:t>Dinner: Grilled veg + multigrain roti + lentil soup  440 kcal</a:t>
            </a:r>
          </a:p>
        </p:txBody>
      </p:sp>
      <p:sp>
        <p:nvSpPr>
          <p:cNvPr id="100093" name="D4"/>
          <p:cNvSpPr txBox="1"/>
          <p:nvPr/>
        </p:nvSpPr>
        <p:spPr>
          <a:xfrm xmlns:a="http://schemas.openxmlformats.org/drawingml/2006/main">
            <a:off x="6300000" y="2124000"/>
            <a:ext cx="5580000" cy="12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8E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0">
                <a:solidFill>
                  <a:srgbClr val="5A0A0A"/>
                </a:solidFill>
              </a:rPr>
              <a:t>Day 4 — Anti-Inflammatory</a:t>
            </a:r>
          </a:p>
          <a:p xmlns:a="http://schemas.openxmlformats.org/drawingml/2006/main">
            <a:r>
              <a:rPr lang="en-US" sz="1200" b="0">
                <a:solidFill>
                  <a:srgbClr val="5A0A0A"/>
                </a:solidFill>
              </a:rPr>
              <a:t>Breakfast: Turmeric oatmeal + flaxseeds + green tea  340 kcal</a:t>
            </a:r>
          </a:p>
          <a:p xmlns:a="http://schemas.openxmlformats.org/drawingml/2006/main">
            <a:r>
              <a:rPr lang="en-US" sz="1200" b="0">
                <a:solidFill>
                  <a:srgbClr val="5A0A0A"/>
                </a:solidFill>
              </a:rPr>
              <a:t>Lunch: Moong dal khichdi + steamed greens  520 kcal</a:t>
            </a:r>
          </a:p>
          <a:p xmlns:a="http://schemas.openxmlformats.org/drawingml/2006/main">
            <a:r>
              <a:rPr lang="en-US" sz="1200" b="0">
                <a:solidFill>
                  <a:srgbClr val="5A0A0A"/>
                </a:solidFill>
              </a:rPr>
              <a:t>Dinner: Palak soup + roti + mixed dal  430 kcal</a:t>
            </a:r>
          </a:p>
        </p:txBody>
      </p:sp>
      <p:sp>
        <p:nvSpPr>
          <p:cNvPr id="100094" name="D5"/>
          <p:cNvSpPr txBox="1"/>
          <p:nvPr/>
        </p:nvSpPr>
        <p:spPr>
          <a:xfrm xmlns:a="http://schemas.openxmlformats.org/drawingml/2006/main">
            <a:off x="360000" y="3600000"/>
            <a:ext cx="5580000" cy="12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0">
                <a:solidFill>
                  <a:srgbClr val="0A4A4A"/>
                </a:solidFill>
              </a:rPr>
              <a:t>Day 5 — Heart Health</a:t>
            </a:r>
          </a:p>
          <a:p xmlns:a="http://schemas.openxmlformats.org/drawingml/2006/main">
            <a:r>
              <a:rPr lang="en-US" sz="1200" b="0">
                <a:solidFill>
                  <a:srgbClr val="0A4A4A"/>
                </a:solidFill>
              </a:rPr>
              <a:t>Breakfast: Banana oat pancakes (no refined flour)  360 kcal</a:t>
            </a:r>
          </a:p>
          <a:p xmlns:a="http://schemas.openxmlformats.org/drawingml/2006/main">
            <a:r>
              <a:rPr lang="en-US" sz="1200" b="0">
                <a:solidFill>
                  <a:srgbClr val="0A4A4A"/>
                </a:solidFill>
              </a:rPr>
              <a:t>Lunch: Chickpea salad bowl + whole grain bread  540 kcal</a:t>
            </a:r>
          </a:p>
          <a:p xmlns:a="http://schemas.openxmlformats.org/drawingml/2006/main">
            <a:r>
              <a:rPr lang="en-US" sz="1200" b="0">
                <a:solidFill>
                  <a:srgbClr val="0A4A4A"/>
                </a:solidFill>
              </a:rPr>
              <a:t>Dinner: Vegetable stew + brown rice + cucumber salad  460 kcal</a:t>
            </a:r>
          </a:p>
        </p:txBody>
      </p:sp>
      <p:sp>
        <p:nvSpPr>
          <p:cNvPr id="100095" name="D6"/>
          <p:cNvSpPr txBox="1"/>
          <p:nvPr/>
        </p:nvSpPr>
        <p:spPr>
          <a:xfrm xmlns:a="http://schemas.openxmlformats.org/drawingml/2006/main">
            <a:off x="6300000" y="3600000"/>
            <a:ext cx="5580000" cy="12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8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0">
                <a:solidFill>
                  <a:srgbClr val="3A0A5A"/>
                </a:solidFill>
              </a:rPr>
              <a:t>Day 6 — Detox Day</a:t>
            </a:r>
          </a:p>
          <a:p xmlns:a="http://schemas.openxmlformats.org/drawingml/2006/main">
            <a:r>
              <a:rPr lang="en-US" sz="1200" b="0">
                <a:solidFill>
                  <a:srgbClr val="3A0A5A"/>
                </a:solidFill>
              </a:rPr>
              <a:t>Breakfast: Green smoothie (spinach, banana, ginger, lemon)  280 kcal</a:t>
            </a:r>
          </a:p>
          <a:p xmlns:a="http://schemas.openxmlformats.org/drawingml/2006/main">
            <a:r>
              <a:rPr lang="en-US" sz="1200" b="0">
                <a:solidFill>
                  <a:srgbClr val="3A0A5A"/>
                </a:solidFill>
              </a:rPr>
              <a:t>Lunch: Whole wheat pasta + tomato sauce + tofu  520 kcal</a:t>
            </a:r>
          </a:p>
          <a:p xmlns:a="http://schemas.openxmlformats.org/drawingml/2006/main">
            <a:r>
              <a:rPr lang="en-US" sz="1200" b="0">
                <a:solidFill>
                  <a:srgbClr val="3A0A5A"/>
                </a:solidFill>
              </a:rPr>
              <a:t>Dinner: Clear veg soup + 2 rotis + curd  400 kcal</a:t>
            </a:r>
          </a:p>
        </p:txBody>
      </p:sp>
      <p:sp>
        <p:nvSpPr>
          <p:cNvPr id="100096" name="D7"/>
          <p:cNvSpPr txBox="1"/>
          <p:nvPr/>
        </p:nvSpPr>
        <p:spPr>
          <a:xfrm xmlns:a="http://schemas.openxmlformats.org/drawingml/2006/main">
            <a:off x="360000" y="5076000"/>
            <a:ext cx="10440000" cy="10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F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0">
                <a:solidFill>
                  <a:srgbClr val="333333"/>
                </a:solidFill>
              </a:rPr>
              <a:t>Day 7 — Rest &amp; Restore</a:t>
            </a:r>
          </a:p>
          <a:p xmlns:a="http://schemas.openxmlformats.org/drawingml/2006/main">
            <a:r>
              <a:rPr lang="en-US" sz="1200" b="0">
                <a:solidFill>
                  <a:srgbClr val="333333"/>
                </a:solidFill>
              </a:rPr>
              <a:t>Breakfast: Upma with vegetables + low-fat milk  350 kcal</a:t>
            </a:r>
          </a:p>
          <a:p xmlns:a="http://schemas.openxmlformats.org/drawingml/2006/main">
            <a:r>
              <a:rPr lang="en-US" sz="1200" b="0">
                <a:solidFill>
                  <a:srgbClr val="333333"/>
                </a:solidFill>
              </a:rPr>
              <a:t>Lunch: Chole (chickpea curry) + brown rice + green salad  570 kcal</a:t>
            </a:r>
          </a:p>
          <a:p xmlns:a="http://schemas.openxmlformats.org/drawingml/2006/main">
            <a:r>
              <a:rPr lang="en-US" sz="1200" b="0">
                <a:solidFill>
                  <a:srgbClr val="333333"/>
                </a:solidFill>
              </a:rPr>
              <a:t>Dinner: Khichdi with vegetables + ghee (1 tsp) + papad  450 kcal</a:t>
            </a:r>
          </a:p>
        </p:txBody>
      </p:sp>
    </p:spTree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97" name="TopBar"/>
          <p:cNvSpPr txBox="1"/>
          <p:nvPr/>
        </p:nvSpPr>
        <p:spPr>
          <a:xfrm xmlns:a="http://schemas.openxmlformats.org/drawingml/2006/main">
            <a:off x="0" y="0"/>
            <a:ext cx="12193200" cy="50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346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 b="1">
                <a:solidFill>
                  <a:srgbClr val="FFFFFF"/>
                </a:solidFill>
              </a:rPr>
              <a:t>11  Macros, Calorie Targets &amp; Nutrition Tips</a:t>
            </a:r>
          </a:p>
        </p:txBody>
      </p:sp>
      <p:sp>
        <p:nvSpPr>
          <p:cNvPr id="100098" name="BottomBar"/>
          <p:cNvSpPr txBox="1"/>
          <p:nvPr/>
        </p:nvSpPr>
        <p:spPr>
          <a:xfrm xmlns:a="http://schemas.openxmlformats.org/drawingml/2006/main">
            <a:off x="0" y="6588000"/>
            <a:ext cx="12193200" cy="28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2F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>
                <a:solidFill>
                  <a:srgbClr val="FFFFFF"/>
                </a:solidFill>
              </a:rPr>
              <a:t>IBM Granite LLM  |  Agentic AI Application</a:t>
            </a:r>
          </a:p>
        </p:txBody>
      </p:sp>
      <p:sp>
        <p:nvSpPr>
          <p:cNvPr id="100099" name="MacroTitle"/>
          <p:cNvSpPr txBox="1"/>
          <p:nvPr/>
        </p:nvSpPr>
        <p:spPr>
          <a:xfrm xmlns:a="http://schemas.openxmlformats.org/drawingml/2006/main">
            <a:off x="720000" y="576000"/>
            <a:ext cx="10440000" cy="28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1">
                <a:solidFill>
                  <a:srgbClr val="0F3460"/>
                </a:solidFill>
                <a:latin typeface="Calibri"/>
                <a:ea typeface="Calibri"/>
              </a:rPr>
              <a:t>Daily Calorie &amp; Macro Targets  (Priya Patel — Diabetes + Hypertension, Vegetarian)</a:t>
            </a:r>
          </a:p>
        </p:txBody>
      </p:sp>
      <p:sp>
        <p:nvSpPr>
          <p:cNvPr id="100100" name="MacroC"/>
          <p:cNvSpPr txBox="1"/>
          <p:nvPr/>
        </p:nvSpPr>
        <p:spPr>
          <a:xfrm xmlns:a="http://schemas.openxmlformats.org/drawingml/2006/main">
            <a:off x="720000" y="972000"/>
            <a:ext cx="2520000" cy="10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346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0">
                <a:solidFill>
                  <a:srgbClr val="FFFFFF"/>
                </a:solidFill>
              </a:rPr>
              <a:t>CALORIES</a:t>
            </a:r>
          </a:p>
          <a:p xmlns:a="http://schemas.openxmlformats.org/drawingml/2006/main">
            <a:r>
              <a:rPr lang="en-US" sz="1400" b="0">
                <a:solidFill>
                  <a:srgbClr val="FFFFFF"/>
                </a:solidFill>
              </a:rPr>
              <a:t>1600–1800 kcal</a:t>
            </a:r>
          </a:p>
          <a:p xmlns:a="http://schemas.openxmlformats.org/drawingml/2006/main">
            <a:r>
              <a:rPr lang="en-US" sz="1400" b="0">
                <a:solidFill>
                  <a:srgbClr val="FFFFFF"/>
                </a:solidFill>
              </a:rPr>
              <a:t>(Reduced for diabetes management)</a:t>
            </a:r>
          </a:p>
        </p:txBody>
      </p:sp>
      <p:sp>
        <p:nvSpPr>
          <p:cNvPr id="100101" name="MacroP"/>
          <p:cNvSpPr txBox="1"/>
          <p:nvPr/>
        </p:nvSpPr>
        <p:spPr>
          <a:xfrm xmlns:a="http://schemas.openxmlformats.org/drawingml/2006/main">
            <a:off x="3600000" y="972000"/>
            <a:ext cx="2520000" cy="10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23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0">
                <a:solidFill>
                  <a:srgbClr val="FFFFFF"/>
                </a:solidFill>
              </a:rPr>
              <a:t>PROTEIN</a:t>
            </a:r>
          </a:p>
          <a:p xmlns:a="http://schemas.openxmlformats.org/drawingml/2006/main">
            <a:r>
              <a:rPr lang="en-US" sz="1400" b="0">
                <a:solidFill>
                  <a:srgbClr val="FFFFFF"/>
                </a:solidFill>
              </a:rPr>
              <a:t>60–80 g</a:t>
            </a:r>
          </a:p>
          <a:p xmlns:a="http://schemas.openxmlformats.org/drawingml/2006/main">
            <a:r>
              <a:rPr lang="en-US" sz="1400" b="0">
                <a:solidFill>
                  <a:srgbClr val="FFFFFF"/>
                </a:solidFill>
              </a:rPr>
              <a:t>(Supports muscle &amp; immunity)</a:t>
            </a:r>
          </a:p>
        </p:txBody>
      </p:sp>
      <p:sp>
        <p:nvSpPr>
          <p:cNvPr id="100102" name="MacroCa"/>
          <p:cNvSpPr txBox="1"/>
          <p:nvPr/>
        </p:nvSpPr>
        <p:spPr>
          <a:xfrm xmlns:a="http://schemas.openxmlformats.org/drawingml/2006/main">
            <a:off x="6480000" y="972000"/>
            <a:ext cx="2520000" cy="10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4513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0">
                <a:solidFill>
                  <a:srgbClr val="FFFFFF"/>
                </a:solidFill>
              </a:rPr>
              <a:t>CARBS</a:t>
            </a:r>
          </a:p>
          <a:p xmlns:a="http://schemas.openxmlformats.org/drawingml/2006/main">
            <a:r>
              <a:rPr lang="en-US" sz="1400" b="0">
                <a:solidFill>
                  <a:srgbClr val="FFFFFF"/>
                </a:solidFill>
              </a:rPr>
              <a:t>150–180 g</a:t>
            </a:r>
          </a:p>
          <a:p xmlns:a="http://schemas.openxmlformats.org/drawingml/2006/main">
            <a:r>
              <a:rPr lang="en-US" sz="1400" b="0">
                <a:solidFill>
                  <a:srgbClr val="FFFFFF"/>
                </a:solidFill>
              </a:rPr>
              <a:t>Low-GI only</a:t>
            </a:r>
          </a:p>
          <a:p xmlns:a="http://schemas.openxmlformats.org/drawingml/2006/main">
            <a:r>
              <a:rPr lang="en-US" sz="1400" b="0">
                <a:solidFill>
                  <a:srgbClr val="FFFFFF"/>
                </a:solidFill>
              </a:rPr>
              <a:t>(Critical for blood sugar)</a:t>
            </a:r>
          </a:p>
        </p:txBody>
      </p:sp>
      <p:sp>
        <p:nvSpPr>
          <p:cNvPr id="100103" name="MacroF"/>
          <p:cNvSpPr txBox="1"/>
          <p:nvPr/>
        </p:nvSpPr>
        <p:spPr>
          <a:xfrm xmlns:a="http://schemas.openxmlformats.org/drawingml/2006/main">
            <a:off x="9360000" y="972000"/>
            <a:ext cx="2520000" cy="10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007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0">
                <a:solidFill>
                  <a:srgbClr val="FFFFFF"/>
                </a:solidFill>
              </a:rPr>
              <a:t>FATS</a:t>
            </a:r>
          </a:p>
          <a:p xmlns:a="http://schemas.openxmlformats.org/drawingml/2006/main">
            <a:r>
              <a:rPr lang="en-US" sz="1400" b="0">
                <a:solidFill>
                  <a:srgbClr val="FFFFFF"/>
                </a:solidFill>
              </a:rPr>
              <a:t>45–65 g</a:t>
            </a:r>
          </a:p>
          <a:p xmlns:a="http://schemas.openxmlformats.org/drawingml/2006/main">
            <a:r>
              <a:rPr lang="en-US" sz="1400" b="0">
                <a:solidFill>
                  <a:srgbClr val="FFFFFF"/>
                </a:solidFill>
              </a:rPr>
              <a:t>(Healthy fats: nuts, seeds, olive oil)</a:t>
            </a:r>
          </a:p>
        </p:txBody>
      </p:sp>
      <p:sp>
        <p:nvSpPr>
          <p:cNvPr id="100104" name="TipsTitle"/>
          <p:cNvSpPr txBox="1"/>
          <p:nvPr/>
        </p:nvSpPr>
        <p:spPr>
          <a:xfrm xmlns:a="http://schemas.openxmlformats.org/drawingml/2006/main">
            <a:off x="720000" y="2268000"/>
            <a:ext cx="10440000" cy="25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1">
                <a:solidFill>
                  <a:srgbClr val="0F3460"/>
                </a:solidFill>
                <a:latin typeface="Calibri"/>
                <a:ea typeface="Calibri"/>
              </a:rPr>
              <a:t>Top 5 Personalised Nutrition Tips</a:t>
            </a:r>
          </a:p>
        </p:txBody>
      </p:sp>
      <p:sp>
        <p:nvSpPr>
          <p:cNvPr id="100105" name="Tips"/>
          <p:cNvSpPr txBox="1"/>
          <p:nvPr/>
        </p:nvSpPr>
        <p:spPr>
          <a:xfrm xmlns:a="http://schemas.openxmlformats.org/drawingml/2006/main">
            <a:off x="720000" y="2592000"/>
            <a:ext cx="10440000" cy="16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0">
                <a:solidFill>
                  <a:srgbClr val="1A202C"/>
                </a:solidFill>
              </a:rPr>
              <a:t>1.  Eat smaller, frequent meals every 3-4 hours — critical for stable blood sugar control with diabetes.</a:t>
            </a:r>
          </a:p>
          <a:p xmlns:a="http://schemas.openxmlformats.org/drawingml/2006/main">
            <a:r>
              <a:rPr lang="en-US" sz="1400" b="0">
                <a:solidFill>
                  <a:srgbClr val="1A202C"/>
                </a:solidFill>
              </a:rPr>
              <a:t>2.  Prioritise whole foods: brown rice, whole wheat, unprocessed grains over all refined options.</a:t>
            </a:r>
          </a:p>
          <a:p xmlns:a="http://schemas.openxmlformats.org/drawingml/2006/main">
            <a:r>
              <a:rPr lang="en-US" sz="1400" b="0">
                <a:solidFill>
                  <a:srgbClr val="1A202C"/>
                </a:solidFill>
              </a:rPr>
              <a:t>3.  Increase fibre intake with vegetables, legumes &amp; fruits — supports gut health &amp; blood sugar regulation.</a:t>
            </a:r>
          </a:p>
          <a:p xmlns:a="http://schemas.openxmlformats.org/drawingml/2006/main">
            <a:r>
              <a:rPr lang="en-US" sz="1400" b="0">
                <a:solidFill>
                  <a:srgbClr val="1A202C"/>
                </a:solidFill>
              </a:rPr>
              <a:t>4.  Healthy fats are your friend — include nuts, seeds, olive oil &amp; avocado in moderation daily.</a:t>
            </a:r>
          </a:p>
          <a:p xmlns:a="http://schemas.openxmlformats.org/drawingml/2006/main">
            <a:r>
              <a:rPr lang="en-US" sz="1400" b="0">
                <a:solidFill>
                  <a:srgbClr val="1A202C"/>
                </a:solidFill>
              </a:rPr>
              <a:t>5.  Use the Plate Method: 50% non-starchy vegetables  |  25% lean protein  |  25% complex carbohydrates.</a:t>
            </a:r>
          </a:p>
        </p:txBody>
      </p:sp>
      <p:sp>
        <p:nvSpPr>
          <p:cNvPr id="100106" name="AvoidTitle"/>
          <p:cNvSpPr txBox="1"/>
          <p:nvPr/>
        </p:nvSpPr>
        <p:spPr>
          <a:xfrm xmlns:a="http://schemas.openxmlformats.org/drawingml/2006/main">
            <a:off x="720000" y="4392000"/>
            <a:ext cx="10440000" cy="25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 b="1">
                <a:solidFill>
                  <a:srgbClr val="CC0000"/>
                </a:solidFill>
                <a:latin typeface="Calibri"/>
                <a:ea typeface="Calibri"/>
              </a:rPr>
              <a:t>Foods to AVOID (Medical Guardrail — Diabetes + Hypertension)</a:t>
            </a:r>
          </a:p>
        </p:txBody>
      </p:sp>
      <p:sp>
        <p:nvSpPr>
          <p:cNvPr id="100107" name="Avoid"/>
          <p:cNvSpPr txBox="1"/>
          <p:nvPr/>
        </p:nvSpPr>
        <p:spPr>
          <a:xfrm xmlns:a="http://schemas.openxmlformats.org/drawingml/2006/main">
            <a:off x="720000" y="4716000"/>
            <a:ext cx="10440000" cy="7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8E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7A0000"/>
                </a:solidFill>
              </a:rPr>
              <a:t>White rice (large quantities)  •  Sugary beverages  •  Sweets &amp; desserts  •  White bread  •  Fruit juices</a:t>
            </a:r>
          </a:p>
          <a:p xmlns:a="http://schemas.openxmlformats.org/drawingml/2006/main">
            <a:r>
              <a:rPr lang="en-US" sz="1300" b="0">
                <a:solidFill>
                  <a:srgbClr val="7A0000"/>
                </a:solidFill>
              </a:rPr>
              <a:t>Processed/packaged foods (high sodium)  •  Pickles &amp; canned goods  •  Excess salt  •  Fast food</a:t>
            </a:r>
          </a:p>
        </p:txBody>
      </p:sp>
    </p:spTree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F"/>
        </a:solidFill>
      </p:bgPr>
    </p:bg>
    <p:spTree>
      <p:nvGrpSpPr>
        <p:cNvPr id="1" name=""/>
        <p:cNvGrpSpPr/>
        <p:nvPr/>
      </p:nvGrpSpPr>
      <p:grpSpPr/>
      <p:sp>
        <p:nvSpPr>
          <p:cNvPr id="100108" name="TopBar"/>
          <p:cNvSpPr txBox="1"/>
          <p:nvPr/>
        </p:nvSpPr>
        <p:spPr>
          <a:xfrm xmlns:a="http://schemas.openxmlformats.org/drawingml/2006/main">
            <a:off x="0" y="0"/>
            <a:ext cx="12193200" cy="50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346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 b="1">
                <a:solidFill>
                  <a:srgbClr val="FFFFFF"/>
                </a:solidFill>
              </a:rPr>
              <a:t>12  NutriBot Chat Agent — Conversational AI</a:t>
            </a:r>
          </a:p>
        </p:txBody>
      </p:sp>
      <p:sp>
        <p:nvSpPr>
          <p:cNvPr id="100109" name="BottomBar"/>
          <p:cNvSpPr txBox="1"/>
          <p:nvPr/>
        </p:nvSpPr>
        <p:spPr>
          <a:xfrm xmlns:a="http://schemas.openxmlformats.org/drawingml/2006/main">
            <a:off x="0" y="6588000"/>
            <a:ext cx="12193200" cy="28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2F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>
                <a:solidFill>
                  <a:srgbClr val="FFFFFF"/>
                </a:solidFill>
              </a:rPr>
              <a:t>IBM Granite LLM  |  Agentic AI Application</a:t>
            </a:r>
          </a:p>
        </p:txBody>
      </p:sp>
      <p:sp>
        <p:nvSpPr>
          <p:cNvPr id="100110" name="ChatWindow"/>
          <p:cNvSpPr txBox="1"/>
          <p:nvPr/>
        </p:nvSpPr>
        <p:spPr>
          <a:xfrm xmlns:a="http://schemas.openxmlformats.org/drawingml/2006/main">
            <a:off x="720000" y="648000"/>
            <a:ext cx="10440000" cy="46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1200">
              <a:solidFill>
                <a:srgbClr val="333333"/>
              </a:solidFill>
            </a:endParaRPr>
          </a:p>
        </p:txBody>
      </p:sp>
      <p:sp>
        <p:nvSpPr>
          <p:cNvPr id="100111" name="BotMsg1"/>
          <p:cNvSpPr txBox="1"/>
          <p:nvPr/>
        </p:nvSpPr>
        <p:spPr>
          <a:xfrm xmlns:a="http://schemas.openxmlformats.org/drawingml/2006/main">
            <a:off x="900000" y="720000"/>
            <a:ext cx="7920000" cy="79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0F3460"/>
                </a:solidFill>
              </a:rPr>
              <a:t>NutriBot AI:  Hello! I'm NutriBot, your AI nutrition assistant powered by IBM Granite.</a:t>
            </a:r>
          </a:p>
          <a:p xmlns:a="http://schemas.openxmlformats.org/drawingml/2006/main">
            <a:r>
              <a:rPr lang="en-US" sz="1300" b="0">
                <a:solidFill>
                  <a:srgbClr val="0F3460"/>
                </a:solidFill>
              </a:rPr>
              <a:t>I can help with nutrition queries, diet advice for medical conditions, meal planning tips, supplement guidance, and healthy habits.</a:t>
            </a:r>
          </a:p>
        </p:txBody>
      </p:sp>
      <p:sp>
        <p:nvSpPr>
          <p:cNvPr id="100112" name="UserMsg1"/>
          <p:cNvSpPr txBox="1"/>
          <p:nvPr/>
        </p:nvSpPr>
        <p:spPr>
          <a:xfrm xmlns:a="http://schemas.openxmlformats.org/drawingml/2006/main">
            <a:off x="3240000" y="1728000"/>
            <a:ext cx="7740000" cy="3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2F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FFFFFF"/>
                </a:solidFill>
              </a:rPr>
              <a:t>User:  What are the best protein sources for vegetarians with diabetes?</a:t>
            </a:r>
          </a:p>
        </p:txBody>
      </p:sp>
      <p:sp>
        <p:nvSpPr>
          <p:cNvPr id="100113" name="BotMsg2"/>
          <p:cNvSpPr txBox="1"/>
          <p:nvPr/>
        </p:nvSpPr>
        <p:spPr>
          <a:xfrm xmlns:a="http://schemas.openxmlformats.org/drawingml/2006/main">
            <a:off x="900000" y="2304000"/>
            <a:ext cx="7920000" cy="10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0F3460"/>
                </a:solidFill>
              </a:rPr>
              <a:t>NutriBot AI:  Great question! For vegetarians managing diabetes, focus on high-protein, low-GI sources:</a:t>
            </a:r>
          </a:p>
          <a:p xmlns:a="http://schemas.openxmlformats.org/drawingml/2006/main">
            <a:r>
              <a:rPr lang="en-US" sz="1300" b="0">
                <a:solidFill>
                  <a:srgbClr val="0F3460"/>
                </a:solidFill>
              </a:rPr>
              <a:t>Lentils (dal), chickpeas, kidney beans, tofu, paneer (low-fat), Greek yogurt, quinoa, and edamame.</a:t>
            </a:r>
          </a:p>
          <a:p xmlns:a="http://schemas.openxmlformats.org/drawingml/2006/main">
            <a:r>
              <a:rPr lang="en-US" sz="1300" b="0">
                <a:solidFill>
                  <a:srgbClr val="0F3460"/>
                </a:solidFill>
              </a:rPr>
              <a:t>Aim for 0.8-1.2g protein per kg bodyweight. Distribute evenly across all meals for optimal blood sugar stability.</a:t>
            </a:r>
          </a:p>
        </p:txBody>
      </p:sp>
      <p:sp>
        <p:nvSpPr>
          <p:cNvPr id="100114" name="UserMsg2"/>
          <p:cNvSpPr txBox="1"/>
          <p:nvPr/>
        </p:nvSpPr>
        <p:spPr>
          <a:xfrm xmlns:a="http://schemas.openxmlformats.org/drawingml/2006/main">
            <a:off x="4320000" y="3600000"/>
            <a:ext cx="6660000" cy="3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2F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FFFFFF"/>
                </a:solidFill>
              </a:rPr>
              <a:t>User:  How much water should I drink daily?</a:t>
            </a:r>
          </a:p>
        </p:txBody>
      </p:sp>
      <p:sp>
        <p:nvSpPr>
          <p:cNvPr id="100115" name="BotMsg3"/>
          <p:cNvSpPr txBox="1"/>
          <p:nvPr/>
        </p:nvSpPr>
        <p:spPr>
          <a:xfrm xmlns:a="http://schemas.openxmlformats.org/drawingml/2006/main">
            <a:off x="900000" y="4068000"/>
            <a:ext cx="7920000" cy="9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0F3460"/>
                </a:solidFill>
              </a:rPr>
              <a:t>NutriBot AI:  Aim for 8-10 glasses (2-2.5 litres) daily. For diabetes, hydration is especially important to support kidney function. Morning warm lemon water is highly recommended. Your urine should be pale yellow — that's your hydration indicator!</a:t>
            </a:r>
          </a:p>
        </p:txBody>
      </p:sp>
      <p:sp>
        <p:nvSpPr>
          <p:cNvPr id="100116" name="QuickQLabel"/>
          <p:cNvSpPr txBox="1"/>
          <p:nvPr/>
        </p:nvSpPr>
        <p:spPr>
          <a:xfrm xmlns:a="http://schemas.openxmlformats.org/drawingml/2006/main">
            <a:off x="720000" y="5040000"/>
            <a:ext cx="10440000" cy="28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0">
                <a:solidFill>
                  <a:srgbClr val="0F62FE"/>
                </a:solidFill>
              </a:rPr>
              <a:t>Quick Questions:  Best veg protein?   Blood sugar management?   Weight loss foods?   Daily water?   Essential vitamins?</a:t>
            </a:r>
          </a:p>
        </p:txBody>
      </p:sp>
      <p:sp>
        <p:nvSpPr>
          <p:cNvPr id="100117" name="InputBar"/>
          <p:cNvSpPr txBox="1"/>
          <p:nvPr/>
        </p:nvSpPr>
        <p:spPr>
          <a:xfrm xmlns:a="http://schemas.openxmlformats.org/drawingml/2006/main">
            <a:off x="720000" y="5436000"/>
            <a:ext cx="10440000" cy="3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0">
                <a:solidFill>
                  <a:srgbClr val="999999"/>
                </a:solidFill>
              </a:rPr>
              <a:t>Ask about nutrition, diet, or healthy eating...                                           [Send]</a:t>
            </a:r>
          </a:p>
        </p:txBody>
      </p:sp>
    </p:spTree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F3460"/>
        </a:solidFill>
      </p:bgPr>
    </p:bg>
    <p:spTree>
      <p:nvGrpSpPr>
        <p:cNvPr id="1" name=""/>
        <p:cNvGrpSpPr/>
        <p:nvPr/>
      </p:nvGrpSpPr>
      <p:grpSpPr/>
      <p:sp>
        <p:nvSpPr>
          <p:cNvPr id="100118" name="TopBar"/>
          <p:cNvSpPr txBox="1"/>
          <p:nvPr/>
        </p:nvSpPr>
        <p:spPr>
          <a:xfrm xmlns:a="http://schemas.openxmlformats.org/drawingml/2006/main">
            <a:off x="0" y="0"/>
            <a:ext cx="12193200" cy="50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2F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 b="1">
                <a:solidFill>
                  <a:srgbClr val="FFFFFF"/>
                </a:solidFill>
              </a:rPr>
              <a:t>13  AI Ethics &amp; Guardrails — Responsible AI</a:t>
            </a:r>
          </a:p>
        </p:txBody>
      </p:sp>
      <p:sp>
        <p:nvSpPr>
          <p:cNvPr id="100119" name="BottomBar"/>
          <p:cNvSpPr txBox="1"/>
          <p:nvPr/>
        </p:nvSpPr>
        <p:spPr>
          <a:xfrm xmlns:a="http://schemas.openxmlformats.org/drawingml/2006/main">
            <a:off x="0" y="6588000"/>
            <a:ext cx="12193200" cy="28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2F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>
                <a:solidFill>
                  <a:srgbClr val="FFFFFF"/>
                </a:solidFill>
              </a:rPr>
              <a:t>IBM Granite LLM  |  Agentic AI Application</a:t>
            </a:r>
          </a:p>
        </p:txBody>
      </p:sp>
      <p:sp>
        <p:nvSpPr>
          <p:cNvPr id="100120" name="IBMEthicsTitle"/>
          <p:cNvSpPr txBox="1"/>
          <p:nvPr/>
        </p:nvSpPr>
        <p:spPr>
          <a:xfrm xmlns:a="http://schemas.openxmlformats.org/drawingml/2006/main">
            <a:off x="720000" y="612000"/>
            <a:ext cx="10440000" cy="28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1">
                <a:solidFill>
                  <a:srgbClr val="AADDFF"/>
                </a:solidFill>
                <a:latin typeface="Calibri"/>
                <a:ea typeface="Calibri"/>
              </a:rPr>
              <a:t>IBM AI Ethics — 5 Principles Implemented</a:t>
            </a:r>
          </a:p>
        </p:txBody>
      </p:sp>
      <p:sp>
        <p:nvSpPr>
          <p:cNvPr id="100121" name="E1"/>
          <p:cNvSpPr txBox="1"/>
          <p:nvPr/>
        </p:nvSpPr>
        <p:spPr>
          <a:xfrm xmlns:a="http://schemas.openxmlformats.org/drawingml/2006/main">
            <a:off x="360000" y="1008000"/>
            <a:ext cx="3240000" cy="10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6A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FFFFFF"/>
                </a:solidFill>
              </a:rPr>
              <a:t>TRANSPARENCY</a:t>
            </a:r>
          </a:p>
          <a:p xmlns:a="http://schemas.openxmlformats.org/drawingml/2006/main">
            <a:r>
              <a:rPr lang="en-US" sz="1300" b="0">
                <a:solidFill>
                  <a:srgbClr val="FFFFFF"/>
                </a:solidFill>
              </a:rPr>
              <a:t>Model name &amp; mode shown on every single response. Users always know they're interacting with IBM Granite AI.</a:t>
            </a:r>
          </a:p>
        </p:txBody>
      </p:sp>
      <p:sp>
        <p:nvSpPr>
          <p:cNvPr id="100122" name="E2"/>
          <p:cNvSpPr txBox="1"/>
          <p:nvPr/>
        </p:nvSpPr>
        <p:spPr>
          <a:xfrm xmlns:a="http://schemas.openxmlformats.org/drawingml/2006/main">
            <a:off x="3960000" y="1008000"/>
            <a:ext cx="3240000" cy="10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5A3A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FFFFFF"/>
                </a:solidFill>
              </a:rPr>
              <a:t>FAIRNESS</a:t>
            </a:r>
          </a:p>
          <a:p xmlns:a="http://schemas.openxmlformats.org/drawingml/2006/main">
            <a:r>
              <a:rPr lang="en-US" sz="1300" b="0">
                <a:solidFill>
                  <a:srgbClr val="FFFFFF"/>
                </a:solidFill>
              </a:rPr>
              <a:t>Inclusive language for all diets, body types &amp; ages. Supports vegetarian, vegan, non-veg, pescatarian. No body-shaming.</a:t>
            </a:r>
          </a:p>
        </p:txBody>
      </p:sp>
      <p:sp>
        <p:nvSpPr>
          <p:cNvPr id="100123" name="E3"/>
          <p:cNvSpPr txBox="1"/>
          <p:nvPr/>
        </p:nvSpPr>
        <p:spPr>
          <a:xfrm xmlns:a="http://schemas.openxmlformats.org/drawingml/2006/main">
            <a:off x="7560000" y="1008000"/>
            <a:ext cx="3240000" cy="10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1A7A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FFFFFF"/>
                </a:solidFill>
              </a:rPr>
              <a:t>ROBUSTNESS</a:t>
            </a:r>
          </a:p>
          <a:p xmlns:a="http://schemas.openxmlformats.org/drawingml/2006/main">
            <a:r>
              <a:rPr lang="en-US" sz="1300" b="0">
                <a:solidFill>
                  <a:srgbClr val="FFFFFF"/>
                </a:solidFill>
              </a:rPr>
              <a:t>Input validation + 12-category harmful keyword filter. Blocks: dangerous diets, self-harm, extreme fasting, illegal supplements.</a:t>
            </a:r>
          </a:p>
        </p:txBody>
      </p:sp>
      <p:sp>
        <p:nvSpPr>
          <p:cNvPr id="100124" name="E4"/>
          <p:cNvSpPr txBox="1"/>
          <p:nvPr/>
        </p:nvSpPr>
        <p:spPr>
          <a:xfrm xmlns:a="http://schemas.openxmlformats.org/drawingml/2006/main">
            <a:off x="2160000" y="2340000"/>
            <a:ext cx="3240000" cy="10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3A1A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FFFFFF"/>
                </a:solidFill>
              </a:rPr>
              <a:t>PRIVACY</a:t>
            </a:r>
          </a:p>
          <a:p xmlns:a="http://schemas.openxmlformats.org/drawingml/2006/main">
            <a:r>
              <a:rPr lang="en-US" sz="1300" b="0">
                <a:solidFill>
                  <a:srgbClr val="FFFFFF"/>
                </a:solidFill>
              </a:rPr>
              <a:t>No user data stored beyond the session. .env excluded from git. No third-party data sharing. GDPR-aligned design.</a:t>
            </a:r>
          </a:p>
        </p:txBody>
      </p:sp>
      <p:sp>
        <p:nvSpPr>
          <p:cNvPr id="100125" name="E5"/>
          <p:cNvSpPr txBox="1"/>
          <p:nvPr/>
        </p:nvSpPr>
        <p:spPr>
          <a:xfrm xmlns:a="http://schemas.openxmlformats.org/drawingml/2006/main">
            <a:off x="6120000" y="2340000"/>
            <a:ext cx="3240000" cy="10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5A5A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FFFFFF"/>
                </a:solidFill>
              </a:rPr>
              <a:t>ACCOUNTABILITY</a:t>
            </a:r>
          </a:p>
          <a:p xmlns:a="http://schemas.openxmlformats.org/drawingml/2006/main">
            <a:r>
              <a:rPr lang="en-US" sz="1300" b="0">
                <a:solidFill>
                  <a:srgbClr val="FFFFFF"/>
                </a:solidFill>
              </a:rPr>
              <a:t>Medical disclaimer on every plan. AI limitations explicitly stated. Always refers complex cases to healthcare professionals.</a:t>
            </a:r>
          </a:p>
        </p:txBody>
      </p:sp>
      <p:sp>
        <p:nvSpPr>
          <p:cNvPr id="100126" name="HAMTitle"/>
          <p:cNvSpPr txBox="1"/>
          <p:nvPr/>
        </p:nvSpPr>
        <p:spPr>
          <a:xfrm xmlns:a="http://schemas.openxmlformats.org/drawingml/2006/main">
            <a:off x="720000" y="3708000"/>
            <a:ext cx="10440000" cy="25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1">
                <a:solidFill>
                  <a:srgbClr val="AADDFF"/>
                </a:solidFill>
                <a:latin typeface="Calibri"/>
                <a:ea typeface="Calibri"/>
              </a:rPr>
              <a:t>HAM Framework  (Helpful  •  Accountable  •  Mindful)</a:t>
            </a:r>
          </a:p>
        </p:txBody>
      </p:sp>
      <p:sp>
        <p:nvSpPr>
          <p:cNvPr id="100127" name="HAM"/>
          <p:cNvSpPr txBox="1"/>
          <p:nvPr/>
        </p:nvSpPr>
        <p:spPr>
          <a:xfrm xmlns:a="http://schemas.openxmlformats.org/drawingml/2006/main">
            <a:off x="720000" y="4032000"/>
            <a:ext cx="10440000" cy="10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2A4A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0">
                <a:solidFill>
                  <a:srgbClr val="CCDDFF"/>
                </a:solidFill>
              </a:rPr>
              <a:t>Helpful:        Evidence-based, actionable nutrition guidance grounded in established dietary science</a:t>
            </a:r>
          </a:p>
          <a:p xmlns:a="http://schemas.openxmlformats.org/drawingml/2006/main">
            <a:r>
              <a:rPr lang="en-US" sz="1400" b="0">
                <a:solidFill>
                  <a:srgbClr val="CCDDFF"/>
                </a:solidFill>
              </a:rPr>
              <a:t>Accountable:  Always defers complex medical decisions to qualified healthcare professionals</a:t>
            </a:r>
          </a:p>
          <a:p xmlns:a="http://schemas.openxmlformats.org/drawingml/2006/main">
            <a:r>
              <a:rPr lang="en-US" sz="1400" b="0">
                <a:solidFill>
                  <a:srgbClr val="CCDDFF"/>
                </a:solidFill>
              </a:rPr>
              <a:t>Mindful:         Respects cultural, religious, and deeply personal dietary preferences without judgment</a:t>
            </a:r>
          </a:p>
        </p:txBody>
      </p:sp>
      <p:sp>
        <p:nvSpPr>
          <p:cNvPr id="100128" name="GuardrailNote"/>
          <p:cNvSpPr txBox="1"/>
          <p:nvPr/>
        </p:nvSpPr>
        <p:spPr>
          <a:xfrm xmlns:a="http://schemas.openxmlformats.org/drawingml/2006/main">
            <a:off x="720000" y="5328000"/>
            <a:ext cx="10440000" cy="6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000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0">
                <a:solidFill>
                  <a:srgbClr val="FFB3B3"/>
                </a:solidFill>
              </a:rPr>
              <a:t>Harmful content categories blocked (12): suicide, self-harm, overdose, poison, starvation diet, stop eating, anorexia tips, purging, extreme fasting, dangerous diet, illegal supplement, kill yourself</a:t>
            </a:r>
          </a:p>
        </p:txBody>
      </p:sp>
    </p:spTree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129" name="TopBar"/>
          <p:cNvSpPr txBox="1"/>
          <p:nvPr/>
        </p:nvSpPr>
        <p:spPr>
          <a:xfrm xmlns:a="http://schemas.openxmlformats.org/drawingml/2006/main">
            <a:off x="0" y="0"/>
            <a:ext cx="12193200" cy="50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346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 b="1">
                <a:solidFill>
                  <a:srgbClr val="FFFFFF"/>
                </a:solidFill>
              </a:rPr>
              <a:t>14  Medical Disclaimer — Patient Safety First</a:t>
            </a:r>
          </a:p>
        </p:txBody>
      </p:sp>
      <p:sp>
        <p:nvSpPr>
          <p:cNvPr id="100130" name="BottomBar"/>
          <p:cNvSpPr txBox="1"/>
          <p:nvPr/>
        </p:nvSpPr>
        <p:spPr>
          <a:xfrm xmlns:a="http://schemas.openxmlformats.org/drawingml/2006/main">
            <a:off x="0" y="6588000"/>
            <a:ext cx="12193200" cy="28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2F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>
                <a:solidFill>
                  <a:srgbClr val="FFFFFF"/>
                </a:solidFill>
              </a:rPr>
              <a:t>IBM Granite LLM  |  Agentic AI Application</a:t>
            </a:r>
          </a:p>
        </p:txBody>
      </p:sp>
      <p:sp>
        <p:nvSpPr>
          <p:cNvPr id="100131" name="WarnHeader"/>
          <p:cNvSpPr txBox="1"/>
          <p:nvPr/>
        </p:nvSpPr>
        <p:spPr>
          <a:xfrm xmlns:a="http://schemas.openxmlformats.org/drawingml/2006/main">
            <a:off x="720000" y="576000"/>
            <a:ext cx="10440000" cy="32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 b="1">
                <a:solidFill>
                  <a:srgbClr val="CC0000"/>
                </a:solidFill>
                <a:latin typeface="Calibri"/>
                <a:ea typeface="Calibri"/>
              </a:rPr>
              <a:t>MEDICAL DISCLAIMER — Appended to EVERY Generated Plan</a:t>
            </a:r>
          </a:p>
        </p:txBody>
      </p:sp>
      <p:sp>
        <p:nvSpPr>
          <p:cNvPr id="100132" name="DisclaimerBox"/>
          <p:cNvSpPr txBox="1"/>
          <p:nvPr/>
        </p:nvSpPr>
        <p:spPr>
          <a:xfrm xmlns:a="http://schemas.openxmlformats.org/drawingml/2006/main">
            <a:off x="720000" y="1008000"/>
            <a:ext cx="10440000" cy="23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C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 b="0">
                <a:solidFill>
                  <a:srgbClr val="7A4900"/>
                </a:solidFill>
              </a:rPr>
              <a:t>This nutrition plan is generated by an AI system for informational purposes only and does NOT constitute medical advice. The content provided:</a:t>
            </a:r>
          </a:p>
          <a:p xmlns:a="http://schemas.openxmlformats.org/drawingml/2006/main">
            <a:r>
              <a:rPr lang="en-US" sz="1500" b="0">
                <a:solidFill>
                  <a:srgbClr val="7A4900"/>
                </a:solidFill>
              </a:rPr>
              <a:t/>
            </a:r>
          </a:p>
          <a:p xmlns:a="http://schemas.openxmlformats.org/drawingml/2006/main">
            <a:r>
              <a:rPr lang="en-US" sz="1500" b="0">
                <a:solidFill>
                  <a:srgbClr val="7A4900"/>
                </a:solidFill>
              </a:rPr>
              <a:t>  • Is NOT a substitute for professional medical advice, diagnosis, or treatment.</a:t>
            </a:r>
          </a:p>
          <a:p xmlns:a="http://schemas.openxmlformats.org/drawingml/2006/main">
            <a:r>
              <a:rPr lang="en-US" sz="1500" b="0">
                <a:solidFill>
                  <a:srgbClr val="7A4900"/>
                </a:solidFill>
              </a:rPr>
              <a:t>  • Should NOT be used to self-diagnose or self-treat any health condition.</a:t>
            </a:r>
          </a:p>
          <a:p xmlns:a="http://schemas.openxmlformats.org/drawingml/2006/main">
            <a:r>
              <a:rPr lang="en-US" sz="1500" b="0">
                <a:solidFill>
                  <a:srgbClr val="7A4900"/>
                </a:solidFill>
              </a:rPr>
              <a:t>  • May NOT account for all individual health factors, allergies, or medication interactions.</a:t>
            </a:r>
          </a:p>
          <a:p xmlns:a="http://schemas.openxmlformats.org/drawingml/2006/main">
            <a:r>
              <a:rPr lang="en-US" sz="1500" b="0">
                <a:solidFill>
                  <a:srgbClr val="7A4900"/>
                </a:solidFill>
              </a:rPr>
              <a:t/>
            </a:r>
          </a:p>
          <a:p xmlns:a="http://schemas.openxmlformats.org/drawingml/2006/main">
            <a:r>
              <a:rPr lang="en-US" sz="1500" b="0">
                <a:solidFill>
                  <a:srgbClr val="7A4900"/>
                </a:solidFill>
              </a:rPr>
              <a:t>Always consult a qualified healthcare professional, registered dietitian, or licensed nutritionist before making significant changes to your diet — especially if you have diabetes, hypertension, heart disease, kidney conditions, or any other medical condition.</a:t>
            </a:r>
          </a:p>
        </p:txBody>
      </p:sp>
      <p:sp>
        <p:nvSpPr>
          <p:cNvPr id="100133" name="SuppTitle"/>
          <p:cNvSpPr txBox="1"/>
          <p:nvPr/>
        </p:nvSpPr>
        <p:spPr>
          <a:xfrm xmlns:a="http://schemas.openxmlformats.org/drawingml/2006/main">
            <a:off x="720000" y="3600000"/>
            <a:ext cx="10440000" cy="28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1">
                <a:solidFill>
                  <a:srgbClr val="0F3460"/>
                </a:solidFill>
                <a:latin typeface="Calibri"/>
                <a:ea typeface="Calibri"/>
              </a:rPr>
              <a:t>Supplement Considerations (Always Consult Doctor First)</a:t>
            </a:r>
          </a:p>
        </p:txBody>
      </p:sp>
      <p:sp>
        <p:nvSpPr>
          <p:cNvPr id="100134" name="Supplements"/>
          <p:cNvSpPr txBox="1"/>
          <p:nvPr/>
        </p:nvSpPr>
        <p:spPr>
          <a:xfrm xmlns:a="http://schemas.openxmlformats.org/drawingml/2006/main">
            <a:off x="720000" y="3960000"/>
            <a:ext cx="10440000" cy="12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0">
                <a:solidFill>
                  <a:srgbClr val="0A3060"/>
                </a:solidFill>
              </a:rPr>
              <a:t>Vitamin D   —  Commonly deficient; supports immunity and bone health</a:t>
            </a:r>
          </a:p>
          <a:p xmlns:a="http://schemas.openxmlformats.org/drawingml/2006/main">
            <a:r>
              <a:rPr lang="en-US" sz="1400" b="0">
                <a:solidFill>
                  <a:srgbClr val="0A3060"/>
                </a:solidFill>
              </a:rPr>
              <a:t>Vitamin B12  —  Especially important for vegetarians (no animal products)</a:t>
            </a:r>
          </a:p>
          <a:p xmlns:a="http://schemas.openxmlformats.org/drawingml/2006/main">
            <a:r>
              <a:rPr lang="en-US" sz="1400" b="0">
                <a:solidFill>
                  <a:srgbClr val="0A3060"/>
                </a:solidFill>
              </a:rPr>
              <a:t>Omega-3      —  From flaxseeds, walnuts, chia seeds (plant-based sources)</a:t>
            </a:r>
          </a:p>
          <a:p xmlns:a="http://schemas.openxmlformats.org/drawingml/2006/main">
            <a:r>
              <a:rPr lang="en-US" sz="1400" b="0">
                <a:solidFill>
                  <a:srgbClr val="0A3060"/>
                </a:solidFill>
              </a:rPr>
              <a:t>Magnesium  —  Supports muscle function, blood pressure &amp; sleep quality</a:t>
            </a:r>
          </a:p>
        </p:txBody>
      </p:sp>
      <p:sp>
        <p:nvSpPr>
          <p:cNvPr id="100135" name="Hydration"/>
          <p:cNvSpPr txBox="1"/>
          <p:nvPr/>
        </p:nvSpPr>
        <p:spPr>
          <a:xfrm xmlns:a="http://schemas.openxmlformats.org/drawingml/2006/main">
            <a:off x="720000" y="5400000"/>
            <a:ext cx="10440000" cy="6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4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0">
                <a:solidFill>
                  <a:srgbClr val="003366"/>
                </a:solidFill>
              </a:rPr>
              <a:t>Hydration Plan:  8-10 glasses (2-2.5 litres) daily  •  Start with warm lemon water each morning  •  No sugary drinks or artificial sweeteners  •  Limit fruit juices (blood sugar risk)</a:t>
            </a:r>
          </a:p>
        </p:txBody>
      </p:sp>
    </p:spTree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1A1A2E"/>
        </a:solidFill>
      </p:bgPr>
    </p:bg>
    <p:spTree>
      <p:nvGrpSpPr>
        <p:cNvPr id="1" name=""/>
        <p:cNvGrpSpPr/>
        <p:nvPr/>
      </p:nvGrpSpPr>
      <p:grpSpPr/>
      <p:sp>
        <p:nvSpPr>
          <p:cNvPr id="100136" name="TopBar"/>
          <p:cNvSpPr txBox="1"/>
          <p:nvPr/>
        </p:nvSpPr>
        <p:spPr>
          <a:xfrm xmlns:a="http://schemas.openxmlformats.org/drawingml/2006/main">
            <a:off x="0" y="0"/>
            <a:ext cx="12193200" cy="50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2F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 b="1">
                <a:solidFill>
                  <a:srgbClr val="FFFFFF"/>
                </a:solidFill>
              </a:rPr>
              <a:t>15  .md Plan Export — File Output</a:t>
            </a:r>
          </a:p>
        </p:txBody>
      </p:sp>
      <p:sp>
        <p:nvSpPr>
          <p:cNvPr id="100137" name="BottomBar"/>
          <p:cNvSpPr txBox="1"/>
          <p:nvPr/>
        </p:nvSpPr>
        <p:spPr>
          <a:xfrm xmlns:a="http://schemas.openxmlformats.org/drawingml/2006/main">
            <a:off x="0" y="6588000"/>
            <a:ext cx="12193200" cy="28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2F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>
                <a:solidFill>
                  <a:srgbClr val="FFFFFF"/>
                </a:solidFill>
              </a:rPr>
              <a:t>IBM Granite LLM  |  Agentic AI Application</a:t>
            </a:r>
          </a:p>
        </p:txBody>
      </p:sp>
      <p:sp>
        <p:nvSpPr>
          <p:cNvPr id="100138" name="FileHeader"/>
          <p:cNvSpPr txBox="1"/>
          <p:nvPr/>
        </p:nvSpPr>
        <p:spPr>
          <a:xfrm xmlns:a="http://schemas.openxmlformats.org/drawingml/2006/main">
            <a:off x="720000" y="648000"/>
            <a:ext cx="10440000" cy="28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 b="1">
                <a:solidFill>
                  <a:srgbClr val="88CCFF"/>
                </a:solidFill>
                <a:latin typeface="Courier New"/>
                <a:ea typeface="Courier New"/>
              </a:rPr>
              <a:t>Sample Output File:  nutrition_plan_Priya_Patel_20250115.md</a:t>
            </a:r>
          </a:p>
        </p:txBody>
      </p:sp>
      <p:sp>
        <p:nvSpPr>
          <p:cNvPr id="100139" name="MDContent"/>
          <p:cNvSpPr txBox="1"/>
          <p:nvPr/>
        </p:nvSpPr>
        <p:spPr>
          <a:xfrm xmlns:a="http://schemas.openxmlformats.org/drawingml/2006/main">
            <a:off x="720000" y="1008000"/>
            <a:ext cx="10440000" cy="36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11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0">
                <a:solidFill>
                  <a:srgbClr val="00FF88"/>
                </a:solidFill>
                <a:latin typeface="Courier New"/>
                <a:ea typeface="Courier New"/>
              </a:rPr>
              <a:t># Nutrition Plan — Priya Patel</a:t>
            </a:r>
          </a:p>
          <a:p xmlns:a="http://schemas.openxmlformats.org/drawingml/2006/main">
            <a:r>
              <a:rPr lang="en-US" sz="1200" b="0">
                <a:solidFill>
                  <a:srgbClr val="00FF88"/>
                </a:solidFill>
                <a:latin typeface="Courier New"/>
                <a:ea typeface="Courier New"/>
              </a:rPr>
              <a:t/>
            </a:r>
          </a:p>
          <a:p xmlns:a="http://schemas.openxmlformats.org/drawingml/2006/main">
            <a:r>
              <a:rPr lang="en-US" sz="1200" b="0">
                <a:solidFill>
                  <a:srgbClr val="00FF88"/>
                </a:solidFill>
                <a:latin typeface="Courier New"/>
                <a:ea typeface="Courier New"/>
              </a:rPr>
              <a:t>**Generated by:** NutriBot AI powered by IBM Granite LLM</a:t>
            </a:r>
          </a:p>
          <a:p xmlns:a="http://schemas.openxmlformats.org/drawingml/2006/main">
            <a:r>
              <a:rPr lang="en-US" sz="1200" b="0">
                <a:solidFill>
                  <a:srgbClr val="00FF88"/>
                </a:solidFill>
                <a:latin typeface="Courier New"/>
                <a:ea typeface="Courier New"/>
              </a:rPr>
              <a:t>**Date:** January 2025</a:t>
            </a:r>
          </a:p>
          <a:p xmlns:a="http://schemas.openxmlformats.org/drawingml/2006/main">
            <a:r>
              <a:rPr lang="en-US" sz="1200" b="0">
                <a:solidFill>
                  <a:srgbClr val="00FF88"/>
                </a:solidFill>
                <a:latin typeface="Courier New"/>
                <a:ea typeface="Courier New"/>
              </a:rPr>
              <a:t/>
            </a:r>
          </a:p>
          <a:p xmlns:a="http://schemas.openxmlformats.org/drawingml/2006/main">
            <a:r>
              <a:rPr lang="en-US" sz="1200" b="0">
                <a:solidFill>
                  <a:srgbClr val="00FF88"/>
                </a:solidFill>
                <a:latin typeface="Courier New"/>
                <a:ea typeface="Courier New"/>
              </a:rPr>
              <a:t>---</a:t>
            </a:r>
          </a:p>
          <a:p xmlns:a="http://schemas.openxmlformats.org/drawingml/2006/main">
            <a:r>
              <a:rPr lang="en-US" sz="1200" b="0">
                <a:solidFill>
                  <a:srgbClr val="00FF88"/>
                </a:solidFill>
                <a:latin typeface="Courier New"/>
                <a:ea typeface="Courier New"/>
              </a:rPr>
              <a:t/>
            </a:r>
          </a:p>
          <a:p xmlns:a="http://schemas.openxmlformats.org/drawingml/2006/main">
            <a:r>
              <a:rPr lang="en-US" sz="1200" b="0">
                <a:solidFill>
                  <a:srgbClr val="00FF88"/>
                </a:solidFill>
                <a:latin typeface="Courier New"/>
                <a:ea typeface="Courier New"/>
              </a:rPr>
              <a:t># Personalized 7-Day Nutrition Plan</a:t>
            </a:r>
          </a:p>
          <a:p xmlns:a="http://schemas.openxmlformats.org/drawingml/2006/main">
            <a:r>
              <a:rPr lang="en-US" sz="1200" b="0">
                <a:solidFill>
                  <a:srgbClr val="00FF88"/>
                </a:solidFill>
                <a:latin typeface="Courier New"/>
                <a:ea typeface="Courier New"/>
              </a:rPr>
              <a:t/>
            </a:r>
          </a:p>
          <a:p xmlns:a="http://schemas.openxmlformats.org/drawingml/2006/main">
            <a:r>
              <a:rPr lang="en-US" sz="1200" b="0">
                <a:solidFill>
                  <a:srgbClr val="00FF88"/>
                </a:solidFill>
                <a:latin typeface="Courier New"/>
                <a:ea typeface="Courier New"/>
              </a:rPr>
              <a:t>**Prepared for:** Priya Patel  |  Age: 35  |  Diet: Vegetarian  |  Goal: Diabetes Management</a:t>
            </a:r>
          </a:p>
          <a:p xmlns:a="http://schemas.openxmlformats.org/drawingml/2006/main">
            <a:r>
              <a:rPr lang="en-US" sz="1200" b="0">
                <a:solidFill>
                  <a:srgbClr val="00FF88"/>
                </a:solidFill>
                <a:latin typeface="Courier New"/>
                <a:ea typeface="Courier New"/>
              </a:rPr>
              <a:t>**Location:** Mumbai, India  |  Medical Notes: Diabetes, Hypertension</a:t>
            </a:r>
          </a:p>
          <a:p xmlns:a="http://schemas.openxmlformats.org/drawingml/2006/main">
            <a:r>
              <a:rPr lang="en-US" sz="1200" b="0">
                <a:solidFill>
                  <a:srgbClr val="00FF88"/>
                </a:solidFill>
                <a:latin typeface="Courier New"/>
                <a:ea typeface="Courier New"/>
              </a:rPr>
              <a:t/>
            </a:r>
          </a:p>
          <a:p xmlns:a="http://schemas.openxmlformats.org/drawingml/2006/main">
            <a:r>
              <a:rPr lang="en-US" sz="1200" b="0">
                <a:solidFill>
                  <a:srgbClr val="00FF88"/>
                </a:solidFill>
                <a:latin typeface="Courier New"/>
                <a:ea typeface="Courier New"/>
              </a:rPr>
              <a:t>## Daily Calorie &amp; Macro Target</a:t>
            </a:r>
          </a:p>
          <a:p xmlns:a="http://schemas.openxmlformats.org/drawingml/2006/main">
            <a:r>
              <a:rPr lang="en-US" sz="1200" b="0">
                <a:solidFill>
                  <a:srgbClr val="00FF88"/>
                </a:solidFill>
                <a:latin typeface="Courier New"/>
                <a:ea typeface="Courier New"/>
              </a:rPr>
              <a:t>| Nutrient | Daily Target |</a:t>
            </a:r>
          </a:p>
          <a:p xmlns:a="http://schemas.openxmlformats.org/drawingml/2006/main">
            <a:r>
              <a:rPr lang="en-US" sz="1200" b="0">
                <a:solidFill>
                  <a:srgbClr val="00FF88"/>
                </a:solidFill>
                <a:latin typeface="Courier New"/>
                <a:ea typeface="Courier New"/>
              </a:rPr>
              <a:t>|----------|--------------|</a:t>
            </a:r>
          </a:p>
          <a:p xmlns:a="http://schemas.openxmlformats.org/drawingml/2006/main">
            <a:r>
              <a:rPr lang="en-US" sz="1200" b="0">
                <a:solidFill>
                  <a:srgbClr val="00FF88"/>
                </a:solidFill>
                <a:latin typeface="Courier New"/>
                <a:ea typeface="Courier New"/>
              </a:rPr>
              <a:t>| Calories | 1600-1800 kcal |</a:t>
            </a:r>
          </a:p>
          <a:p xmlns:a="http://schemas.openxmlformats.org/drawingml/2006/main">
            <a:r>
              <a:rPr lang="en-US" sz="1200" b="0">
                <a:solidFill>
                  <a:srgbClr val="00FF88"/>
                </a:solidFill>
                <a:latin typeface="Courier New"/>
                <a:ea typeface="Courier New"/>
              </a:rPr>
              <a:t>| Protein  | 60-80g |</a:t>
            </a:r>
          </a:p>
          <a:p xmlns:a="http://schemas.openxmlformats.org/drawingml/2006/main">
            <a:r>
              <a:rPr lang="en-US" sz="1200" b="0">
                <a:solidFill>
                  <a:srgbClr val="00FF88"/>
                </a:solidFill>
                <a:latin typeface="Courier New"/>
                <a:ea typeface="Courier New"/>
              </a:rPr>
              <a:t>| Carbs    | 150-180g (low-GI) |</a:t>
            </a:r>
          </a:p>
          <a:p xmlns:a="http://schemas.openxmlformats.org/drawingml/2006/main">
            <a:r>
              <a:rPr lang="en-US" sz="1200" b="0">
                <a:solidFill>
                  <a:srgbClr val="00FF88"/>
                </a:solidFill>
                <a:latin typeface="Courier New"/>
                <a:ea typeface="Courier New"/>
              </a:rPr>
              <a:t>| Fats     | 45-65g (healthy fats) |</a:t>
            </a:r>
          </a:p>
          <a:p xmlns:a="http://schemas.openxmlformats.org/drawingml/2006/main">
            <a:r>
              <a:rPr lang="en-US" sz="1200" b="0">
                <a:solidFill>
                  <a:srgbClr val="00FF88"/>
                </a:solidFill>
                <a:latin typeface="Courier New"/>
                <a:ea typeface="Courier New"/>
              </a:rPr>
              <a:t>| Fiber    | 25-35g |</a:t>
            </a:r>
          </a:p>
        </p:txBody>
      </p:sp>
      <p:sp>
        <p:nvSpPr>
          <p:cNvPr id="100140" name="Footer"/>
          <p:cNvSpPr txBox="1"/>
          <p:nvPr/>
        </p:nvSpPr>
        <p:spPr>
          <a:xfrm xmlns:a="http://schemas.openxmlformats.org/drawingml/2006/main">
            <a:off x="720000" y="4752000"/>
            <a:ext cx="10440000" cy="28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0">
                <a:solidFill>
                  <a:srgbClr val="888888"/>
                </a:solidFill>
                <a:latin typeface="Courier New"/>
                <a:ea typeface="Courier New"/>
              </a:rPr>
              <a:t>...  [7 complete daily meal plans]  ...  [Hydration]  ...  [Tips]  ...  [Foods to Avoid]  ...  [Medical Disclaimer]</a:t>
            </a:r>
          </a:p>
        </p:txBody>
      </p:sp>
      <p:sp>
        <p:nvSpPr>
          <p:cNvPr id="100141" name="DownloadInfo"/>
          <p:cNvSpPr txBox="1"/>
          <p:nvPr/>
        </p:nvSpPr>
        <p:spPr>
          <a:xfrm xmlns:a="http://schemas.openxmlformats.org/drawingml/2006/main">
            <a:off x="720000" y="5220000"/>
            <a:ext cx="10440000" cy="9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A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AADDFF"/>
                </a:solidFill>
              </a:rPr>
              <a:t>File saved to:  plans/nutrition_plan_Priya_Patel_20250115.md</a:t>
            </a:r>
          </a:p>
          <a:p xmlns:a="http://schemas.openxmlformats.org/drawingml/2006/main">
            <a:r>
              <a:rPr lang="en-US" sz="1300" b="0">
                <a:solidFill>
                  <a:srgbClr val="AADDFF"/>
                </a:solidFill>
              </a:rPr>
              <a:t>Downloaded via:  GET /api/download/nutrition_plan_Priya_Patel_20250115.md</a:t>
            </a:r>
          </a:p>
          <a:p xmlns:a="http://schemas.openxmlformats.org/drawingml/2006/main">
            <a:r>
              <a:rPr lang="en-US" sz="1300" b="0">
                <a:solidFill>
                  <a:srgbClr val="AADDFF"/>
                </a:solidFill>
              </a:rPr>
              <a:t>File format: GitHub Flavored Markdown (GFM) — renders beautifully on GitHub, Notion, VS Code</a:t>
            </a:r>
          </a:p>
        </p:txBody>
      </p:sp>
    </p:spTree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142" name="TopBar"/>
          <p:cNvSpPr txBox="1"/>
          <p:nvPr/>
        </p:nvSpPr>
        <p:spPr>
          <a:xfrm xmlns:a="http://schemas.openxmlformats.org/drawingml/2006/main">
            <a:off x="0" y="0"/>
            <a:ext cx="12193200" cy="50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346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 b="1">
                <a:solidFill>
                  <a:srgbClr val="FFFFFF"/>
                </a:solidFill>
              </a:rPr>
              <a:t>16  GitHub Repository &amp; Deployment</a:t>
            </a:r>
          </a:p>
        </p:txBody>
      </p:sp>
      <p:sp>
        <p:nvSpPr>
          <p:cNvPr id="100143" name="BottomBar"/>
          <p:cNvSpPr txBox="1"/>
          <p:nvPr/>
        </p:nvSpPr>
        <p:spPr>
          <a:xfrm xmlns:a="http://schemas.openxmlformats.org/drawingml/2006/main">
            <a:off x="0" y="6588000"/>
            <a:ext cx="12193200" cy="28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2F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>
                <a:solidFill>
                  <a:srgbClr val="FFFFFF"/>
                </a:solidFill>
              </a:rPr>
              <a:t>IBM Granite LLM  |  Agentic AI Application</a:t>
            </a:r>
          </a:p>
        </p:txBody>
      </p:sp>
      <p:sp>
        <p:nvSpPr>
          <p:cNvPr id="100144" name="RepoBox"/>
          <p:cNvSpPr txBox="1"/>
          <p:nvPr/>
        </p:nvSpPr>
        <p:spPr>
          <a:xfrm xmlns:a="http://schemas.openxmlformats.org/drawingml/2006/main">
            <a:off x="720000" y="648000"/>
            <a:ext cx="104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2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1">
                <a:solidFill>
                  <a:srgbClr val="00FF88"/>
                </a:solidFill>
                <a:latin typeface="Courier New"/>
                <a:ea typeface="Courier New"/>
              </a:rPr>
              <a:t>GitHub Repository</a:t>
            </a:r>
          </a:p>
          <a:p xmlns:a="http://schemas.openxmlformats.org/drawingml/2006/main">
            <a:r>
              <a:rPr lang="en-US" sz="1600" b="1">
                <a:solidFill>
                  <a:srgbClr val="00FF88"/>
                </a:solidFill>
                <a:latin typeface="Courier New"/>
                <a:ea typeface="Courier New"/>
              </a:rPr>
              <a:t>github.com/jigarnakarani/Nutrition-Agentic-AI-</a:t>
            </a:r>
          </a:p>
        </p:txBody>
      </p:sp>
      <p:sp>
        <p:nvSpPr>
          <p:cNvPr id="100145" name="StructTitle"/>
          <p:cNvSpPr txBox="1"/>
          <p:nvPr/>
        </p:nvSpPr>
        <p:spPr>
          <a:xfrm xmlns:a="http://schemas.openxmlformats.org/drawingml/2006/main">
            <a:off x="720000" y="1332000"/>
            <a:ext cx="5040000" cy="25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 b="1">
                <a:solidFill>
                  <a:srgbClr val="0F3460"/>
                </a:solidFill>
              </a:rPr>
              <a:t>Repository File Structure</a:t>
            </a:r>
          </a:p>
        </p:txBody>
      </p:sp>
      <p:sp>
        <p:nvSpPr>
          <p:cNvPr id="100146" name="Structure"/>
          <p:cNvSpPr txBox="1"/>
          <p:nvPr/>
        </p:nvSpPr>
        <p:spPr>
          <a:xfrm xmlns:a="http://schemas.openxmlformats.org/drawingml/2006/main">
            <a:off x="720000" y="1656000"/>
            <a:ext cx="5040000" cy="37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0">
                <a:solidFill>
                  <a:srgbClr val="222222"/>
                </a:solidFill>
                <a:latin typeface="Courier New"/>
                <a:ea typeface="Courier New"/>
              </a:rPr>
              <a:t>Nutrition-Agentic-AI-/</a:t>
            </a:r>
          </a:p>
          <a:p xmlns:a="http://schemas.openxmlformats.org/drawingml/2006/main">
            <a:r>
              <a:rPr lang="en-US" sz="1100" b="0">
                <a:solidFill>
                  <a:srgbClr val="222222"/>
                </a:solidFill>
                <a:latin typeface="Courier New"/>
                <a:ea typeface="Courier New"/>
              </a:rPr>
              <a:t>├── app.py               Flask backend + IBM Granite</a:t>
            </a:r>
          </a:p>
          <a:p xmlns:a="http://schemas.openxmlformats.org/drawingml/2006/main">
            <a:r>
              <a:rPr lang="en-US" sz="1100" b="0">
                <a:solidFill>
                  <a:srgbClr val="222222"/>
                </a:solidFill>
                <a:latin typeface="Courier New"/>
                <a:ea typeface="Courier New"/>
              </a:rPr>
              <a:t>├── requirements.txt     Python dependencies</a:t>
            </a:r>
          </a:p>
          <a:p xmlns:a="http://schemas.openxmlformats.org/drawingml/2006/main">
            <a:r>
              <a:rPr lang="en-US" sz="1100" b="0">
                <a:solidFill>
                  <a:srgbClr val="222222"/>
                </a:solidFill>
                <a:latin typeface="Courier New"/>
                <a:ea typeface="Courier New"/>
              </a:rPr>
              <a:t>├── run.bat              Windows one-click launcher</a:t>
            </a:r>
          </a:p>
          <a:p xmlns:a="http://schemas.openxmlformats.org/drawingml/2006/main">
            <a:r>
              <a:rPr lang="en-US" sz="1100" b="0">
                <a:solidFill>
                  <a:srgbClr val="222222"/>
                </a:solidFill>
                <a:latin typeface="Courier New"/>
                <a:ea typeface="Courier New"/>
              </a:rPr>
              <a:t>├── deploy_to_github.bat GitHub deploy script</a:t>
            </a:r>
          </a:p>
          <a:p xmlns:a="http://schemas.openxmlformats.org/drawingml/2006/main">
            <a:r>
              <a:rPr lang="en-US" sz="1100" b="0">
                <a:solidFill>
                  <a:srgbClr val="222222"/>
                </a:solidFill>
                <a:latin typeface="Courier New"/>
                <a:ea typeface="Courier New"/>
              </a:rPr>
              <a:t>├── .env.example         API key template</a:t>
            </a:r>
          </a:p>
          <a:p xmlns:a="http://schemas.openxmlformats.org/drawingml/2006/main">
            <a:r>
              <a:rPr lang="en-US" sz="1100" b="0">
                <a:solidFill>
                  <a:srgbClr val="222222"/>
                </a:solidFill>
                <a:latin typeface="Courier New"/>
                <a:ea typeface="Courier New"/>
              </a:rPr>
              <a:t>├── .gitignore           Git ignore rules</a:t>
            </a:r>
          </a:p>
          <a:p xmlns:a="http://schemas.openxmlformats.org/drawingml/2006/main">
            <a:r>
              <a:rPr lang="en-US" sz="1100" b="0">
                <a:solidFill>
                  <a:srgbClr val="222222"/>
                </a:solidFill>
                <a:latin typeface="Courier New"/>
                <a:ea typeface="Courier New"/>
              </a:rPr>
              <a:t>├── LICENSE              MIT License</a:t>
            </a:r>
          </a:p>
          <a:p xmlns:a="http://schemas.openxmlformats.org/drawingml/2006/main">
            <a:r>
              <a:rPr lang="en-US" sz="1100" b="0">
                <a:solidFill>
                  <a:srgbClr val="222222"/>
                </a:solidFill>
                <a:latin typeface="Courier New"/>
                <a:ea typeface="Courier New"/>
              </a:rPr>
              <a:t>├── README.md            Full documentation</a:t>
            </a:r>
          </a:p>
          <a:p xmlns:a="http://schemas.openxmlformats.org/drawingml/2006/main">
            <a:r>
              <a:rPr lang="en-US" sz="1100" b="0">
                <a:solidFill>
                  <a:srgbClr val="222222"/>
                </a:solidFill>
                <a:latin typeface="Courier New"/>
                <a:ea typeface="Courier New"/>
              </a:rPr>
              <a:t>├── templates/</a:t>
            </a:r>
          </a:p>
          <a:p xmlns:a="http://schemas.openxmlformats.org/drawingml/2006/main">
            <a:r>
              <a:rPr lang="en-US" sz="1100" b="0">
                <a:solidFill>
                  <a:srgbClr val="222222"/>
                </a:solidFill>
                <a:latin typeface="Courier New"/>
                <a:ea typeface="Courier New"/>
              </a:rPr>
              <a:t>│   └── index.html       3-tab web interface</a:t>
            </a:r>
          </a:p>
          <a:p xmlns:a="http://schemas.openxmlformats.org/drawingml/2006/main">
            <a:r>
              <a:rPr lang="en-US" sz="1100" b="0">
                <a:solidFill>
                  <a:srgbClr val="222222"/>
                </a:solidFill>
                <a:latin typeface="Courier New"/>
                <a:ea typeface="Courier New"/>
              </a:rPr>
              <a:t>├── static/</a:t>
            </a:r>
          </a:p>
          <a:p xmlns:a="http://schemas.openxmlformats.org/drawingml/2006/main">
            <a:r>
              <a:rPr lang="en-US" sz="1100" b="0">
                <a:solidFill>
                  <a:srgbClr val="222222"/>
                </a:solidFill>
                <a:latin typeface="Courier New"/>
                <a:ea typeface="Courier New"/>
              </a:rPr>
              <a:t>│   ├── style.css        UI styles</a:t>
            </a:r>
          </a:p>
          <a:p xmlns:a="http://schemas.openxmlformats.org/drawingml/2006/main">
            <a:r>
              <a:rPr lang="en-US" sz="1100" b="0">
                <a:solidFill>
                  <a:srgbClr val="222222"/>
                </a:solidFill>
                <a:latin typeface="Courier New"/>
                <a:ea typeface="Courier New"/>
              </a:rPr>
              <a:t>│   └── app.js           Frontend logic</a:t>
            </a:r>
          </a:p>
          <a:p xmlns:a="http://schemas.openxmlformats.org/drawingml/2006/main">
            <a:r>
              <a:rPr lang="en-US" sz="1100" b="0">
                <a:solidFill>
                  <a:srgbClr val="222222"/>
                </a:solidFill>
                <a:latin typeface="Courier New"/>
                <a:ea typeface="Courier New"/>
              </a:rPr>
              <a:t>└── plans/</a:t>
            </a:r>
          </a:p>
          <a:p xmlns:a="http://schemas.openxmlformats.org/drawingml/2006/main">
            <a:r>
              <a:rPr lang="en-US" sz="1100" b="0">
                <a:solidFill>
                  <a:srgbClr val="222222"/>
                </a:solidFill>
                <a:latin typeface="Courier New"/>
                <a:ea typeface="Courier New"/>
              </a:rPr>
              <a:t>    └── sample_plan.md   Sample output</a:t>
            </a:r>
          </a:p>
        </p:txBody>
      </p:sp>
      <p:sp>
        <p:nvSpPr>
          <p:cNvPr id="100147" name="DeployTitle"/>
          <p:cNvSpPr txBox="1"/>
          <p:nvPr/>
        </p:nvSpPr>
        <p:spPr>
          <a:xfrm xmlns:a="http://schemas.openxmlformats.org/drawingml/2006/main">
            <a:off x="6300000" y="1332000"/>
            <a:ext cx="5040000" cy="25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 b="1">
                <a:solidFill>
                  <a:srgbClr val="0F3460"/>
                </a:solidFill>
              </a:rPr>
              <a:t>Deployment Steps</a:t>
            </a:r>
          </a:p>
        </p:txBody>
      </p:sp>
      <p:sp>
        <p:nvSpPr>
          <p:cNvPr id="100148" name="DeploySteps"/>
          <p:cNvSpPr txBox="1"/>
          <p:nvPr/>
        </p:nvSpPr>
        <p:spPr>
          <a:xfrm xmlns:a="http://schemas.openxmlformats.org/drawingml/2006/main">
            <a:off x="6300000" y="1656000"/>
            <a:ext cx="5040000" cy="28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0F3460"/>
                </a:solidFill>
                <a:latin typeface="Calibri"/>
                <a:ea typeface="Calibri"/>
              </a:rPr>
              <a:t>1.  git clone https://github.com/jigarnakarani/</a:t>
            </a:r>
          </a:p>
          <a:p xmlns:a="http://schemas.openxmlformats.org/drawingml/2006/main">
            <a:r>
              <a:rPr lang="en-US" sz="1300" b="0">
                <a:solidFill>
                  <a:srgbClr val="0F3460"/>
                </a:solidFill>
                <a:latin typeface="Calibri"/>
                <a:ea typeface="Calibri"/>
              </a:rPr>
              <a:t>      Nutrition-Agentic-AI-.git</a:t>
            </a:r>
          </a:p>
          <a:p xmlns:a="http://schemas.openxmlformats.org/drawingml/2006/main">
            <a:r>
              <a:rPr lang="en-US" sz="1300" b="0">
                <a:solidFill>
                  <a:srgbClr val="0F3460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300" b="0">
                <a:solidFill>
                  <a:srgbClr val="0F3460"/>
                </a:solidFill>
                <a:latin typeface="Calibri"/>
                <a:ea typeface="Calibri"/>
              </a:rPr>
              <a:t>2.  cd Nutrition-Agentic-AI-</a:t>
            </a:r>
          </a:p>
          <a:p xmlns:a="http://schemas.openxmlformats.org/drawingml/2006/main">
            <a:r>
              <a:rPr lang="en-US" sz="1300" b="0">
                <a:solidFill>
                  <a:srgbClr val="0F3460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300" b="0">
                <a:solidFill>
                  <a:srgbClr val="0F3460"/>
                </a:solidFill>
                <a:latin typeface="Calibri"/>
                <a:ea typeface="Calibri"/>
              </a:rPr>
              <a:t>3.  Double-click  run.bat</a:t>
            </a:r>
          </a:p>
          <a:p xmlns:a="http://schemas.openxmlformats.org/drawingml/2006/main">
            <a:r>
              <a:rPr lang="en-US" sz="1300" b="0">
                <a:solidFill>
                  <a:srgbClr val="0F3460"/>
                </a:solidFill>
                <a:latin typeface="Calibri"/>
                <a:ea typeface="Calibri"/>
              </a:rPr>
              <a:t>      (Auto-installs all dependencies)</a:t>
            </a:r>
          </a:p>
          <a:p xmlns:a="http://schemas.openxmlformats.org/drawingml/2006/main">
            <a:r>
              <a:rPr lang="en-US" sz="1300" b="0">
                <a:solidFill>
                  <a:srgbClr val="0F3460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300" b="0">
                <a:solidFill>
                  <a:srgbClr val="0F3460"/>
                </a:solidFill>
                <a:latin typeface="Calibri"/>
                <a:ea typeface="Calibri"/>
              </a:rPr>
              <a:t>4.  Browser opens:</a:t>
            </a:r>
          </a:p>
          <a:p xmlns:a="http://schemas.openxmlformats.org/drawingml/2006/main">
            <a:r>
              <a:rPr lang="en-US" sz="1300" b="0">
                <a:solidFill>
                  <a:srgbClr val="0F3460"/>
                </a:solidFill>
                <a:latin typeface="Calibri"/>
                <a:ea typeface="Calibri"/>
              </a:rPr>
              <a:t>      http://localhost:5000</a:t>
            </a:r>
          </a:p>
          <a:p xmlns:a="http://schemas.openxmlformats.org/drawingml/2006/main">
            <a:r>
              <a:rPr lang="en-US" sz="1300" b="0">
                <a:solidFill>
                  <a:srgbClr val="0F3460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300" b="0">
                <a:solidFill>
                  <a:srgbClr val="0F3460"/>
                </a:solidFill>
                <a:latin typeface="Calibri"/>
                <a:ea typeface="Calibri"/>
              </a:rPr>
              <a:t>5.  Optional IBM API setup:</a:t>
            </a:r>
          </a:p>
          <a:p xmlns:a="http://schemas.openxmlformats.org/drawingml/2006/main">
            <a:r>
              <a:rPr lang="en-US" sz="1300" b="0">
                <a:solidFill>
                  <a:srgbClr val="0F3460"/>
                </a:solidFill>
                <a:latin typeface="Calibri"/>
                <a:ea typeface="Calibri"/>
              </a:rPr>
              <a:t>      Edit .env file</a:t>
            </a:r>
          </a:p>
          <a:p xmlns:a="http://schemas.openxmlformats.org/drawingml/2006/main">
            <a:r>
              <a:rPr lang="en-US" sz="1300" b="0">
                <a:solidFill>
                  <a:srgbClr val="0F3460"/>
                </a:solidFill>
                <a:latin typeface="Calibri"/>
                <a:ea typeface="Calibri"/>
              </a:rPr>
              <a:t>      Set WATSONX_API_KEY</a:t>
            </a:r>
          </a:p>
          <a:p xmlns:a="http://schemas.openxmlformats.org/drawingml/2006/main">
            <a:r>
              <a:rPr lang="en-US" sz="1300" b="0">
                <a:solidFill>
                  <a:srgbClr val="0F3460"/>
                </a:solidFill>
                <a:latin typeface="Calibri"/>
                <a:ea typeface="Calibri"/>
              </a:rPr>
              <a:t>      Set WATSONX_PROJECT_ID</a:t>
            </a:r>
          </a:p>
        </p:txBody>
      </p:sp>
      <p:sp>
        <p:nvSpPr>
          <p:cNvPr id="100149" name="APIEndpoints"/>
          <p:cNvSpPr txBox="1"/>
          <p:nvPr/>
        </p:nvSpPr>
        <p:spPr>
          <a:xfrm xmlns:a="http://schemas.openxmlformats.org/drawingml/2006/main">
            <a:off x="6300000" y="4680000"/>
            <a:ext cx="5040000" cy="7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FF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0">
                <a:solidFill>
                  <a:srgbClr val="0A4A0A"/>
                </a:solidFill>
              </a:rPr>
              <a:t>API Endpoints:  /api/generate-plan  |  /api/chat  |  /api/download/&lt;file&gt;  |  /api/health</a:t>
            </a:r>
          </a:p>
        </p:txBody>
      </p:sp>
    </p:spTree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150" name="TopBar"/>
          <p:cNvSpPr txBox="1"/>
          <p:nvPr/>
        </p:nvSpPr>
        <p:spPr>
          <a:xfrm xmlns:a="http://schemas.openxmlformats.org/drawingml/2006/main">
            <a:off x="0" y="0"/>
            <a:ext cx="12193200" cy="50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346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 b="1">
                <a:solidFill>
                  <a:srgbClr val="FFFFFF"/>
                </a:solidFill>
              </a:rPr>
              <a:t>17  Technology Stack</a:t>
            </a:r>
          </a:p>
        </p:txBody>
      </p:sp>
      <p:sp>
        <p:nvSpPr>
          <p:cNvPr id="100151" name="BottomBar"/>
          <p:cNvSpPr txBox="1"/>
          <p:nvPr/>
        </p:nvSpPr>
        <p:spPr>
          <a:xfrm xmlns:a="http://schemas.openxmlformats.org/drawingml/2006/main">
            <a:off x="0" y="6588000"/>
            <a:ext cx="12193200" cy="28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2F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>
                <a:solidFill>
                  <a:srgbClr val="FFFFFF"/>
                </a:solidFill>
              </a:rPr>
              <a:t>IBM Granite LLM  |  Agentic AI Application</a:t>
            </a:r>
          </a:p>
        </p:txBody>
      </p:sp>
      <p:sp>
        <p:nvSpPr>
          <p:cNvPr id="100152" name="AILayer"/>
          <p:cNvSpPr txBox="1"/>
          <p:nvPr/>
        </p:nvSpPr>
        <p:spPr>
          <a:xfrm xmlns:a="http://schemas.openxmlformats.org/drawingml/2006/main">
            <a:off x="720000" y="720000"/>
            <a:ext cx="5040000" cy="19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346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0">
                <a:solidFill>
                  <a:srgbClr val="FFFFFF"/>
                </a:solidFill>
              </a:rPr>
              <a:t>AI / ML LAYER</a:t>
            </a:r>
          </a:p>
          <a:p xmlns:a="http://schemas.openxmlformats.org/drawingml/2006/main">
            <a:r>
              <a:rPr lang="en-US" sz="1400" b="0">
                <a:solidFill>
                  <a:srgbClr val="FFFFFF"/>
                </a:solidFill>
              </a:rPr>
              <a:t/>
            </a:r>
          </a:p>
          <a:p xmlns:a="http://schemas.openxmlformats.org/drawingml/2006/main">
            <a:r>
              <a:rPr lang="en-US" sz="1400" b="0">
                <a:solidFill>
                  <a:srgbClr val="FFFFFF"/>
                </a:solidFill>
              </a:rPr>
              <a:t>Model:        IBM Granite 13B Instruct v2</a:t>
            </a:r>
          </a:p>
          <a:p xmlns:a="http://schemas.openxmlformats.org/drawingml/2006/main">
            <a:r>
              <a:rPr lang="en-US" sz="1400" b="0">
                <a:solidFill>
                  <a:srgbClr val="FFFFFF"/>
                </a:solidFill>
              </a:rPr>
              <a:t>Model ID:    ibm/granite-13b-instruct-v2</a:t>
            </a:r>
          </a:p>
          <a:p xmlns:a="http://schemas.openxmlformats.org/drawingml/2006/main">
            <a:r>
              <a:rPr lang="en-US" sz="1400" b="0">
                <a:solidFill>
                  <a:srgbClr val="FFFFFF"/>
                </a:solidFill>
              </a:rPr>
              <a:t>Platform:   IBM watsonx.ai (cloud API)</a:t>
            </a:r>
          </a:p>
          <a:p xmlns:a="http://schemas.openxmlformats.org/drawingml/2006/main">
            <a:r>
              <a:rPr lang="en-US" sz="1400" b="0">
                <a:solidFill>
                  <a:srgbClr val="FFFFFF"/>
                </a:solidFill>
              </a:rPr>
              <a:t>SDK:           ibm-watsonx-ai==1.1.3</a:t>
            </a:r>
          </a:p>
          <a:p xmlns:a="http://schemas.openxmlformats.org/drawingml/2006/main">
            <a:r>
              <a:rPr lang="en-US" sz="1400" b="0">
                <a:solidFill>
                  <a:srgbClr val="FFFFFF"/>
                </a:solidFill>
              </a:rPr>
              <a:t>Fallback:    Demo mode (no API needed)</a:t>
            </a:r>
          </a:p>
        </p:txBody>
      </p:sp>
      <p:sp>
        <p:nvSpPr>
          <p:cNvPr id="100153" name="BackendLayer"/>
          <p:cNvSpPr txBox="1"/>
          <p:nvPr/>
        </p:nvSpPr>
        <p:spPr>
          <a:xfrm xmlns:a="http://schemas.openxmlformats.org/drawingml/2006/main">
            <a:off x="6300000" y="720000"/>
            <a:ext cx="5040000" cy="19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4A2A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0">
                <a:solidFill>
                  <a:srgbClr val="FFFFFF"/>
                </a:solidFill>
              </a:rPr>
              <a:t>BACKEND LAYER</a:t>
            </a:r>
          </a:p>
          <a:p xmlns:a="http://schemas.openxmlformats.org/drawingml/2006/main">
            <a:r>
              <a:rPr lang="en-US" sz="1400" b="0">
                <a:solidFill>
                  <a:srgbClr val="FFFFFF"/>
                </a:solidFill>
              </a:rPr>
              <a:t/>
            </a:r>
          </a:p>
          <a:p xmlns:a="http://schemas.openxmlformats.org/drawingml/2006/main">
            <a:r>
              <a:rPr lang="en-US" sz="1400" b="0">
                <a:solidFill>
                  <a:srgbClr val="FFFFFF"/>
                </a:solidFill>
              </a:rPr>
              <a:t>Language:    Python 3.11+</a:t>
            </a:r>
          </a:p>
          <a:p xmlns:a="http://schemas.openxmlformats.org/drawingml/2006/main">
            <a:r>
              <a:rPr lang="en-US" sz="1400" b="0">
                <a:solidFill>
                  <a:srgbClr val="FFFFFF"/>
                </a:solidFill>
              </a:rPr>
              <a:t>Framework:  Flask 3.0.3</a:t>
            </a:r>
          </a:p>
          <a:p xmlns:a="http://schemas.openxmlformats.org/drawingml/2006/main">
            <a:r>
              <a:rPr lang="en-US" sz="1400" b="0">
                <a:solidFill>
                  <a:srgbClr val="FFFFFF"/>
                </a:solidFill>
              </a:rPr>
              <a:t>CORS:           Flask-CORS 4.0.1</a:t>
            </a:r>
          </a:p>
          <a:p xmlns:a="http://schemas.openxmlformats.org/drawingml/2006/main">
            <a:r>
              <a:rPr lang="en-US" sz="1400" b="0">
                <a:solidFill>
                  <a:srgbClr val="FFFFFF"/>
                </a:solidFill>
              </a:rPr>
              <a:t>Config:          python-dotenv 1.0.1</a:t>
            </a:r>
          </a:p>
          <a:p xmlns:a="http://schemas.openxmlformats.org/drawingml/2006/main">
            <a:r>
              <a:rPr lang="en-US" sz="1400" b="0">
                <a:solidFill>
                  <a:srgbClr val="FFFFFF"/>
                </a:solidFill>
              </a:rPr>
              <a:t>HTTP:           Requests 2.31.0</a:t>
            </a:r>
          </a:p>
          <a:p xmlns:a="http://schemas.openxmlformats.org/drawingml/2006/main">
            <a:r>
              <a:rPr lang="en-US" sz="1400" b="0">
                <a:solidFill>
                  <a:srgbClr val="FFFFFF"/>
                </a:solidFill>
              </a:rPr>
              <a:t>WSGI:           Werkzeug 3.0.3</a:t>
            </a:r>
          </a:p>
        </p:txBody>
      </p:sp>
      <p:sp>
        <p:nvSpPr>
          <p:cNvPr id="100154" name="FrontendLayer"/>
          <p:cNvSpPr txBox="1"/>
          <p:nvPr/>
        </p:nvSpPr>
        <p:spPr>
          <a:xfrm xmlns:a="http://schemas.openxmlformats.org/drawingml/2006/main">
            <a:off x="720000" y="2952000"/>
            <a:ext cx="5040000" cy="19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1A7A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0">
                <a:solidFill>
                  <a:srgbClr val="FFFFFF"/>
                </a:solidFill>
              </a:rPr>
              <a:t>FRONTEND LAYER</a:t>
            </a:r>
          </a:p>
          <a:p xmlns:a="http://schemas.openxmlformats.org/drawingml/2006/main">
            <a:r>
              <a:rPr lang="en-US" sz="1400" b="0">
                <a:solidFill>
                  <a:srgbClr val="FFFFFF"/>
                </a:solidFill>
              </a:rPr>
              <a:t/>
            </a:r>
          </a:p>
          <a:p xmlns:a="http://schemas.openxmlformats.org/drawingml/2006/main">
            <a:r>
              <a:rPr lang="en-US" sz="1400" b="0">
                <a:solidFill>
                  <a:srgbClr val="FFFFFF"/>
                </a:solidFill>
              </a:rPr>
              <a:t>Markup:     HTML5 (semantic)</a:t>
            </a:r>
          </a:p>
          <a:p xmlns:a="http://schemas.openxmlformats.org/drawingml/2006/main">
            <a:r>
              <a:rPr lang="en-US" sz="1400" b="0">
                <a:solidFill>
                  <a:srgbClr val="FFFFFF"/>
                </a:solidFill>
              </a:rPr>
              <a:t>Styling:      CSS3 (custom, IBM design)</a:t>
            </a:r>
          </a:p>
          <a:p xmlns:a="http://schemas.openxmlformats.org/drawingml/2006/main">
            <a:r>
              <a:rPr lang="en-US" sz="1400" b="0">
                <a:solidFill>
                  <a:srgbClr val="FFFFFF"/>
                </a:solidFill>
              </a:rPr>
              <a:t>Logic:          Vanilla JavaScript (ES6+)</a:t>
            </a:r>
          </a:p>
          <a:p xmlns:a="http://schemas.openxmlformats.org/drawingml/2006/main">
            <a:r>
              <a:rPr lang="en-US" sz="1400" b="0">
                <a:solidFill>
                  <a:srgbClr val="FFFFFF"/>
                </a:solidFill>
              </a:rPr>
              <a:t>Markdown:  Marked.js (CDN)</a:t>
            </a:r>
          </a:p>
          <a:p xmlns:a="http://schemas.openxmlformats.org/drawingml/2006/main">
            <a:r>
              <a:rPr lang="en-US" sz="1400" b="0">
                <a:solidFill>
                  <a:srgbClr val="FFFFFF"/>
                </a:solidFill>
              </a:rPr>
              <a:t>Icons:           Font Awesome 6 (CDN)</a:t>
            </a:r>
          </a:p>
          <a:p xmlns:a="http://schemas.openxmlformats.org/drawingml/2006/main">
            <a:r>
              <a:rPr lang="en-US" sz="1400" b="0">
                <a:solidFill>
                  <a:srgbClr val="FFFFFF"/>
                </a:solidFill>
              </a:rPr>
              <a:t>Fonts:           Inter (Google Fonts)</a:t>
            </a:r>
          </a:p>
        </p:txBody>
      </p:sp>
      <p:sp>
        <p:nvSpPr>
          <p:cNvPr id="100155" name="InfraLayer"/>
          <p:cNvSpPr txBox="1"/>
          <p:nvPr/>
        </p:nvSpPr>
        <p:spPr>
          <a:xfrm xmlns:a="http://schemas.openxmlformats.org/drawingml/2006/main">
            <a:off x="6300000" y="2952000"/>
            <a:ext cx="5040000" cy="19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3A0A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0">
                <a:solidFill>
                  <a:srgbClr val="FFFFFF"/>
                </a:solidFill>
              </a:rPr>
              <a:t>INFRASTRUCTURE</a:t>
            </a:r>
          </a:p>
          <a:p xmlns:a="http://schemas.openxmlformats.org/drawingml/2006/main">
            <a:r>
              <a:rPr lang="en-US" sz="1400" b="0">
                <a:solidFill>
                  <a:srgbClr val="FFFFFF"/>
                </a:solidFill>
              </a:rPr>
              <a:t/>
            </a:r>
          </a:p>
          <a:p xmlns:a="http://schemas.openxmlformats.org/drawingml/2006/main">
            <a:r>
              <a:rPr lang="en-US" sz="1400" b="0">
                <a:solidFill>
                  <a:srgbClr val="FFFFFF"/>
                </a:solidFill>
              </a:rPr>
              <a:t>OS:              Windows 10/11 (primary)</a:t>
            </a:r>
          </a:p>
          <a:p xmlns:a="http://schemas.openxmlformats.org/drawingml/2006/main">
            <a:r>
              <a:rPr lang="en-US" sz="1400" b="0">
                <a:solidFill>
                  <a:srgbClr val="FFFFFF"/>
                </a:solidFill>
              </a:rPr>
              <a:t>Launcher:    run.bat (auto-setup)</a:t>
            </a:r>
          </a:p>
          <a:p xmlns:a="http://schemas.openxmlformats.org/drawingml/2006/main">
            <a:r>
              <a:rPr lang="en-US" sz="1400" b="0">
                <a:solidFill>
                  <a:srgbClr val="FFFFFF"/>
                </a:solidFill>
              </a:rPr>
              <a:t>Deploy:        deploy_to_github.bat</a:t>
            </a:r>
          </a:p>
          <a:p xmlns:a="http://schemas.openxmlformats.org/drawingml/2006/main">
            <a:r>
              <a:rPr lang="en-US" sz="1400" b="0">
                <a:solidFill>
                  <a:srgbClr val="FFFFFF"/>
                </a:solidFill>
              </a:rPr>
              <a:t>Repository: GitHub (public)</a:t>
            </a:r>
          </a:p>
          <a:p xmlns:a="http://schemas.openxmlformats.org/drawingml/2006/main">
            <a:r>
              <a:rPr lang="en-US" sz="1400" b="0">
                <a:solidFill>
                  <a:srgbClr val="FFFFFF"/>
                </a:solidFill>
              </a:rPr>
              <a:t>License:       MIT Open Source</a:t>
            </a:r>
          </a:p>
          <a:p xmlns:a="http://schemas.openxmlformats.org/drawingml/2006/main">
            <a:r>
              <a:rPr lang="en-US" sz="1400" b="0">
                <a:solidFill>
                  <a:srgbClr val="FFFFFF"/>
                </a:solidFill>
              </a:rPr>
              <a:t>Server:          Flask development / Gunicorn</a:t>
            </a:r>
          </a:p>
        </p:txBody>
      </p:sp>
    </p:spTree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F3460"/>
        </a:solidFill>
      </p:bgPr>
    </p:bg>
    <p:spTree>
      <p:nvGrpSpPr>
        <p:cNvPr id="1" name=""/>
        <p:cNvGrpSpPr/>
        <p:nvPr/>
      </p:nvGrpSpPr>
      <p:grpSpPr/>
      <p:sp>
        <p:nvSpPr>
          <p:cNvPr id="100156" name="TopBar"/>
          <p:cNvSpPr txBox="1"/>
          <p:nvPr/>
        </p:nvSpPr>
        <p:spPr>
          <a:xfrm xmlns:a="http://schemas.openxmlformats.org/drawingml/2006/main">
            <a:off x="0" y="0"/>
            <a:ext cx="12193200" cy="3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2F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1000">
              <a:solidFill>
                <a:srgbClr val="FFFFFF"/>
              </a:solidFill>
            </a:endParaRPr>
          </a:p>
        </p:txBody>
      </p:sp>
      <p:sp>
        <p:nvSpPr>
          <p:cNvPr id="100157" name="BottomBar"/>
          <p:cNvSpPr txBox="1"/>
          <p:nvPr/>
        </p:nvSpPr>
        <p:spPr>
          <a:xfrm xmlns:a="http://schemas.openxmlformats.org/drawingml/2006/main">
            <a:off x="0" y="6588000"/>
            <a:ext cx="12193200" cy="28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2F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>
                <a:solidFill>
                  <a:srgbClr val="FFFFFF"/>
                </a:solidFill>
              </a:rPr>
              <a:t>IBM Granite LLM  |  IBM watsonx.ai  |  Agentic AI SDLC  |  IBM AI Ethics  |  Responsible AI</a:t>
            </a:r>
          </a:p>
        </p:txBody>
      </p:sp>
      <p:sp>
        <p:nvSpPr>
          <p:cNvPr id="100158" name="ThankYou"/>
          <p:cNvSpPr txBox="1"/>
          <p:nvPr/>
        </p:nvSpPr>
        <p:spPr>
          <a:xfrm xmlns:a="http://schemas.openxmlformats.org/drawingml/2006/main">
            <a:off x="720000" y="900000"/>
            <a:ext cx="10440000" cy="10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6000" b="1">
                <a:solidFill>
                  <a:srgbClr val="FFFFFF"/>
                </a:solidFill>
                <a:latin typeface="Calibri"/>
                <a:ea typeface="Calibri"/>
              </a:rPr>
              <a:t>Thank You!</a:t>
            </a:r>
          </a:p>
        </p:txBody>
      </p:sp>
      <p:sp>
        <p:nvSpPr>
          <p:cNvPr id="100159" name="Project"/>
          <p:cNvSpPr txBox="1"/>
          <p:nvPr/>
        </p:nvSpPr>
        <p:spPr>
          <a:xfrm xmlns:a="http://schemas.openxmlformats.org/drawingml/2006/main">
            <a:off x="720000" y="2088000"/>
            <a:ext cx="10440000" cy="5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600" b="0">
                <a:solidFill>
                  <a:srgbClr val="AADDFF"/>
                </a:solidFill>
                <a:latin typeface="Calibri"/>
                <a:ea typeface="Calibri"/>
              </a:rPr>
              <a:t>NutriBot AI — Nutrition Agentic AI Application</a:t>
            </a:r>
          </a:p>
        </p:txBody>
      </p:sp>
      <p:sp>
        <p:nvSpPr>
          <p:cNvPr id="100160" name="Summary"/>
          <p:cNvSpPr txBox="1"/>
          <p:nvPr/>
        </p:nvSpPr>
        <p:spPr>
          <a:xfrm xmlns:a="http://schemas.openxmlformats.org/drawingml/2006/main">
            <a:off x="720000" y="2700000"/>
            <a:ext cx="10440000" cy="28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0">
                <a:solidFill>
                  <a:srgbClr val="7DB3FF"/>
                </a:solidFill>
                <a:latin typeface="Calibri"/>
                <a:ea typeface="Calibri"/>
              </a:rPr>
              <a:t>Built with IBM Granite LLM  •  IBM watsonx.ai  •  Python  •  Flask  •  HTML/CSS/JS</a:t>
            </a:r>
          </a:p>
        </p:txBody>
      </p:sp>
      <p:sp>
        <p:nvSpPr>
          <p:cNvPr id="100161" name="GitHubLink"/>
          <p:cNvSpPr txBox="1"/>
          <p:nvPr/>
        </p:nvSpPr>
        <p:spPr>
          <a:xfrm xmlns:a="http://schemas.openxmlformats.org/drawingml/2006/main">
            <a:off x="720000" y="3240000"/>
            <a:ext cx="1044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 b="0">
                <a:solidFill>
                  <a:srgbClr val="00FF88"/>
                </a:solidFill>
                <a:latin typeface="Courier New"/>
                <a:ea typeface="Courier New"/>
              </a:rPr>
              <a:t>github.com/jigarnakarani/Nutrition-Agentic-AI-</a:t>
            </a:r>
          </a:p>
        </p:txBody>
      </p:sp>
      <p:sp>
        <p:nvSpPr>
          <p:cNvPr id="100162" name="KeyStats"/>
          <p:cNvSpPr txBox="1"/>
          <p:nvPr/>
        </p:nvSpPr>
        <p:spPr>
          <a:xfrm xmlns:a="http://schemas.openxmlformats.org/drawingml/2006/main">
            <a:off x="720000" y="3960000"/>
            <a:ext cx="10440000" cy="43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0">
                <a:solidFill>
                  <a:srgbClr val="AADDFF"/>
                </a:solidFill>
                <a:latin typeface="Calibri"/>
                <a:ea typeface="Calibri"/>
              </a:rPr>
              <a:t>20 Slides       7 SDLC Phases       5 IBM Ethics Principles       8 Key Features       12 Guardrail Categories       7-Day Meal Plans</a:t>
            </a:r>
          </a:p>
        </p:txBody>
      </p:sp>
      <p:sp>
        <p:nvSpPr>
          <p:cNvPr id="100163" name="Tagline"/>
          <p:cNvSpPr txBox="1"/>
          <p:nvPr/>
        </p:nvSpPr>
        <p:spPr>
          <a:xfrm xmlns:a="http://schemas.openxmlformats.org/drawingml/2006/main">
            <a:off x="720000" y="4608000"/>
            <a:ext cx="10440000" cy="32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0">
                <a:solidFill>
                  <a:srgbClr val="CCFFCC"/>
                </a:solidFill>
                <a:latin typeface="Calibri"/>
                <a:ea typeface="Calibri"/>
              </a:rPr>
              <a:t>Personalised  •  Medical-Aware  •  Ethics-First  •  Agentic  •  Open Source</a:t>
            </a:r>
          </a:p>
        </p:txBody>
      </p:sp>
      <p:sp>
        <p:nvSpPr>
          <p:cNvPr id="100164" name="Disclaimer"/>
          <p:cNvSpPr txBox="1"/>
          <p:nvPr/>
        </p:nvSpPr>
        <p:spPr>
          <a:xfrm xmlns:a="http://schemas.openxmlformats.org/drawingml/2006/main">
            <a:off x="720000" y="5760000"/>
            <a:ext cx="10440000" cy="28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0">
                <a:solidFill>
                  <a:srgbClr val="AAAAAA"/>
                </a:solidFill>
                <a:latin typeface="Calibri"/>
                <a:ea typeface="Calibri"/>
              </a:rPr>
              <a:t>For informational purposes only. Not medical advice. Consult a qualified healthcare professional before making dietary changes.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OfficeCLI/1.0.144</ap:Applicat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OfficeCLI</dc:creator>
  <dcterms:created xsi:type="dcterms:W3CDTF">2026-10-13T08:34:07Z</dcterms:created>
  <cp:lastModifiedBy>OfficeCLI</cp:lastModifiedBy>
  <dcterms:modified xsi:type="dcterms:W3CDTF">2026-10-13T08:34:07Z</dcterms:modified>
</cp: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1.0.157</vt:lpwstr>
  </op:property>
  <op:property fmtid="{D5CDD505-2E9C-101B-9397-08002B2CF9AE}" pid="3" name="OfficeCLI.LastModified">
    <vt:lpwstr xmlns:vt="http://schemas.openxmlformats.org/officeDocument/2006/docPropsVTypes">2026-10-13T08:40:54Z</vt:lpwstr>
  </op:property>
</op:Properties>
</file>